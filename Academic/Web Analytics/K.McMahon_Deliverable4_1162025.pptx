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096" autoAdjust="0"/>
  </p:normalViewPr>
  <p:slideViewPr>
    <p:cSldViewPr snapToGrid="0">
      <p:cViewPr varScale="1">
        <p:scale>
          <a:sx n="124" d="100"/>
          <a:sy n="124" d="100"/>
        </p:scale>
        <p:origin x="1276"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9C73B5-957A-4891-882B-E1D0A9D3C824}" type="doc">
      <dgm:prSet loTypeId="urn:microsoft.com/office/officeart/2005/8/layout/vList2" loCatId="list" qsTypeId="urn:microsoft.com/office/officeart/2005/8/quickstyle/3d4" qsCatId="3D" csTypeId="urn:microsoft.com/office/officeart/2005/8/colors/accent1_2" csCatId="accent1"/>
      <dgm:spPr/>
      <dgm:t>
        <a:bodyPr/>
        <a:lstStyle/>
        <a:p>
          <a:endParaRPr lang="en-US"/>
        </a:p>
      </dgm:t>
    </dgm:pt>
    <dgm:pt modelId="{8481516E-C838-440A-A650-FFCBED2AF43F}">
      <dgm:prSet/>
      <dgm:spPr/>
      <dgm:t>
        <a:bodyPr/>
        <a:lstStyle/>
        <a:p>
          <a:r>
            <a:rPr lang="en-US"/>
            <a:t>Age bands and city clusters</a:t>
          </a:r>
        </a:p>
      </dgm:t>
    </dgm:pt>
    <dgm:pt modelId="{04C063E0-0101-4D90-8EC5-7A1589614420}" type="parTrans" cxnId="{BA29650C-7C5F-48E1-A9E5-614F83811A75}">
      <dgm:prSet/>
      <dgm:spPr/>
      <dgm:t>
        <a:bodyPr/>
        <a:lstStyle/>
        <a:p>
          <a:endParaRPr lang="en-US"/>
        </a:p>
      </dgm:t>
    </dgm:pt>
    <dgm:pt modelId="{809553DD-E9E8-4353-8B86-291B09D6ED7D}" type="sibTrans" cxnId="{BA29650C-7C5F-48E1-A9E5-614F83811A75}">
      <dgm:prSet/>
      <dgm:spPr/>
      <dgm:t>
        <a:bodyPr/>
        <a:lstStyle/>
        <a:p>
          <a:endParaRPr lang="en-US"/>
        </a:p>
      </dgm:t>
    </dgm:pt>
    <dgm:pt modelId="{7778AE61-4761-475F-85FF-C378848A3CEF}">
      <dgm:prSet/>
      <dgm:spPr/>
      <dgm:t>
        <a:bodyPr/>
        <a:lstStyle/>
        <a:p>
          <a:r>
            <a:rPr lang="en-US"/>
            <a:t>Gender and language </a:t>
          </a:r>
        </a:p>
      </dgm:t>
    </dgm:pt>
    <dgm:pt modelId="{BE700480-E9BF-41FD-898F-6A4503B01E6F}" type="parTrans" cxnId="{D1F66D7F-2C79-45C7-B4C8-FA8E922BF9A5}">
      <dgm:prSet/>
      <dgm:spPr/>
      <dgm:t>
        <a:bodyPr/>
        <a:lstStyle/>
        <a:p>
          <a:endParaRPr lang="en-US"/>
        </a:p>
      </dgm:t>
    </dgm:pt>
    <dgm:pt modelId="{F77F5156-E292-4D5E-ACE8-C82AD84B82AA}" type="sibTrans" cxnId="{D1F66D7F-2C79-45C7-B4C8-FA8E922BF9A5}">
      <dgm:prSet/>
      <dgm:spPr/>
      <dgm:t>
        <a:bodyPr/>
        <a:lstStyle/>
        <a:p>
          <a:endParaRPr lang="en-US"/>
        </a:p>
      </dgm:t>
    </dgm:pt>
    <dgm:pt modelId="{39D91343-EEAD-42F7-85FC-8147DF986D5A}">
      <dgm:prSet/>
      <dgm:spPr/>
      <dgm:t>
        <a:bodyPr/>
        <a:lstStyle/>
        <a:p>
          <a:r>
            <a:rPr lang="en-US"/>
            <a:t>Device type and new vs returning</a:t>
          </a:r>
        </a:p>
      </dgm:t>
    </dgm:pt>
    <dgm:pt modelId="{5F221031-5A1B-4B0A-9A90-69773E062F8D}" type="parTrans" cxnId="{7863F0DA-EEA5-437E-8F57-C781E4D0E3B8}">
      <dgm:prSet/>
      <dgm:spPr/>
      <dgm:t>
        <a:bodyPr/>
        <a:lstStyle/>
        <a:p>
          <a:endParaRPr lang="en-US"/>
        </a:p>
      </dgm:t>
    </dgm:pt>
    <dgm:pt modelId="{ACEE9E4B-991D-4BFF-A440-04FF10D52C71}" type="sibTrans" cxnId="{7863F0DA-EEA5-437E-8F57-C781E4D0E3B8}">
      <dgm:prSet/>
      <dgm:spPr/>
      <dgm:t>
        <a:bodyPr/>
        <a:lstStyle/>
        <a:p>
          <a:endParaRPr lang="en-US"/>
        </a:p>
      </dgm:t>
    </dgm:pt>
    <dgm:pt modelId="{9B3A5F2E-00E1-4A96-95DB-F8732EDFA529}" type="pres">
      <dgm:prSet presAssocID="{769C73B5-957A-4891-882B-E1D0A9D3C824}" presName="linear" presStyleCnt="0">
        <dgm:presLayoutVars>
          <dgm:animLvl val="lvl"/>
          <dgm:resizeHandles val="exact"/>
        </dgm:presLayoutVars>
      </dgm:prSet>
      <dgm:spPr/>
    </dgm:pt>
    <dgm:pt modelId="{7350D729-D8A5-4F3A-8DFC-AC562F5486B2}" type="pres">
      <dgm:prSet presAssocID="{8481516E-C838-440A-A650-FFCBED2AF43F}" presName="parentText" presStyleLbl="node1" presStyleIdx="0" presStyleCnt="3">
        <dgm:presLayoutVars>
          <dgm:chMax val="0"/>
          <dgm:bulletEnabled val="1"/>
        </dgm:presLayoutVars>
      </dgm:prSet>
      <dgm:spPr/>
    </dgm:pt>
    <dgm:pt modelId="{C9834379-8E18-43B5-B5EA-1000D946474B}" type="pres">
      <dgm:prSet presAssocID="{809553DD-E9E8-4353-8B86-291B09D6ED7D}" presName="spacer" presStyleCnt="0"/>
      <dgm:spPr/>
    </dgm:pt>
    <dgm:pt modelId="{831315F8-616A-405D-8EA3-C228008D15D7}" type="pres">
      <dgm:prSet presAssocID="{7778AE61-4761-475F-85FF-C378848A3CEF}" presName="parentText" presStyleLbl="node1" presStyleIdx="1" presStyleCnt="3">
        <dgm:presLayoutVars>
          <dgm:chMax val="0"/>
          <dgm:bulletEnabled val="1"/>
        </dgm:presLayoutVars>
      </dgm:prSet>
      <dgm:spPr/>
    </dgm:pt>
    <dgm:pt modelId="{AAA64F45-C3CD-4CB8-917C-49A9625ED9C4}" type="pres">
      <dgm:prSet presAssocID="{F77F5156-E292-4D5E-ACE8-C82AD84B82AA}" presName="spacer" presStyleCnt="0"/>
      <dgm:spPr/>
    </dgm:pt>
    <dgm:pt modelId="{893D5FF9-654B-49F4-AB4E-90A66C3341AA}" type="pres">
      <dgm:prSet presAssocID="{39D91343-EEAD-42F7-85FC-8147DF986D5A}" presName="parentText" presStyleLbl="node1" presStyleIdx="2" presStyleCnt="3">
        <dgm:presLayoutVars>
          <dgm:chMax val="0"/>
          <dgm:bulletEnabled val="1"/>
        </dgm:presLayoutVars>
      </dgm:prSet>
      <dgm:spPr/>
    </dgm:pt>
  </dgm:ptLst>
  <dgm:cxnLst>
    <dgm:cxn modelId="{BA29650C-7C5F-48E1-A9E5-614F83811A75}" srcId="{769C73B5-957A-4891-882B-E1D0A9D3C824}" destId="{8481516E-C838-440A-A650-FFCBED2AF43F}" srcOrd="0" destOrd="0" parTransId="{04C063E0-0101-4D90-8EC5-7A1589614420}" sibTransId="{809553DD-E9E8-4353-8B86-291B09D6ED7D}"/>
    <dgm:cxn modelId="{5160682F-C1F3-4F2F-A6F1-B8A0D63143EA}" type="presOf" srcId="{7778AE61-4761-475F-85FF-C378848A3CEF}" destId="{831315F8-616A-405D-8EA3-C228008D15D7}" srcOrd="0" destOrd="0" presId="urn:microsoft.com/office/officeart/2005/8/layout/vList2"/>
    <dgm:cxn modelId="{7D11346C-7895-4669-A06F-F643B187E714}" type="presOf" srcId="{769C73B5-957A-4891-882B-E1D0A9D3C824}" destId="{9B3A5F2E-00E1-4A96-95DB-F8732EDFA529}" srcOrd="0" destOrd="0" presId="urn:microsoft.com/office/officeart/2005/8/layout/vList2"/>
    <dgm:cxn modelId="{A7785055-9895-4CB6-BF56-AC86BF5A1DA6}" type="presOf" srcId="{8481516E-C838-440A-A650-FFCBED2AF43F}" destId="{7350D729-D8A5-4F3A-8DFC-AC562F5486B2}" srcOrd="0" destOrd="0" presId="urn:microsoft.com/office/officeart/2005/8/layout/vList2"/>
    <dgm:cxn modelId="{D1F66D7F-2C79-45C7-B4C8-FA8E922BF9A5}" srcId="{769C73B5-957A-4891-882B-E1D0A9D3C824}" destId="{7778AE61-4761-475F-85FF-C378848A3CEF}" srcOrd="1" destOrd="0" parTransId="{BE700480-E9BF-41FD-898F-6A4503B01E6F}" sibTransId="{F77F5156-E292-4D5E-ACE8-C82AD84B82AA}"/>
    <dgm:cxn modelId="{4A2B74B4-A053-416B-8E0D-499A0586CDBD}" type="presOf" srcId="{39D91343-EEAD-42F7-85FC-8147DF986D5A}" destId="{893D5FF9-654B-49F4-AB4E-90A66C3341AA}" srcOrd="0" destOrd="0" presId="urn:microsoft.com/office/officeart/2005/8/layout/vList2"/>
    <dgm:cxn modelId="{7863F0DA-EEA5-437E-8F57-C781E4D0E3B8}" srcId="{769C73B5-957A-4891-882B-E1D0A9D3C824}" destId="{39D91343-EEAD-42F7-85FC-8147DF986D5A}" srcOrd="2" destOrd="0" parTransId="{5F221031-5A1B-4B0A-9A90-69773E062F8D}" sibTransId="{ACEE9E4B-991D-4BFF-A440-04FF10D52C71}"/>
    <dgm:cxn modelId="{1C1E928A-FC2C-47CD-B3AC-4C212C05CF77}" type="presParOf" srcId="{9B3A5F2E-00E1-4A96-95DB-F8732EDFA529}" destId="{7350D729-D8A5-4F3A-8DFC-AC562F5486B2}" srcOrd="0" destOrd="0" presId="urn:microsoft.com/office/officeart/2005/8/layout/vList2"/>
    <dgm:cxn modelId="{F1AE1B58-64CA-4999-89E8-8A1688B2D690}" type="presParOf" srcId="{9B3A5F2E-00E1-4A96-95DB-F8732EDFA529}" destId="{C9834379-8E18-43B5-B5EA-1000D946474B}" srcOrd="1" destOrd="0" presId="urn:microsoft.com/office/officeart/2005/8/layout/vList2"/>
    <dgm:cxn modelId="{9814AD3A-D0A6-4241-84A3-5BBB31F4B6FE}" type="presParOf" srcId="{9B3A5F2E-00E1-4A96-95DB-F8732EDFA529}" destId="{831315F8-616A-405D-8EA3-C228008D15D7}" srcOrd="2" destOrd="0" presId="urn:microsoft.com/office/officeart/2005/8/layout/vList2"/>
    <dgm:cxn modelId="{C1AF173A-0741-4D62-95B2-417CEB086BBB}" type="presParOf" srcId="{9B3A5F2E-00E1-4A96-95DB-F8732EDFA529}" destId="{AAA64F45-C3CD-4CB8-917C-49A9625ED9C4}" srcOrd="3" destOrd="0" presId="urn:microsoft.com/office/officeart/2005/8/layout/vList2"/>
    <dgm:cxn modelId="{185C1CE8-7363-4D8E-BD66-347C5B1DF415}" type="presParOf" srcId="{9B3A5F2E-00E1-4A96-95DB-F8732EDFA529}" destId="{893D5FF9-654B-49F4-AB4E-90A66C3341AA}" srcOrd="4"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50D729-D8A5-4F3A-8DFC-AC562F5486B2}">
      <dsp:nvSpPr>
        <dsp:cNvPr id="0" name=""/>
        <dsp:cNvSpPr/>
      </dsp:nvSpPr>
      <dsp:spPr>
        <a:xfrm>
          <a:off x="0" y="328344"/>
          <a:ext cx="5153216" cy="663389"/>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Age bands and city clusters</a:t>
          </a:r>
        </a:p>
      </dsp:txBody>
      <dsp:txXfrm>
        <a:off x="32384" y="360728"/>
        <a:ext cx="5088448" cy="598621"/>
      </dsp:txXfrm>
    </dsp:sp>
    <dsp:sp modelId="{831315F8-616A-405D-8EA3-C228008D15D7}">
      <dsp:nvSpPr>
        <dsp:cNvPr id="0" name=""/>
        <dsp:cNvSpPr/>
      </dsp:nvSpPr>
      <dsp:spPr>
        <a:xfrm>
          <a:off x="0" y="1069494"/>
          <a:ext cx="5153216" cy="663389"/>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Gender and language </a:t>
          </a:r>
        </a:p>
      </dsp:txBody>
      <dsp:txXfrm>
        <a:off x="32384" y="1101878"/>
        <a:ext cx="5088448" cy="598621"/>
      </dsp:txXfrm>
    </dsp:sp>
    <dsp:sp modelId="{893D5FF9-654B-49F4-AB4E-90A66C3341AA}">
      <dsp:nvSpPr>
        <dsp:cNvPr id="0" name=""/>
        <dsp:cNvSpPr/>
      </dsp:nvSpPr>
      <dsp:spPr>
        <a:xfrm>
          <a:off x="0" y="1810645"/>
          <a:ext cx="5153216" cy="663389"/>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Device type and new vs returning</a:t>
          </a:r>
        </a:p>
      </dsp:txBody>
      <dsp:txXfrm>
        <a:off x="32384" y="1843029"/>
        <a:ext cx="5088448" cy="59862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4C3CED-DF41-4DF6-BAA9-3634C142F10A}" type="datetimeFigureOut">
              <a:rPr lang="en-US" smtClean="0"/>
              <a:t>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AA075D-A843-466D-9951-203FEDC9A68D}" type="slidenum">
              <a:rPr lang="en-US" smtClean="0"/>
              <a:t>‹#›</a:t>
            </a:fld>
            <a:endParaRPr lang="en-US"/>
          </a:p>
        </p:txBody>
      </p:sp>
    </p:spTree>
    <p:extLst>
      <p:ext uri="{BB962C8B-B14F-4D97-AF65-F5344CB8AC3E}">
        <p14:creationId xmlns:p14="http://schemas.microsoft.com/office/powerpoint/2010/main" val="2252137284"/>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This presentation introduces how Paradigm Music can use social media analytics to understand what songs and playlists resonate most with listeners. By turning shared activity into visual insights, the company can connect music trends to audience behavior, identify emerging interests, and make decisions that strengthen engagement and growth.</a:t>
            </a:r>
            <a:endParaRPr lang="en-US" sz="1200" dirty="0">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25AA075D-A843-466D-9951-203FEDC9A68D}" type="slidenum">
              <a:rPr lang="en-US" smtClean="0"/>
              <a:t>1</a:t>
            </a:fld>
            <a:endParaRPr lang="en-US"/>
          </a:p>
        </p:txBody>
      </p:sp>
    </p:spTree>
    <p:extLst>
      <p:ext uri="{BB962C8B-B14F-4D97-AF65-F5344CB8AC3E}">
        <p14:creationId xmlns:p14="http://schemas.microsoft.com/office/powerpoint/2010/main" val="4108503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Paradigm Music’s mission is to make music sharing and discovery simple and social. The goal is to understand what songs and playlists are trending across different locations and audiences. This plan connects our goals to clear metrics and visual storytelling that show progress and guide the next steps for growth.</a:t>
            </a:r>
            <a:endParaRPr lang="en-US" sz="1200" dirty="0">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25AA075D-A843-466D-9951-203FEDC9A68D}" type="slidenum">
              <a:rPr lang="en-US" smtClean="0"/>
              <a:t>2</a:t>
            </a:fld>
            <a:endParaRPr lang="en-US"/>
          </a:p>
        </p:txBody>
      </p:sp>
    </p:spTree>
    <p:extLst>
      <p:ext uri="{BB962C8B-B14F-4D97-AF65-F5344CB8AC3E}">
        <p14:creationId xmlns:p14="http://schemas.microsoft.com/office/powerpoint/2010/main" val="3724837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This slide shows how Paradigm Music can turn broad goals into measurable actions. We focus on growing monthly active users, boosting playlist shares and saves, and improving conversion rates for new sign-ups. Each objective ties directly to user engagement and helps translate ideas into trackable business results.</a:t>
            </a:r>
            <a:endParaRPr lang="en-US" sz="1200" dirty="0">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25AA075D-A843-466D-9951-203FEDC9A68D}" type="slidenum">
              <a:rPr lang="en-US" smtClean="0"/>
              <a:t>3</a:t>
            </a:fld>
            <a:endParaRPr lang="en-US"/>
          </a:p>
        </p:txBody>
      </p:sp>
    </p:spTree>
    <p:extLst>
      <p:ext uri="{BB962C8B-B14F-4D97-AF65-F5344CB8AC3E}">
        <p14:creationId xmlns:p14="http://schemas.microsoft.com/office/powerpoint/2010/main" val="2278985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These KPIs link user behavior directly to business outcomes. We focus on sign-up and save rates to measure growth, track engagement through click-throughs and session time, and monitor bounce and return rates to gauge interest. Strong mobile performance and search visibility help protect reach and keep the platform competitive.</a:t>
            </a:r>
            <a:endParaRPr lang="en-US" sz="1200" dirty="0">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25AA075D-A843-466D-9951-203FEDC9A68D}" type="slidenum">
              <a:rPr lang="en-US" smtClean="0"/>
              <a:t>4</a:t>
            </a:fld>
            <a:endParaRPr lang="en-US"/>
          </a:p>
        </p:txBody>
      </p:sp>
    </p:spTree>
    <p:extLst>
      <p:ext uri="{BB962C8B-B14F-4D97-AF65-F5344CB8AC3E}">
        <p14:creationId xmlns:p14="http://schemas.microsoft.com/office/powerpoint/2010/main" val="3800957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Visualizations turn complex data into clear stories that drive action. Line charts highlight rises or dips in engagement, heat maps show where interest is strongest, and segment charts reveal which age or gender groups respond most. Sentiment views then capture how people feel about top songs, helping guide creative and marketing choices.</a:t>
            </a:r>
            <a:endParaRPr lang="en-US" sz="1200" dirty="0">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25AA075D-A843-466D-9951-203FEDC9A68D}" type="slidenum">
              <a:rPr lang="en-US" smtClean="0"/>
              <a:t>5</a:t>
            </a:fld>
            <a:endParaRPr lang="en-US"/>
          </a:p>
        </p:txBody>
      </p:sp>
    </p:spTree>
    <p:extLst>
      <p:ext uri="{BB962C8B-B14F-4D97-AF65-F5344CB8AC3E}">
        <p14:creationId xmlns:p14="http://schemas.microsoft.com/office/powerpoint/2010/main" val="2530336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Leading firms stay proactive by using live dashboards that track product and marketing performance in real time. They automate weekly summaries for quick decision-making, run A/B tests to fine-tune content and design, and monitor influencer campaigns to see how creator posts drive engagement and conversions.</a:t>
            </a:r>
          </a:p>
        </p:txBody>
      </p:sp>
      <p:sp>
        <p:nvSpPr>
          <p:cNvPr id="4" name="Slide Number Placeholder 3"/>
          <p:cNvSpPr>
            <a:spLocks noGrp="1"/>
          </p:cNvSpPr>
          <p:nvPr>
            <p:ph type="sldNum" sz="quarter" idx="5"/>
          </p:nvPr>
        </p:nvSpPr>
        <p:spPr/>
        <p:txBody>
          <a:bodyPr/>
          <a:lstStyle/>
          <a:p>
            <a:fld id="{25AA075D-A843-466D-9951-203FEDC9A68D}" type="slidenum">
              <a:rPr lang="en-US" smtClean="0"/>
              <a:t>6</a:t>
            </a:fld>
            <a:endParaRPr lang="en-US"/>
          </a:p>
        </p:txBody>
      </p:sp>
    </p:spTree>
    <p:extLst>
      <p:ext uri="{BB962C8B-B14F-4D97-AF65-F5344CB8AC3E}">
        <p14:creationId xmlns:p14="http://schemas.microsoft.com/office/powerpoint/2010/main" val="17698819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Shared song titles reveal powerful patterns in listening behavior. By mapping titles to cities and schools, we can see how certain songs trend by region or community. Time-based data highlights daily and weekly peaks, while creator analysis shows who drives the biggest waves of engagement. Tracking the journey from a view to a save and then to a share uncovers what truly makes a song spread.</a:t>
            </a:r>
          </a:p>
        </p:txBody>
      </p:sp>
      <p:sp>
        <p:nvSpPr>
          <p:cNvPr id="4" name="Slide Number Placeholder 3"/>
          <p:cNvSpPr>
            <a:spLocks noGrp="1"/>
          </p:cNvSpPr>
          <p:nvPr>
            <p:ph type="sldNum" sz="quarter" idx="5"/>
          </p:nvPr>
        </p:nvSpPr>
        <p:spPr/>
        <p:txBody>
          <a:bodyPr/>
          <a:lstStyle/>
          <a:p>
            <a:fld id="{25AA075D-A843-466D-9951-203FEDC9A68D}" type="slidenum">
              <a:rPr lang="en-US" smtClean="0"/>
              <a:t>7</a:t>
            </a:fld>
            <a:endParaRPr lang="en-US"/>
          </a:p>
        </p:txBody>
      </p:sp>
    </p:spTree>
    <p:extLst>
      <p:ext uri="{BB962C8B-B14F-4D97-AF65-F5344CB8AC3E}">
        <p14:creationId xmlns:p14="http://schemas.microsoft.com/office/powerpoint/2010/main" val="2458622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Each visualization type serves a clear purpose. Line charts track movement over time, bar charts compare performance across groups, and pie charts summarize smaller sets like top genres. Heat maps highlight regional trends, and word clouds make popular song titles stand out instantly. Combining these visuals into a single dashboard keeps teams aligned with real-time insights.</a:t>
            </a:r>
            <a:endParaRPr lang="en-US" sz="1200" dirty="0">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25AA075D-A843-466D-9951-203FEDC9A68D}" type="slidenum">
              <a:rPr lang="en-US" smtClean="0"/>
              <a:t>8</a:t>
            </a:fld>
            <a:endParaRPr lang="en-US"/>
          </a:p>
        </p:txBody>
      </p:sp>
    </p:spTree>
    <p:extLst>
      <p:ext uri="{BB962C8B-B14F-4D97-AF65-F5344CB8AC3E}">
        <p14:creationId xmlns:p14="http://schemas.microsoft.com/office/powerpoint/2010/main" val="15889835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Grouping data by demographics helps uncover who listens, when, and how. Segmenting by age, city, gender, and device type shows how preferences shift across audiences. Highlighting top songs for each group and tracking repeat versus new listeners reveals deeper engagement patterns and helps tailor marketing or playlist recommendations.</a:t>
            </a:r>
            <a:endParaRPr lang="en-US" sz="1200" dirty="0">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25AA075D-A843-466D-9951-203FEDC9A68D}" type="slidenum">
              <a:rPr lang="en-US" smtClean="0"/>
              <a:t>9</a:t>
            </a:fld>
            <a:endParaRPr lang="en-US"/>
          </a:p>
        </p:txBody>
      </p:sp>
    </p:spTree>
    <p:extLst>
      <p:ext uri="{BB962C8B-B14F-4D97-AF65-F5344CB8AC3E}">
        <p14:creationId xmlns:p14="http://schemas.microsoft.com/office/powerpoint/2010/main" val="974455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Sentiment analysis helps track how people feel about music over time. By scoring posts as positive, neutral, or negative, we can see emotional responses to songs or campaigns. Peaks often align with seasonal events or creator mentions, revealing moments that drive engagement. Time-based charts make it easy to spot these shifts and plan future promotions around audience sentiment.</a:t>
            </a:r>
            <a:endParaRPr lang="en-US" sz="1200" dirty="0">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25AA075D-A843-466D-9951-203FEDC9A68D}" type="slidenum">
              <a:rPr lang="en-US" smtClean="0"/>
              <a:t>10</a:t>
            </a:fld>
            <a:endParaRPr lang="en-US"/>
          </a:p>
        </p:txBody>
      </p:sp>
    </p:spTree>
    <p:extLst>
      <p:ext uri="{BB962C8B-B14F-4D97-AF65-F5344CB8AC3E}">
        <p14:creationId xmlns:p14="http://schemas.microsoft.com/office/powerpoint/2010/main" val="37877299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Data collection depends on reliable connections and ethical handling. Use platform APIs to gather mentions, tags, and engagement data, while combining it with site and app analytics for deeper insights. Always capture consent, make opting out simple, and store user choices transparently. Automating data pulls on a schedule keeps dashboards fresh and reporting consistent without adding manual work.</a:t>
            </a:r>
            <a:endParaRPr lang="en-US" sz="1200" dirty="0">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25AA075D-A843-466D-9951-203FEDC9A68D}" type="slidenum">
              <a:rPr lang="en-US" smtClean="0"/>
              <a:t>11</a:t>
            </a:fld>
            <a:endParaRPr lang="en-US"/>
          </a:p>
        </p:txBody>
      </p:sp>
    </p:spTree>
    <p:extLst>
      <p:ext uri="{BB962C8B-B14F-4D97-AF65-F5344CB8AC3E}">
        <p14:creationId xmlns:p14="http://schemas.microsoft.com/office/powerpoint/2010/main" val="41756228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Each tool plays a different role in turning data into insight. Looker Studio helps create quick, shareable dashboards for snapshots. Tableau and Power BI offer deeper analysis with interactive filtering and trend discovery. Hootsuite and </a:t>
            </a:r>
            <a:r>
              <a:rPr lang="en-US" sz="1200" dirty="0" err="1"/>
              <a:t>Brandwatch</a:t>
            </a:r>
            <a:r>
              <a:rPr lang="en-US" sz="1200" dirty="0"/>
              <a:t> gather real-time mentions and engagement across platforms, while Python or R allow full customization for visuals or statistical modeling. Together, these tools make analytics flexible, scalable, and easy to share.</a:t>
            </a:r>
            <a:endParaRPr lang="en-US" sz="1200" dirty="0">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25AA075D-A843-466D-9951-203FEDC9A68D}" type="slidenum">
              <a:rPr lang="en-US" smtClean="0"/>
              <a:t>12</a:t>
            </a:fld>
            <a:endParaRPr lang="en-US"/>
          </a:p>
        </p:txBody>
      </p:sp>
    </p:spTree>
    <p:extLst>
      <p:ext uri="{BB962C8B-B14F-4D97-AF65-F5344CB8AC3E}">
        <p14:creationId xmlns:p14="http://schemas.microsoft.com/office/powerpoint/2010/main" val="31411561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Ethical analytics means respecting privacy and protecting user trust. Always collect only the data that’s necessary, and make sure users clearly understand what’s being tracked. Encrypt information both during transfer and storage, and comply with regional privacy laws like GDPR. Transparency and minimal data use keep analytics secure and trustworthy.</a:t>
            </a:r>
            <a:endParaRPr lang="en-US" sz="1200" dirty="0">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25AA075D-A843-466D-9951-203FEDC9A68D}" type="slidenum">
              <a:rPr lang="en-US" smtClean="0"/>
              <a:t>13</a:t>
            </a:fld>
            <a:endParaRPr lang="en-US"/>
          </a:p>
        </p:txBody>
      </p:sp>
    </p:spTree>
    <p:extLst>
      <p:ext uri="{BB962C8B-B14F-4D97-AF65-F5344CB8AC3E}">
        <p14:creationId xmlns:p14="http://schemas.microsoft.com/office/powerpoint/2010/main" val="28074106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Paradigm Music has the tools and the data to turn user activity into meaningful insight. Social media analytics and visualization make it possible to see how people connect with songs, playlists, and creators in real time. By applying the right KPIs and dashboards, the team can move from raw numbers to clear actions that grow engagement and revenue.</a:t>
            </a:r>
          </a:p>
        </p:txBody>
      </p:sp>
      <p:sp>
        <p:nvSpPr>
          <p:cNvPr id="4" name="Slide Number Placeholder 3"/>
          <p:cNvSpPr>
            <a:spLocks noGrp="1"/>
          </p:cNvSpPr>
          <p:nvPr>
            <p:ph type="sldNum" sz="quarter" idx="5"/>
          </p:nvPr>
        </p:nvSpPr>
        <p:spPr/>
        <p:txBody>
          <a:bodyPr/>
          <a:lstStyle/>
          <a:p>
            <a:fld id="{25AA075D-A843-466D-9951-203FEDC9A68D}" type="slidenum">
              <a:rPr lang="en-US" smtClean="0"/>
              <a:t>14</a:t>
            </a:fld>
            <a:endParaRPr lang="en-US"/>
          </a:p>
        </p:txBody>
      </p:sp>
    </p:spTree>
    <p:extLst>
      <p:ext uri="{BB962C8B-B14F-4D97-AF65-F5344CB8AC3E}">
        <p14:creationId xmlns:p14="http://schemas.microsoft.com/office/powerpoint/2010/main" val="3746745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7F839-CC29-AF65-9660-BD8D07D61F6B}"/>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A454B9D4-66EA-DD1F-4547-7E2D8B8ACB92}"/>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2282E47A-605D-52AE-48EC-3DF31F045D18}"/>
              </a:ext>
            </a:extLst>
          </p:cNvPr>
          <p:cNvSpPr>
            <a:spLocks noGrp="1"/>
          </p:cNvSpPr>
          <p:nvPr>
            <p:ph type="dt" sz="half" idx="10"/>
          </p:nvPr>
        </p:nvSpPr>
        <p:spPr/>
        <p:txBody>
          <a:bodyPr/>
          <a:lstStyle/>
          <a:p>
            <a:fld id="{B78A94A7-EF90-423E-B78F-712053D1C0AF}" type="datetimeFigureOut">
              <a:rPr lang="en-US" smtClean="0"/>
              <a:t>11/6/2025</a:t>
            </a:fld>
            <a:endParaRPr lang="en-US"/>
          </a:p>
        </p:txBody>
      </p:sp>
      <p:sp>
        <p:nvSpPr>
          <p:cNvPr id="5" name="Footer Placeholder 4">
            <a:extLst>
              <a:ext uri="{FF2B5EF4-FFF2-40B4-BE49-F238E27FC236}">
                <a16:creationId xmlns:a16="http://schemas.microsoft.com/office/drawing/2014/main" id="{4DFF9B2F-9376-4C03-B9AA-90EE4CE21F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BF4127-5344-9E7A-0698-EB05BB7F2D72}"/>
              </a:ext>
            </a:extLst>
          </p:cNvPr>
          <p:cNvSpPr>
            <a:spLocks noGrp="1"/>
          </p:cNvSpPr>
          <p:nvPr>
            <p:ph type="sldNum" sz="quarter" idx="12"/>
          </p:nvPr>
        </p:nvSpPr>
        <p:spPr/>
        <p:txBody>
          <a:bodyPr/>
          <a:lstStyle/>
          <a:p>
            <a:fld id="{A5CD2DCF-715E-4973-AA5D-49C2141E9853}" type="slidenum">
              <a:rPr lang="en-US" smtClean="0"/>
              <a:t>‹#›</a:t>
            </a:fld>
            <a:endParaRPr lang="en-US"/>
          </a:p>
        </p:txBody>
      </p:sp>
    </p:spTree>
    <p:extLst>
      <p:ext uri="{BB962C8B-B14F-4D97-AF65-F5344CB8AC3E}">
        <p14:creationId xmlns:p14="http://schemas.microsoft.com/office/powerpoint/2010/main" val="2182408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DEC53-01F0-4D41-B71C-068C52BC8A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8AF3C1-C865-CCA1-8FEC-7B6764CB97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A79A0F-37C2-4004-8DC2-AAC21EFB6A1A}"/>
              </a:ext>
            </a:extLst>
          </p:cNvPr>
          <p:cNvSpPr>
            <a:spLocks noGrp="1"/>
          </p:cNvSpPr>
          <p:nvPr>
            <p:ph type="dt" sz="half" idx="10"/>
          </p:nvPr>
        </p:nvSpPr>
        <p:spPr/>
        <p:txBody>
          <a:bodyPr/>
          <a:lstStyle/>
          <a:p>
            <a:fld id="{B78A94A7-EF90-423E-B78F-712053D1C0AF}" type="datetimeFigureOut">
              <a:rPr lang="en-US" smtClean="0"/>
              <a:t>11/6/2025</a:t>
            </a:fld>
            <a:endParaRPr lang="en-US"/>
          </a:p>
        </p:txBody>
      </p:sp>
      <p:sp>
        <p:nvSpPr>
          <p:cNvPr id="5" name="Footer Placeholder 4">
            <a:extLst>
              <a:ext uri="{FF2B5EF4-FFF2-40B4-BE49-F238E27FC236}">
                <a16:creationId xmlns:a16="http://schemas.microsoft.com/office/drawing/2014/main" id="{D7B38B28-AAF3-89D9-32B2-88CF150A27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4D473C-3BFB-3E41-6875-639A90955AFC}"/>
              </a:ext>
            </a:extLst>
          </p:cNvPr>
          <p:cNvSpPr>
            <a:spLocks noGrp="1"/>
          </p:cNvSpPr>
          <p:nvPr>
            <p:ph type="sldNum" sz="quarter" idx="12"/>
          </p:nvPr>
        </p:nvSpPr>
        <p:spPr/>
        <p:txBody>
          <a:bodyPr/>
          <a:lstStyle/>
          <a:p>
            <a:fld id="{A5CD2DCF-715E-4973-AA5D-49C2141E9853}" type="slidenum">
              <a:rPr lang="en-US" smtClean="0"/>
              <a:t>‹#›</a:t>
            </a:fld>
            <a:endParaRPr lang="en-US"/>
          </a:p>
        </p:txBody>
      </p:sp>
    </p:spTree>
    <p:extLst>
      <p:ext uri="{BB962C8B-B14F-4D97-AF65-F5344CB8AC3E}">
        <p14:creationId xmlns:p14="http://schemas.microsoft.com/office/powerpoint/2010/main" val="2155773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558B5-9CA0-C7FC-7205-0EA51611DFB6}"/>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B41E1D95-7C61-7CAF-4825-BDDB19C258B4}"/>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BB4FB1-7103-3035-4314-AFF69554CE68}"/>
              </a:ext>
            </a:extLst>
          </p:cNvPr>
          <p:cNvSpPr>
            <a:spLocks noGrp="1"/>
          </p:cNvSpPr>
          <p:nvPr>
            <p:ph type="dt" sz="half" idx="10"/>
          </p:nvPr>
        </p:nvSpPr>
        <p:spPr/>
        <p:txBody>
          <a:bodyPr/>
          <a:lstStyle/>
          <a:p>
            <a:fld id="{B78A94A7-EF90-423E-B78F-712053D1C0AF}" type="datetimeFigureOut">
              <a:rPr lang="en-US" smtClean="0"/>
              <a:t>11/6/2025</a:t>
            </a:fld>
            <a:endParaRPr lang="en-US"/>
          </a:p>
        </p:txBody>
      </p:sp>
      <p:sp>
        <p:nvSpPr>
          <p:cNvPr id="5" name="Footer Placeholder 4">
            <a:extLst>
              <a:ext uri="{FF2B5EF4-FFF2-40B4-BE49-F238E27FC236}">
                <a16:creationId xmlns:a16="http://schemas.microsoft.com/office/drawing/2014/main" id="{B2DCA1E7-5B81-DB03-973B-E92D27246A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CE9974-4B3D-2F41-7DF6-889041C23AD5}"/>
              </a:ext>
            </a:extLst>
          </p:cNvPr>
          <p:cNvSpPr>
            <a:spLocks noGrp="1"/>
          </p:cNvSpPr>
          <p:nvPr>
            <p:ph type="sldNum" sz="quarter" idx="12"/>
          </p:nvPr>
        </p:nvSpPr>
        <p:spPr/>
        <p:txBody>
          <a:bodyPr/>
          <a:lstStyle/>
          <a:p>
            <a:fld id="{A5CD2DCF-715E-4973-AA5D-49C2141E9853}" type="slidenum">
              <a:rPr lang="en-US" smtClean="0"/>
              <a:t>‹#›</a:t>
            </a:fld>
            <a:endParaRPr lang="en-US"/>
          </a:p>
        </p:txBody>
      </p:sp>
    </p:spTree>
    <p:extLst>
      <p:ext uri="{BB962C8B-B14F-4D97-AF65-F5344CB8AC3E}">
        <p14:creationId xmlns:p14="http://schemas.microsoft.com/office/powerpoint/2010/main" val="1425694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34324-4FFC-260A-224C-4266919F01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F2E655-2AFE-8565-D6CB-299EDCB56397}"/>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1B11E16-C64C-F82D-441D-3F413A7A2743}"/>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CC38E9-35F6-A938-5A84-3DAD25F99CA8}"/>
              </a:ext>
            </a:extLst>
          </p:cNvPr>
          <p:cNvSpPr>
            <a:spLocks noGrp="1"/>
          </p:cNvSpPr>
          <p:nvPr>
            <p:ph type="dt" sz="half" idx="10"/>
          </p:nvPr>
        </p:nvSpPr>
        <p:spPr/>
        <p:txBody>
          <a:bodyPr/>
          <a:lstStyle/>
          <a:p>
            <a:fld id="{B78A94A7-EF90-423E-B78F-712053D1C0AF}" type="datetimeFigureOut">
              <a:rPr lang="en-US" smtClean="0"/>
              <a:t>11/6/2025</a:t>
            </a:fld>
            <a:endParaRPr lang="en-US"/>
          </a:p>
        </p:txBody>
      </p:sp>
      <p:sp>
        <p:nvSpPr>
          <p:cNvPr id="6" name="Footer Placeholder 5">
            <a:extLst>
              <a:ext uri="{FF2B5EF4-FFF2-40B4-BE49-F238E27FC236}">
                <a16:creationId xmlns:a16="http://schemas.microsoft.com/office/drawing/2014/main" id="{AAE0429A-6696-EDB2-4208-0AF94E65E3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C17EAA-AE82-03F4-D646-6CFD0F46025C}"/>
              </a:ext>
            </a:extLst>
          </p:cNvPr>
          <p:cNvSpPr>
            <a:spLocks noGrp="1"/>
          </p:cNvSpPr>
          <p:nvPr>
            <p:ph type="sldNum" sz="quarter" idx="12"/>
          </p:nvPr>
        </p:nvSpPr>
        <p:spPr/>
        <p:txBody>
          <a:bodyPr/>
          <a:lstStyle/>
          <a:p>
            <a:fld id="{A5CD2DCF-715E-4973-AA5D-49C2141E9853}" type="slidenum">
              <a:rPr lang="en-US" smtClean="0"/>
              <a:t>‹#›</a:t>
            </a:fld>
            <a:endParaRPr lang="en-US"/>
          </a:p>
        </p:txBody>
      </p:sp>
    </p:spTree>
    <p:extLst>
      <p:ext uri="{BB962C8B-B14F-4D97-AF65-F5344CB8AC3E}">
        <p14:creationId xmlns:p14="http://schemas.microsoft.com/office/powerpoint/2010/main" val="2081597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F17A0-3B5D-F7B1-8B29-A4C386FC8ED5}"/>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4C77AD-8D16-5220-17E7-47898E677ECE}"/>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242DC5E-B6FB-B557-1BC8-652973D16F2D}"/>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233088-4903-2FCD-833F-B32EB4D9E078}"/>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D526003E-CAC8-F28B-0791-25CC69E9383A}"/>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232540-C0EC-193A-C04B-36227F599DD5}"/>
              </a:ext>
            </a:extLst>
          </p:cNvPr>
          <p:cNvSpPr>
            <a:spLocks noGrp="1"/>
          </p:cNvSpPr>
          <p:nvPr>
            <p:ph type="dt" sz="half" idx="10"/>
          </p:nvPr>
        </p:nvSpPr>
        <p:spPr/>
        <p:txBody>
          <a:bodyPr/>
          <a:lstStyle/>
          <a:p>
            <a:fld id="{B78A94A7-EF90-423E-B78F-712053D1C0AF}" type="datetimeFigureOut">
              <a:rPr lang="en-US" smtClean="0"/>
              <a:t>11/6/2025</a:t>
            </a:fld>
            <a:endParaRPr lang="en-US"/>
          </a:p>
        </p:txBody>
      </p:sp>
      <p:sp>
        <p:nvSpPr>
          <p:cNvPr id="8" name="Footer Placeholder 7">
            <a:extLst>
              <a:ext uri="{FF2B5EF4-FFF2-40B4-BE49-F238E27FC236}">
                <a16:creationId xmlns:a16="http://schemas.microsoft.com/office/drawing/2014/main" id="{C7CFED5F-10B6-CA46-C9D3-B383FE85D1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FBC240-C2F6-3531-C83D-3442D00742F6}"/>
              </a:ext>
            </a:extLst>
          </p:cNvPr>
          <p:cNvSpPr>
            <a:spLocks noGrp="1"/>
          </p:cNvSpPr>
          <p:nvPr>
            <p:ph type="sldNum" sz="quarter" idx="12"/>
          </p:nvPr>
        </p:nvSpPr>
        <p:spPr/>
        <p:txBody>
          <a:bodyPr/>
          <a:lstStyle/>
          <a:p>
            <a:fld id="{A5CD2DCF-715E-4973-AA5D-49C2141E9853}" type="slidenum">
              <a:rPr lang="en-US" smtClean="0"/>
              <a:t>‹#›</a:t>
            </a:fld>
            <a:endParaRPr lang="en-US"/>
          </a:p>
        </p:txBody>
      </p:sp>
    </p:spTree>
    <p:extLst>
      <p:ext uri="{BB962C8B-B14F-4D97-AF65-F5344CB8AC3E}">
        <p14:creationId xmlns:p14="http://schemas.microsoft.com/office/powerpoint/2010/main" val="3120410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5809C-8807-2A72-DE30-F5C0BEC3C22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BDFE6E-A9E1-0606-F7ED-55D170B1AFC1}"/>
              </a:ext>
            </a:extLst>
          </p:cNvPr>
          <p:cNvSpPr>
            <a:spLocks noGrp="1"/>
          </p:cNvSpPr>
          <p:nvPr>
            <p:ph type="dt" sz="half" idx="10"/>
          </p:nvPr>
        </p:nvSpPr>
        <p:spPr/>
        <p:txBody>
          <a:bodyPr/>
          <a:lstStyle/>
          <a:p>
            <a:fld id="{B78A94A7-EF90-423E-B78F-712053D1C0AF}" type="datetimeFigureOut">
              <a:rPr lang="en-US" smtClean="0"/>
              <a:t>11/6/2025</a:t>
            </a:fld>
            <a:endParaRPr lang="en-US"/>
          </a:p>
        </p:txBody>
      </p:sp>
      <p:sp>
        <p:nvSpPr>
          <p:cNvPr id="4" name="Footer Placeholder 3">
            <a:extLst>
              <a:ext uri="{FF2B5EF4-FFF2-40B4-BE49-F238E27FC236}">
                <a16:creationId xmlns:a16="http://schemas.microsoft.com/office/drawing/2014/main" id="{82AB159D-4470-DED8-F0A0-B4036F8E500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BB40A7-3397-8A89-73D8-3566E17AC948}"/>
              </a:ext>
            </a:extLst>
          </p:cNvPr>
          <p:cNvSpPr>
            <a:spLocks noGrp="1"/>
          </p:cNvSpPr>
          <p:nvPr>
            <p:ph type="sldNum" sz="quarter" idx="12"/>
          </p:nvPr>
        </p:nvSpPr>
        <p:spPr/>
        <p:txBody>
          <a:bodyPr/>
          <a:lstStyle/>
          <a:p>
            <a:fld id="{A5CD2DCF-715E-4973-AA5D-49C2141E9853}" type="slidenum">
              <a:rPr lang="en-US" smtClean="0"/>
              <a:t>‹#›</a:t>
            </a:fld>
            <a:endParaRPr lang="en-US"/>
          </a:p>
        </p:txBody>
      </p:sp>
    </p:spTree>
    <p:extLst>
      <p:ext uri="{BB962C8B-B14F-4D97-AF65-F5344CB8AC3E}">
        <p14:creationId xmlns:p14="http://schemas.microsoft.com/office/powerpoint/2010/main" val="449972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10F7FD-B96D-AE01-4519-E2957EA2B3F8}"/>
              </a:ext>
            </a:extLst>
          </p:cNvPr>
          <p:cNvSpPr>
            <a:spLocks noGrp="1"/>
          </p:cNvSpPr>
          <p:nvPr>
            <p:ph type="dt" sz="half" idx="10"/>
          </p:nvPr>
        </p:nvSpPr>
        <p:spPr/>
        <p:txBody>
          <a:bodyPr/>
          <a:lstStyle/>
          <a:p>
            <a:fld id="{B78A94A7-EF90-423E-B78F-712053D1C0AF}" type="datetimeFigureOut">
              <a:rPr lang="en-US" smtClean="0"/>
              <a:t>11/6/2025</a:t>
            </a:fld>
            <a:endParaRPr lang="en-US"/>
          </a:p>
        </p:txBody>
      </p:sp>
      <p:sp>
        <p:nvSpPr>
          <p:cNvPr id="3" name="Footer Placeholder 2">
            <a:extLst>
              <a:ext uri="{FF2B5EF4-FFF2-40B4-BE49-F238E27FC236}">
                <a16:creationId xmlns:a16="http://schemas.microsoft.com/office/drawing/2014/main" id="{125BEE03-1E4C-CD9C-63DB-A54F72EE41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FCF34C-FFC4-41F7-8E41-386F08ED22FB}"/>
              </a:ext>
            </a:extLst>
          </p:cNvPr>
          <p:cNvSpPr>
            <a:spLocks noGrp="1"/>
          </p:cNvSpPr>
          <p:nvPr>
            <p:ph type="sldNum" sz="quarter" idx="12"/>
          </p:nvPr>
        </p:nvSpPr>
        <p:spPr/>
        <p:txBody>
          <a:bodyPr/>
          <a:lstStyle/>
          <a:p>
            <a:fld id="{A5CD2DCF-715E-4973-AA5D-49C2141E9853}" type="slidenum">
              <a:rPr lang="en-US" smtClean="0"/>
              <a:t>‹#›</a:t>
            </a:fld>
            <a:endParaRPr lang="en-US"/>
          </a:p>
        </p:txBody>
      </p:sp>
    </p:spTree>
    <p:extLst>
      <p:ext uri="{BB962C8B-B14F-4D97-AF65-F5344CB8AC3E}">
        <p14:creationId xmlns:p14="http://schemas.microsoft.com/office/powerpoint/2010/main" val="3377308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47217-1D8C-D022-7710-60D58BB709D7}"/>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F45B809-9B7B-C8BF-3077-6AB8044FBEE9}"/>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0393F2-7410-9CEA-2A95-8DCC4991A3CD}"/>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3908FAC-8E0C-AF7E-11A9-A53D977DC42B}"/>
              </a:ext>
            </a:extLst>
          </p:cNvPr>
          <p:cNvSpPr>
            <a:spLocks noGrp="1"/>
          </p:cNvSpPr>
          <p:nvPr>
            <p:ph type="dt" sz="half" idx="10"/>
          </p:nvPr>
        </p:nvSpPr>
        <p:spPr/>
        <p:txBody>
          <a:bodyPr/>
          <a:lstStyle/>
          <a:p>
            <a:fld id="{B78A94A7-EF90-423E-B78F-712053D1C0AF}" type="datetimeFigureOut">
              <a:rPr lang="en-US" smtClean="0"/>
              <a:t>11/6/2025</a:t>
            </a:fld>
            <a:endParaRPr lang="en-US"/>
          </a:p>
        </p:txBody>
      </p:sp>
      <p:sp>
        <p:nvSpPr>
          <p:cNvPr id="6" name="Footer Placeholder 5">
            <a:extLst>
              <a:ext uri="{FF2B5EF4-FFF2-40B4-BE49-F238E27FC236}">
                <a16:creationId xmlns:a16="http://schemas.microsoft.com/office/drawing/2014/main" id="{33FFD16F-96C8-7CC8-0059-6D9D870575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6BE397-33F5-F535-A03D-7E6666D89C3E}"/>
              </a:ext>
            </a:extLst>
          </p:cNvPr>
          <p:cNvSpPr>
            <a:spLocks noGrp="1"/>
          </p:cNvSpPr>
          <p:nvPr>
            <p:ph type="sldNum" sz="quarter" idx="12"/>
          </p:nvPr>
        </p:nvSpPr>
        <p:spPr/>
        <p:txBody>
          <a:bodyPr/>
          <a:lstStyle/>
          <a:p>
            <a:fld id="{A5CD2DCF-715E-4973-AA5D-49C2141E9853}" type="slidenum">
              <a:rPr lang="en-US" smtClean="0"/>
              <a:t>‹#›</a:t>
            </a:fld>
            <a:endParaRPr lang="en-US"/>
          </a:p>
        </p:txBody>
      </p:sp>
    </p:spTree>
    <p:extLst>
      <p:ext uri="{BB962C8B-B14F-4D97-AF65-F5344CB8AC3E}">
        <p14:creationId xmlns:p14="http://schemas.microsoft.com/office/powerpoint/2010/main" val="2198052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EE501-4729-A642-035C-A93CA6EBB04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375608F6-E504-4B48-193A-6278B8CE32F1}"/>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C80EAC57-96EF-E6C8-A598-12589750A0C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CD6B0C4-4D90-850F-52B8-8242696565CC}"/>
              </a:ext>
            </a:extLst>
          </p:cNvPr>
          <p:cNvSpPr>
            <a:spLocks noGrp="1"/>
          </p:cNvSpPr>
          <p:nvPr>
            <p:ph type="dt" sz="half" idx="10"/>
          </p:nvPr>
        </p:nvSpPr>
        <p:spPr/>
        <p:txBody>
          <a:bodyPr/>
          <a:lstStyle/>
          <a:p>
            <a:fld id="{B78A94A7-EF90-423E-B78F-712053D1C0AF}" type="datetimeFigureOut">
              <a:rPr lang="en-US" smtClean="0"/>
              <a:t>11/6/2025</a:t>
            </a:fld>
            <a:endParaRPr lang="en-US"/>
          </a:p>
        </p:txBody>
      </p:sp>
      <p:sp>
        <p:nvSpPr>
          <p:cNvPr id="6" name="Footer Placeholder 5">
            <a:extLst>
              <a:ext uri="{FF2B5EF4-FFF2-40B4-BE49-F238E27FC236}">
                <a16:creationId xmlns:a16="http://schemas.microsoft.com/office/drawing/2014/main" id="{463BA721-4B5F-20D3-558F-76F4B8C903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1A20F6-C03E-6563-F147-88082D212B85}"/>
              </a:ext>
            </a:extLst>
          </p:cNvPr>
          <p:cNvSpPr>
            <a:spLocks noGrp="1"/>
          </p:cNvSpPr>
          <p:nvPr>
            <p:ph type="sldNum" sz="quarter" idx="12"/>
          </p:nvPr>
        </p:nvSpPr>
        <p:spPr/>
        <p:txBody>
          <a:bodyPr/>
          <a:lstStyle/>
          <a:p>
            <a:fld id="{A5CD2DCF-715E-4973-AA5D-49C2141E9853}" type="slidenum">
              <a:rPr lang="en-US" smtClean="0"/>
              <a:t>‹#›</a:t>
            </a:fld>
            <a:endParaRPr lang="en-US"/>
          </a:p>
        </p:txBody>
      </p:sp>
    </p:spTree>
    <p:extLst>
      <p:ext uri="{BB962C8B-B14F-4D97-AF65-F5344CB8AC3E}">
        <p14:creationId xmlns:p14="http://schemas.microsoft.com/office/powerpoint/2010/main" val="2970249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36A80-D8ED-028F-9D4A-ED671B3DC1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1A4127-E4AC-3134-11BE-17FCA0C540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2F49C0-0C76-9859-D11E-666E791A5771}"/>
              </a:ext>
            </a:extLst>
          </p:cNvPr>
          <p:cNvSpPr>
            <a:spLocks noGrp="1"/>
          </p:cNvSpPr>
          <p:nvPr>
            <p:ph type="dt" sz="half" idx="10"/>
          </p:nvPr>
        </p:nvSpPr>
        <p:spPr/>
        <p:txBody>
          <a:bodyPr/>
          <a:lstStyle/>
          <a:p>
            <a:fld id="{B78A94A7-EF90-423E-B78F-712053D1C0AF}" type="datetimeFigureOut">
              <a:rPr lang="en-US" smtClean="0"/>
              <a:t>11/6/2025</a:t>
            </a:fld>
            <a:endParaRPr lang="en-US"/>
          </a:p>
        </p:txBody>
      </p:sp>
      <p:sp>
        <p:nvSpPr>
          <p:cNvPr id="5" name="Footer Placeholder 4">
            <a:extLst>
              <a:ext uri="{FF2B5EF4-FFF2-40B4-BE49-F238E27FC236}">
                <a16:creationId xmlns:a16="http://schemas.microsoft.com/office/drawing/2014/main" id="{2C0E6610-D843-0A1A-6305-746ED6E063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B2510B-20BA-9681-EDAC-64C0F518170F}"/>
              </a:ext>
            </a:extLst>
          </p:cNvPr>
          <p:cNvSpPr>
            <a:spLocks noGrp="1"/>
          </p:cNvSpPr>
          <p:nvPr>
            <p:ph type="sldNum" sz="quarter" idx="12"/>
          </p:nvPr>
        </p:nvSpPr>
        <p:spPr/>
        <p:txBody>
          <a:bodyPr/>
          <a:lstStyle/>
          <a:p>
            <a:fld id="{A5CD2DCF-715E-4973-AA5D-49C2141E9853}" type="slidenum">
              <a:rPr lang="en-US" smtClean="0"/>
              <a:t>‹#›</a:t>
            </a:fld>
            <a:endParaRPr lang="en-US"/>
          </a:p>
        </p:txBody>
      </p:sp>
    </p:spTree>
    <p:extLst>
      <p:ext uri="{BB962C8B-B14F-4D97-AF65-F5344CB8AC3E}">
        <p14:creationId xmlns:p14="http://schemas.microsoft.com/office/powerpoint/2010/main" val="1606842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CAFEA8-7E1B-67F7-BF07-2886C1FABA24}"/>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B52A4B-3915-DD22-45D9-4B5FE087E7D6}"/>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776CB2-F692-61E3-544E-7419ED3A78E2}"/>
              </a:ext>
            </a:extLst>
          </p:cNvPr>
          <p:cNvSpPr>
            <a:spLocks noGrp="1"/>
          </p:cNvSpPr>
          <p:nvPr>
            <p:ph type="dt" sz="half" idx="10"/>
          </p:nvPr>
        </p:nvSpPr>
        <p:spPr/>
        <p:txBody>
          <a:bodyPr/>
          <a:lstStyle/>
          <a:p>
            <a:fld id="{B78A94A7-EF90-423E-B78F-712053D1C0AF}" type="datetimeFigureOut">
              <a:rPr lang="en-US" smtClean="0"/>
              <a:t>11/6/2025</a:t>
            </a:fld>
            <a:endParaRPr lang="en-US"/>
          </a:p>
        </p:txBody>
      </p:sp>
      <p:sp>
        <p:nvSpPr>
          <p:cNvPr id="5" name="Footer Placeholder 4">
            <a:extLst>
              <a:ext uri="{FF2B5EF4-FFF2-40B4-BE49-F238E27FC236}">
                <a16:creationId xmlns:a16="http://schemas.microsoft.com/office/drawing/2014/main" id="{DC0DCBB1-65C2-C8CC-CBAC-CCB0BBDE29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8286D3-1EE6-2F8F-A000-1A86E7354537}"/>
              </a:ext>
            </a:extLst>
          </p:cNvPr>
          <p:cNvSpPr>
            <a:spLocks noGrp="1"/>
          </p:cNvSpPr>
          <p:nvPr>
            <p:ph type="sldNum" sz="quarter" idx="12"/>
          </p:nvPr>
        </p:nvSpPr>
        <p:spPr/>
        <p:txBody>
          <a:bodyPr/>
          <a:lstStyle/>
          <a:p>
            <a:fld id="{A5CD2DCF-715E-4973-AA5D-49C2141E9853}" type="slidenum">
              <a:rPr lang="en-US" smtClean="0"/>
              <a:t>‹#›</a:t>
            </a:fld>
            <a:endParaRPr lang="en-US"/>
          </a:p>
        </p:txBody>
      </p:sp>
    </p:spTree>
    <p:extLst>
      <p:ext uri="{BB962C8B-B14F-4D97-AF65-F5344CB8AC3E}">
        <p14:creationId xmlns:p14="http://schemas.microsoft.com/office/powerpoint/2010/main" val="24619007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02EA7-197D-DDE2-D72A-0B9BC468ABEC}"/>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1C54E34C-B3E7-7671-3DDD-3A45742393DE}"/>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046576-3404-9D43-980F-952DB37DFF90}"/>
              </a:ext>
            </a:extLst>
          </p:cNvPr>
          <p:cNvSpPr>
            <a:spLocks noGrp="1"/>
          </p:cNvSpPr>
          <p:nvPr>
            <p:ph type="dt" sz="half" idx="10"/>
          </p:nvPr>
        </p:nvSpPr>
        <p:spPr/>
        <p:txBody>
          <a:bodyPr/>
          <a:lstStyle/>
          <a:p>
            <a:fld id="{B78A94A7-EF90-423E-B78F-712053D1C0AF}" type="datetimeFigureOut">
              <a:rPr lang="en-US" smtClean="0"/>
              <a:t>11/6/2025</a:t>
            </a:fld>
            <a:endParaRPr lang="en-US"/>
          </a:p>
        </p:txBody>
      </p:sp>
      <p:sp>
        <p:nvSpPr>
          <p:cNvPr id="5" name="Footer Placeholder 4">
            <a:extLst>
              <a:ext uri="{FF2B5EF4-FFF2-40B4-BE49-F238E27FC236}">
                <a16:creationId xmlns:a16="http://schemas.microsoft.com/office/drawing/2014/main" id="{A5C75ECD-CD04-375A-E6DD-1764E939AF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F32B81-9BE4-BE96-43B4-C85DD4511832}"/>
              </a:ext>
            </a:extLst>
          </p:cNvPr>
          <p:cNvSpPr>
            <a:spLocks noGrp="1"/>
          </p:cNvSpPr>
          <p:nvPr>
            <p:ph type="sldNum" sz="quarter" idx="12"/>
          </p:nvPr>
        </p:nvSpPr>
        <p:spPr/>
        <p:txBody>
          <a:bodyPr/>
          <a:lstStyle/>
          <a:p>
            <a:fld id="{A5CD2DCF-715E-4973-AA5D-49C2141E9853}" type="slidenum">
              <a:rPr lang="en-US" smtClean="0"/>
              <a:t>‹#›</a:t>
            </a:fld>
            <a:endParaRPr lang="en-US"/>
          </a:p>
        </p:txBody>
      </p:sp>
    </p:spTree>
    <p:extLst>
      <p:ext uri="{BB962C8B-B14F-4D97-AF65-F5344CB8AC3E}">
        <p14:creationId xmlns:p14="http://schemas.microsoft.com/office/powerpoint/2010/main" val="1778286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1824BF-B9C2-1413-8F91-22FE28DB295A}"/>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12FB41-CA2F-D7F6-5565-1859EFBA8852}"/>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BA9315-283C-59FE-F1B7-8BD716BACAAE}"/>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B78A94A7-EF90-423E-B78F-712053D1C0AF}" type="datetimeFigureOut">
              <a:rPr lang="en-US" smtClean="0"/>
              <a:t>11/6/2025</a:t>
            </a:fld>
            <a:endParaRPr lang="en-US"/>
          </a:p>
        </p:txBody>
      </p:sp>
      <p:sp>
        <p:nvSpPr>
          <p:cNvPr id="5" name="Footer Placeholder 4">
            <a:extLst>
              <a:ext uri="{FF2B5EF4-FFF2-40B4-BE49-F238E27FC236}">
                <a16:creationId xmlns:a16="http://schemas.microsoft.com/office/drawing/2014/main" id="{9536D7AF-ED6A-46B4-E0F9-CFEFDFF188C2}"/>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A182E6E-8A92-2ACD-32E6-8373BE7CC691}"/>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A5CD2DCF-715E-4973-AA5D-49C2141E9853}" type="slidenum">
              <a:rPr lang="en-US" smtClean="0"/>
              <a:t>‹#›</a:t>
            </a:fld>
            <a:endParaRPr lang="en-US"/>
          </a:p>
        </p:txBody>
      </p:sp>
    </p:spTree>
    <p:extLst>
      <p:ext uri="{BB962C8B-B14F-4D97-AF65-F5344CB8AC3E}">
        <p14:creationId xmlns:p14="http://schemas.microsoft.com/office/powerpoint/2010/main" val="37959114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11.png"/><Relationship Id="rId7" Type="http://schemas.openxmlformats.org/officeDocument/2006/relationships/diagramLayout" Target="../diagrams/layout1.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diagramData" Target="../diagrams/data1.xml"/><Relationship Id="rId5" Type="http://schemas.openxmlformats.org/officeDocument/2006/relationships/image" Target="../media/image13.png"/><Relationship Id="rId10" Type="http://schemas.microsoft.com/office/2007/relationships/diagramDrawing" Target="../diagrams/drawing1.xml"/><Relationship Id="rId4" Type="http://schemas.openxmlformats.org/officeDocument/2006/relationships/image" Target="../media/image12.png"/><Relationship Id="rId9" Type="http://schemas.openxmlformats.org/officeDocument/2006/relationships/diagramColors" Target="../diagrams/colors1.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62D44EE-C852-4460-B8B5-C4F2BC205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58A3D9-1D01-C5A4-89C5-3B8A44832609}"/>
              </a:ext>
            </a:extLst>
          </p:cNvPr>
          <p:cNvSpPr>
            <a:spLocks noGrp="1"/>
          </p:cNvSpPr>
          <p:nvPr>
            <p:ph type="ctrTitle"/>
          </p:nvPr>
        </p:nvSpPr>
        <p:spPr>
          <a:xfrm>
            <a:off x="4668923" y="1657642"/>
            <a:ext cx="4001197" cy="2253109"/>
          </a:xfrm>
          <a:effectLst>
            <a:outerShdw blurRad="50800" dist="38100" dir="5400000" algn="t" rotWithShape="0">
              <a:prstClr val="black">
                <a:alpha val="40000"/>
              </a:prstClr>
            </a:outerShdw>
          </a:effectLst>
        </p:spPr>
        <p:txBody>
          <a:bodyPr>
            <a:normAutofit fontScale="90000"/>
          </a:bodyPr>
          <a:lstStyle/>
          <a:p>
            <a:r>
              <a:rPr lang="en-US" dirty="0">
                <a:ln w="0"/>
                <a:solidFill>
                  <a:schemeClr val="accent1"/>
                </a:solidFill>
                <a:effectLst>
                  <a:outerShdw blurRad="38100" dist="25400" dir="5400000" algn="ctr" rotWithShape="0">
                    <a:srgbClr val="6E747A">
                      <a:alpha val="43000"/>
                    </a:srgbClr>
                  </a:outerShdw>
                </a:effectLst>
                <a:latin typeface="Viper Squadron" panose="00000400000000000000" pitchFamily="2" charset="0"/>
              </a:rPr>
              <a:t>Social Media Analytics for Paradigm Music</a:t>
            </a:r>
          </a:p>
        </p:txBody>
      </p:sp>
      <p:sp>
        <p:nvSpPr>
          <p:cNvPr id="15" name="Freeform: Shape 14">
            <a:extLst>
              <a:ext uri="{FF2B5EF4-FFF2-40B4-BE49-F238E27FC236}">
                <a16:creationId xmlns:a16="http://schemas.microsoft.com/office/drawing/2014/main" id="{658970D8-8D1D-4B5C-894B-E871CC865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7896" y="0"/>
            <a:ext cx="866357" cy="443257"/>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F227E5B6-9132-43CA-B503-37A18562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61789" y="0"/>
            <a:ext cx="1303050" cy="719652"/>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3C2051E-A88D-48E5-BACF-AAED17892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187183"/>
            <a:ext cx="119805" cy="414747"/>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7821A508-2985-4905-874A-527429BA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376736"/>
            <a:ext cx="1161135" cy="766764"/>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D2929CB1-0E3C-4B2D-ADC5-0154FB33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773320" y="4288429"/>
            <a:ext cx="1328707" cy="855071"/>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pic>
        <p:nvPicPr>
          <p:cNvPr id="8" name="Picture 7">
            <a:extLst>
              <a:ext uri="{FF2B5EF4-FFF2-40B4-BE49-F238E27FC236}">
                <a16:creationId xmlns:a16="http://schemas.microsoft.com/office/drawing/2014/main" id="{BD1FB79F-E02F-390E-A922-A396811953A8}"/>
              </a:ext>
            </a:extLst>
          </p:cNvPr>
          <p:cNvPicPr>
            <a:picLocks noChangeAspect="1"/>
          </p:cNvPicPr>
          <p:nvPr/>
        </p:nvPicPr>
        <p:blipFill>
          <a:blip r:embed="rId3"/>
          <a:srcRect r="-2" b="-2"/>
          <a:stretch>
            <a:fillRect/>
          </a:stretch>
        </p:blipFill>
        <p:spPr>
          <a:xfrm>
            <a:off x="473880" y="449040"/>
            <a:ext cx="3883686" cy="3883686"/>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
        <p:nvSpPr>
          <p:cNvPr id="25" name="Freeform: Shape 24">
            <a:extLst>
              <a:ext uri="{FF2B5EF4-FFF2-40B4-BE49-F238E27FC236}">
                <a16:creationId xmlns:a16="http://schemas.microsoft.com/office/drawing/2014/main" id="{5F2F0C84-BE8C-4DC2-A6D3-30349A801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390384" y="4694067"/>
            <a:ext cx="1174455" cy="449433"/>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545493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4429E22B-B78B-8334-B5A5-F874F2352FF4}"/>
              </a:ext>
            </a:extLst>
          </p:cNvPr>
          <p:cNvSpPr>
            <a:spLocks noGrp="1"/>
          </p:cNvSpPr>
          <p:nvPr>
            <p:ph type="title"/>
          </p:nvPr>
        </p:nvSpPr>
        <p:spPr>
          <a:xfrm>
            <a:off x="628650" y="273843"/>
            <a:ext cx="4045020" cy="994173"/>
          </a:xfrm>
        </p:spPr>
        <p:txBody>
          <a:bodyPr vert="horz" lIns="91440" tIns="45720" rIns="91440" bIns="45720" rtlCol="0" anchor="ctr">
            <a:normAutofit fontScale="90000"/>
          </a:bodyPr>
          <a:lstStyle/>
          <a:p>
            <a:pPr defTabSz="914400"/>
            <a:r>
              <a:rPr lang="en-US" sz="4400" dirty="0">
                <a:latin typeface="Viper Squadron" panose="00000400000000000000" pitchFamily="2" charset="0"/>
              </a:rPr>
              <a:t>Mission and Plan</a:t>
            </a:r>
          </a:p>
        </p:txBody>
      </p:sp>
      <p:sp>
        <p:nvSpPr>
          <p:cNvPr id="3" name="Text Placeholder 2">
            <a:extLst>
              <a:ext uri="{FF2B5EF4-FFF2-40B4-BE49-F238E27FC236}">
                <a16:creationId xmlns:a16="http://schemas.microsoft.com/office/drawing/2014/main" id="{99F007F7-1EE6-80FE-FD71-F8C61583338E}"/>
              </a:ext>
            </a:extLst>
          </p:cNvPr>
          <p:cNvSpPr>
            <a:spLocks noGrp="1"/>
          </p:cNvSpPr>
          <p:nvPr>
            <p:ph type="body" idx="1"/>
          </p:nvPr>
        </p:nvSpPr>
        <p:spPr>
          <a:xfrm>
            <a:off x="628650" y="1369218"/>
            <a:ext cx="4045020" cy="3263504"/>
          </a:xfrm>
        </p:spPr>
        <p:txBody>
          <a:bodyPr vert="horz" lIns="91440" tIns="45720" rIns="91440" bIns="45720" rtlCol="0">
            <a:normAutofit/>
          </a:bodyPr>
          <a:lstStyle/>
          <a:p>
            <a:pPr indent="-228600" defTabSz="914400"/>
            <a:r>
              <a:rPr lang="en-US" b="1" dirty="0"/>
              <a:t>Mission: </a:t>
            </a:r>
            <a:r>
              <a:rPr lang="en-US" dirty="0"/>
              <a:t>help users share playlists and find nearby favorites</a:t>
            </a:r>
          </a:p>
          <a:p>
            <a:pPr indent="-228600" defTabSz="914400"/>
            <a:r>
              <a:rPr lang="en-US" b="1" dirty="0"/>
              <a:t>Goal: </a:t>
            </a:r>
            <a:r>
              <a:rPr lang="en-US" dirty="0"/>
              <a:t>learn what is popular across places and groups</a:t>
            </a:r>
          </a:p>
          <a:p>
            <a:pPr indent="-228600" defTabSz="914400"/>
            <a:r>
              <a:rPr lang="en-US" b="1" dirty="0"/>
              <a:t>Plan: </a:t>
            </a:r>
            <a:r>
              <a:rPr lang="en-US" dirty="0"/>
              <a:t>goals to metrics, visuals that tell the story, next steps</a:t>
            </a:r>
          </a:p>
        </p:txBody>
      </p:sp>
      <p:pic>
        <p:nvPicPr>
          <p:cNvPr id="5" name="Picture 4" descr="A colorful line art of various icons&#10;&#10;AI-generated content may be incorrect.">
            <a:extLst>
              <a:ext uri="{FF2B5EF4-FFF2-40B4-BE49-F238E27FC236}">
                <a16:creationId xmlns:a16="http://schemas.microsoft.com/office/drawing/2014/main" id="{BF934093-A787-B017-AD23-9A47521D50E3}"/>
              </a:ext>
            </a:extLst>
          </p:cNvPr>
          <p:cNvPicPr>
            <a:picLocks noChangeAspect="1"/>
          </p:cNvPicPr>
          <p:nvPr/>
        </p:nvPicPr>
        <p:blipFill>
          <a:blip r:embed="rId3">
            <a:extLst>
              <a:ext uri="{28A0092B-C50C-407E-A947-70E740481C1C}">
                <a14:useLocalDpi xmlns:a14="http://schemas.microsoft.com/office/drawing/2010/main" val="0"/>
              </a:ext>
            </a:extLst>
          </a:blip>
          <a:srcRect r="3746" b="-4"/>
          <a:stretch>
            <a:fillRect/>
          </a:stretch>
        </p:blipFill>
        <p:spPr>
          <a:xfrm>
            <a:off x="4062956" y="190189"/>
            <a:ext cx="4563274" cy="4563275"/>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2"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4696411" y="515866"/>
            <a:ext cx="4103360" cy="4103360"/>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86420" y="690843"/>
            <a:ext cx="593266" cy="57717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5732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Knowing the Difference Between Goals, Objectives Critical in Business  Planning | Resource Tool for Start-up and Small Businesses in New  MexicoResource Tool for Start-up and Small Businesses in New Mexico">
            <a:extLst>
              <a:ext uri="{FF2B5EF4-FFF2-40B4-BE49-F238E27FC236}">
                <a16:creationId xmlns:a16="http://schemas.microsoft.com/office/drawing/2014/main" id="{EEFF740F-9DB4-C87A-2DE0-238C1EDEAE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5884"/>
          <a:stretch>
            <a:fillRect/>
          </a:stretch>
        </p:blipFill>
        <p:spPr bwMode="auto">
          <a:xfrm>
            <a:off x="20" y="10"/>
            <a:ext cx="7252212" cy="5143490"/>
          </a:xfrm>
          <a:prstGeom prst="rect">
            <a:avLst/>
          </a:prstGeom>
          <a:noFill/>
          <a:extLst>
            <a:ext uri="{909E8E84-426E-40DD-AFC4-6F175D3DCCD1}">
              <a14:hiddenFill xmlns:a14="http://schemas.microsoft.com/office/drawing/2010/main">
                <a:solidFill>
                  <a:srgbClr val="FFFFFF"/>
                </a:solidFill>
              </a14:hiddenFill>
            </a:ext>
          </a:extLst>
        </p:spPr>
      </p:pic>
      <p:sp>
        <p:nvSpPr>
          <p:cNvPr id="2057" name="Rectangle 205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843764" y="0"/>
            <a:ext cx="5300233" cy="51435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FEAE8E5-F3DD-0CDD-AA56-FDE6111E65FD}"/>
              </a:ext>
            </a:extLst>
          </p:cNvPr>
          <p:cNvSpPr>
            <a:spLocks noGrp="1"/>
          </p:cNvSpPr>
          <p:nvPr>
            <p:ph type="title"/>
          </p:nvPr>
        </p:nvSpPr>
        <p:spPr>
          <a:xfrm>
            <a:off x="5648706" y="273843"/>
            <a:ext cx="3202819" cy="1424934"/>
          </a:xfrm>
        </p:spPr>
        <p:txBody>
          <a:bodyPr vert="horz" lIns="91440" tIns="45720" rIns="91440" bIns="45720" rtlCol="0" anchor="ctr">
            <a:normAutofit fontScale="90000"/>
          </a:bodyPr>
          <a:lstStyle/>
          <a:p>
            <a:pPr algn="ctr" defTabSz="914400"/>
            <a:r>
              <a:rPr lang="en-US" sz="3000" dirty="0">
                <a:latin typeface="Viper Squadron" panose="00000400000000000000" pitchFamily="2" charset="0"/>
              </a:rPr>
              <a:t>From Goals to Measurable Objectives</a:t>
            </a:r>
          </a:p>
        </p:txBody>
      </p:sp>
      <p:sp>
        <p:nvSpPr>
          <p:cNvPr id="3" name="Text Placeholder 2">
            <a:extLst>
              <a:ext uri="{FF2B5EF4-FFF2-40B4-BE49-F238E27FC236}">
                <a16:creationId xmlns:a16="http://schemas.microsoft.com/office/drawing/2014/main" id="{0DA4B172-74F7-378B-5991-06E6FDB79013}"/>
              </a:ext>
            </a:extLst>
          </p:cNvPr>
          <p:cNvSpPr>
            <a:spLocks noGrp="1"/>
          </p:cNvSpPr>
          <p:nvPr>
            <p:ph type="body" idx="1"/>
          </p:nvPr>
        </p:nvSpPr>
        <p:spPr>
          <a:xfrm>
            <a:off x="5648707" y="1825649"/>
            <a:ext cx="3202818" cy="3067363"/>
          </a:xfrm>
        </p:spPr>
        <p:txBody>
          <a:bodyPr vert="horz" lIns="91440" tIns="45720" rIns="91440" bIns="45720" rtlCol="0">
            <a:normAutofit/>
          </a:bodyPr>
          <a:lstStyle/>
          <a:p>
            <a:pPr indent="-228600" defTabSz="914400"/>
            <a:r>
              <a:rPr lang="en-US" sz="1500" dirty="0"/>
              <a:t>Grow monthly active users</a:t>
            </a:r>
          </a:p>
          <a:p>
            <a:pPr indent="-228600" defTabSz="914400"/>
            <a:r>
              <a:rPr lang="en-US" sz="1500" dirty="0"/>
              <a:t>Increase shares and saves</a:t>
            </a:r>
          </a:p>
          <a:p>
            <a:pPr indent="-228600" defTabSz="914400"/>
            <a:r>
              <a:rPr lang="en-US" sz="1500" dirty="0"/>
              <a:t>Lift conversion to account sign up</a:t>
            </a:r>
          </a:p>
        </p:txBody>
      </p:sp>
    </p:spTree>
    <p:extLst>
      <p:ext uri="{BB962C8B-B14F-4D97-AF65-F5344CB8AC3E}">
        <p14:creationId xmlns:p14="http://schemas.microsoft.com/office/powerpoint/2010/main" val="212721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72A146-234B-A2CE-4B48-0EB911381406}"/>
              </a:ext>
            </a:extLst>
          </p:cNvPr>
          <p:cNvSpPr>
            <a:spLocks noGrp="1"/>
          </p:cNvSpPr>
          <p:nvPr>
            <p:ph type="title"/>
          </p:nvPr>
        </p:nvSpPr>
        <p:spPr>
          <a:xfrm>
            <a:off x="480060" y="3583304"/>
            <a:ext cx="2564242" cy="1059089"/>
          </a:xfrm>
        </p:spPr>
        <p:txBody>
          <a:bodyPr vert="horz" lIns="91440" tIns="45720" rIns="91440" bIns="45720" rtlCol="0" anchor="ctr">
            <a:normAutofit fontScale="90000"/>
          </a:bodyPr>
          <a:lstStyle/>
          <a:p>
            <a:pPr defTabSz="914400"/>
            <a:r>
              <a:rPr lang="en-US" sz="2500" dirty="0">
                <a:latin typeface="Viper Squadron" panose="00000400000000000000" pitchFamily="2" charset="0"/>
              </a:rPr>
              <a:t>Key Performance Indicators</a:t>
            </a:r>
          </a:p>
        </p:txBody>
      </p:sp>
      <p:pic>
        <p:nvPicPr>
          <p:cNvPr id="5" name="Picture 4">
            <a:extLst>
              <a:ext uri="{FF2B5EF4-FFF2-40B4-BE49-F238E27FC236}">
                <a16:creationId xmlns:a16="http://schemas.microsoft.com/office/drawing/2014/main" id="{883B284A-A6A3-9BB0-29D7-4A5A3CBEB765}"/>
              </a:ext>
            </a:extLst>
          </p:cNvPr>
          <p:cNvPicPr>
            <a:picLocks noChangeAspect="1"/>
          </p:cNvPicPr>
          <p:nvPr/>
        </p:nvPicPr>
        <p:blipFill>
          <a:blip r:embed="rId3"/>
          <a:srcRect t="2887"/>
          <a:stretch>
            <a:fillRect/>
          </a:stretch>
        </p:blipFill>
        <p:spPr>
          <a:xfrm>
            <a:off x="20" y="10"/>
            <a:ext cx="9143980" cy="3418812"/>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12" name="sketch line">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745979" y="4101155"/>
            <a:ext cx="1028700" cy="13716"/>
          </a:xfrm>
          <a:custGeom>
            <a:avLst/>
            <a:gdLst>
              <a:gd name="connsiteX0" fmla="*/ 0 w 1028700"/>
              <a:gd name="connsiteY0" fmla="*/ 0 h 13716"/>
              <a:gd name="connsiteX1" fmla="*/ 514350 w 1028700"/>
              <a:gd name="connsiteY1" fmla="*/ 0 h 13716"/>
              <a:gd name="connsiteX2" fmla="*/ 1028700 w 1028700"/>
              <a:gd name="connsiteY2" fmla="*/ 0 h 13716"/>
              <a:gd name="connsiteX3" fmla="*/ 1028700 w 1028700"/>
              <a:gd name="connsiteY3" fmla="*/ 13716 h 13716"/>
              <a:gd name="connsiteX4" fmla="*/ 534924 w 1028700"/>
              <a:gd name="connsiteY4" fmla="*/ 13716 h 13716"/>
              <a:gd name="connsiteX5" fmla="*/ 0 w 1028700"/>
              <a:gd name="connsiteY5" fmla="*/ 13716 h 13716"/>
              <a:gd name="connsiteX6" fmla="*/ 0 w 1028700"/>
              <a:gd name="connsiteY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8700" h="13716" fill="none" extrusionOk="0">
                <a:moveTo>
                  <a:pt x="0" y="0"/>
                </a:moveTo>
                <a:cubicBezTo>
                  <a:pt x="159103" y="5908"/>
                  <a:pt x="283127" y="-17057"/>
                  <a:pt x="514350" y="0"/>
                </a:cubicBezTo>
                <a:cubicBezTo>
                  <a:pt x="745573" y="17057"/>
                  <a:pt x="878414" y="-1877"/>
                  <a:pt x="1028700" y="0"/>
                </a:cubicBezTo>
                <a:cubicBezTo>
                  <a:pt x="1028227" y="2892"/>
                  <a:pt x="1028329" y="8681"/>
                  <a:pt x="1028700" y="13716"/>
                </a:cubicBezTo>
                <a:cubicBezTo>
                  <a:pt x="804463" y="30121"/>
                  <a:pt x="680607" y="36599"/>
                  <a:pt x="534924" y="13716"/>
                </a:cubicBezTo>
                <a:cubicBezTo>
                  <a:pt x="389241" y="-9167"/>
                  <a:pt x="254033" y="29733"/>
                  <a:pt x="0" y="13716"/>
                </a:cubicBezTo>
                <a:cubicBezTo>
                  <a:pt x="227" y="7219"/>
                  <a:pt x="197" y="5990"/>
                  <a:pt x="0" y="0"/>
                </a:cubicBezTo>
                <a:close/>
              </a:path>
              <a:path w="1028700" h="13716" stroke="0" extrusionOk="0">
                <a:moveTo>
                  <a:pt x="0" y="0"/>
                </a:moveTo>
                <a:cubicBezTo>
                  <a:pt x="132498" y="-16041"/>
                  <a:pt x="372442" y="-9836"/>
                  <a:pt x="483489" y="0"/>
                </a:cubicBezTo>
                <a:cubicBezTo>
                  <a:pt x="594536" y="9836"/>
                  <a:pt x="776411" y="-18582"/>
                  <a:pt x="1028700" y="0"/>
                </a:cubicBezTo>
                <a:cubicBezTo>
                  <a:pt x="1029328" y="6235"/>
                  <a:pt x="1028359" y="10206"/>
                  <a:pt x="1028700" y="13716"/>
                </a:cubicBezTo>
                <a:cubicBezTo>
                  <a:pt x="920512" y="35167"/>
                  <a:pt x="645731" y="-2813"/>
                  <a:pt x="534924" y="13716"/>
                </a:cubicBezTo>
                <a:cubicBezTo>
                  <a:pt x="424117" y="30245"/>
                  <a:pt x="143083" y="-7763"/>
                  <a:pt x="0" y="13716"/>
                </a:cubicBezTo>
                <a:cubicBezTo>
                  <a:pt x="596" y="8712"/>
                  <a:pt x="320" y="3422"/>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61569767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8E198DB6-5684-50FC-71AE-E5869C293BC9}"/>
              </a:ext>
            </a:extLst>
          </p:cNvPr>
          <p:cNvSpPr>
            <a:spLocks noGrp="1"/>
          </p:cNvSpPr>
          <p:nvPr>
            <p:ph type="body" idx="1"/>
          </p:nvPr>
        </p:nvSpPr>
        <p:spPr>
          <a:xfrm>
            <a:off x="3490720" y="3583304"/>
            <a:ext cx="5173220" cy="1049417"/>
          </a:xfrm>
        </p:spPr>
        <p:txBody>
          <a:bodyPr vert="horz" lIns="91440" tIns="45720" rIns="91440" bIns="45720" rtlCol="0" anchor="ctr">
            <a:normAutofit/>
          </a:bodyPr>
          <a:lstStyle/>
          <a:p>
            <a:pPr indent="-228600" defTabSz="914400"/>
            <a:r>
              <a:rPr lang="en-US" sz="800" b="1" dirty="0"/>
              <a:t>Conversion rate: </a:t>
            </a:r>
            <a:r>
              <a:rPr lang="en-US" sz="800" dirty="0"/>
              <a:t>sign ups and saves</a:t>
            </a:r>
          </a:p>
          <a:p>
            <a:pPr indent="-228600" defTabSz="914400"/>
            <a:r>
              <a:rPr lang="en-US" sz="800" b="1" dirty="0"/>
              <a:t>Engagement: </a:t>
            </a:r>
            <a:r>
              <a:rPr lang="en-US" sz="800" dirty="0"/>
              <a:t>CTR and average session time</a:t>
            </a:r>
          </a:p>
          <a:p>
            <a:pPr indent="-228600" defTabSz="914400"/>
            <a:r>
              <a:rPr lang="en-US" sz="800" b="1" dirty="0"/>
              <a:t>Bounce and return rate</a:t>
            </a:r>
          </a:p>
          <a:p>
            <a:pPr indent="-228600" defTabSz="914400"/>
            <a:r>
              <a:rPr lang="en-US" sz="800" b="1" dirty="0"/>
              <a:t>Share rate and referral traffic</a:t>
            </a:r>
          </a:p>
          <a:p>
            <a:pPr indent="-228600" defTabSz="914400"/>
            <a:r>
              <a:rPr lang="en-US" sz="800" b="1" dirty="0"/>
              <a:t>Mobile performance and search ranking</a:t>
            </a:r>
          </a:p>
        </p:txBody>
      </p:sp>
    </p:spTree>
    <p:extLst>
      <p:ext uri="{BB962C8B-B14F-4D97-AF65-F5344CB8AC3E}">
        <p14:creationId xmlns:p14="http://schemas.microsoft.com/office/powerpoint/2010/main" val="1179551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DE24A-1E9E-480F-9455-D8A951F9DD82}"/>
              </a:ext>
            </a:extLst>
          </p:cNvPr>
          <p:cNvSpPr>
            <a:spLocks noGrp="1"/>
          </p:cNvSpPr>
          <p:nvPr>
            <p:ph type="title"/>
          </p:nvPr>
        </p:nvSpPr>
        <p:spPr>
          <a:xfrm>
            <a:off x="6115050" y="846070"/>
            <a:ext cx="2575635" cy="1061453"/>
          </a:xfrm>
        </p:spPr>
        <p:txBody>
          <a:bodyPr vert="horz" lIns="91440" tIns="45720" rIns="91440" bIns="45720" rtlCol="0" anchor="t">
            <a:normAutofit fontScale="90000"/>
          </a:bodyPr>
          <a:lstStyle/>
          <a:p>
            <a:pPr algn="ctr" defTabSz="914400"/>
            <a:r>
              <a:rPr lang="en-US" sz="2400" dirty="0">
                <a:latin typeface="Viper Squadron" panose="00000400000000000000" pitchFamily="2" charset="0"/>
              </a:rPr>
              <a:t>How Visualization Guides Decisions</a:t>
            </a:r>
          </a:p>
        </p:txBody>
      </p:sp>
      <p:pic>
        <p:nvPicPr>
          <p:cNvPr id="3074" name="Picture 2" descr="Decision making process: What happens to the brain when we make decisions?  | by Caugant Alan | Medium">
            <a:extLst>
              <a:ext uri="{FF2B5EF4-FFF2-40B4-BE49-F238E27FC236}">
                <a16:creationId xmlns:a16="http://schemas.microsoft.com/office/drawing/2014/main" id="{5CF65347-114F-4DB9-DFB7-7D9992CD35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5683" r="12269" b="1"/>
          <a:stretch>
            <a:fillRect/>
          </a:stretch>
        </p:blipFill>
        <p:spPr bwMode="auto">
          <a:xfrm>
            <a:off x="-7414" y="10"/>
            <a:ext cx="5679453" cy="5143490"/>
          </a:xfrm>
          <a:prstGeom prst="rect">
            <a:avLst/>
          </a:prstGeom>
          <a:noFill/>
          <a:extLst>
            <a:ext uri="{909E8E84-426E-40DD-AFC4-6F175D3DCCD1}">
              <a14:hiddenFill xmlns:a14="http://schemas.microsoft.com/office/drawing/2010/main">
                <a:solidFill>
                  <a:srgbClr val="FFFFFF"/>
                </a:solidFill>
              </a14:hiddenFill>
            </a:ext>
          </a:extLst>
        </p:spPr>
      </p:pic>
      <p:cxnSp>
        <p:nvCxnSpPr>
          <p:cNvPr id="3079" name="Straight Connector 3078">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49542" y="653359"/>
            <a:ext cx="552704"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CA42793D-4EFB-B23B-0588-45ACF7F09B7C}"/>
              </a:ext>
            </a:extLst>
          </p:cNvPr>
          <p:cNvSpPr>
            <a:spLocks noGrp="1"/>
          </p:cNvSpPr>
          <p:nvPr>
            <p:ph type="body" idx="1"/>
          </p:nvPr>
        </p:nvSpPr>
        <p:spPr>
          <a:xfrm>
            <a:off x="6115050" y="2244748"/>
            <a:ext cx="2691724" cy="2699264"/>
          </a:xfrm>
        </p:spPr>
        <p:txBody>
          <a:bodyPr vert="horz" lIns="91440" tIns="45720" rIns="91440" bIns="45720" rtlCol="0">
            <a:normAutofit/>
          </a:bodyPr>
          <a:lstStyle/>
          <a:p>
            <a:pPr indent="-228600" defTabSz="914400"/>
            <a:r>
              <a:rPr lang="en-US" sz="1500" dirty="0"/>
              <a:t>Dashboards show change over time</a:t>
            </a:r>
          </a:p>
          <a:p>
            <a:pPr indent="-228600" defTabSz="914400"/>
            <a:r>
              <a:rPr lang="en-US" sz="1500" dirty="0"/>
              <a:t>Heat maps show where interest clusters</a:t>
            </a:r>
          </a:p>
          <a:p>
            <a:pPr indent="-228600" defTabSz="914400"/>
            <a:r>
              <a:rPr lang="en-US" sz="1500" dirty="0"/>
              <a:t>Segment charts explain who engages</a:t>
            </a:r>
          </a:p>
          <a:p>
            <a:pPr indent="-228600" defTabSz="914400"/>
            <a:r>
              <a:rPr lang="en-US" sz="1500" dirty="0"/>
              <a:t>Sentiment views show how people feel</a:t>
            </a:r>
          </a:p>
        </p:txBody>
      </p:sp>
    </p:spTree>
    <p:extLst>
      <p:ext uri="{BB962C8B-B14F-4D97-AF65-F5344CB8AC3E}">
        <p14:creationId xmlns:p14="http://schemas.microsoft.com/office/powerpoint/2010/main" val="782035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5" name="Rectangle 4104">
            <a:extLst>
              <a:ext uri="{FF2B5EF4-FFF2-40B4-BE49-F238E27FC236}">
                <a16:creationId xmlns:a16="http://schemas.microsoft.com/office/drawing/2014/main" id="{99F1FFA9-D672-408C-9220-ADEEC6ABD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9C8BC8-4FEB-C040-A014-50DA75212584}"/>
              </a:ext>
            </a:extLst>
          </p:cNvPr>
          <p:cNvSpPr>
            <a:spLocks noGrp="1"/>
          </p:cNvSpPr>
          <p:nvPr>
            <p:ph type="title"/>
          </p:nvPr>
        </p:nvSpPr>
        <p:spPr>
          <a:xfrm>
            <a:off x="628650" y="273843"/>
            <a:ext cx="2862072" cy="1453557"/>
          </a:xfrm>
        </p:spPr>
        <p:txBody>
          <a:bodyPr vert="horz" lIns="91440" tIns="45720" rIns="91440" bIns="45720" rtlCol="0" anchor="ctr">
            <a:normAutofit/>
          </a:bodyPr>
          <a:lstStyle/>
          <a:p>
            <a:pPr defTabSz="914400"/>
            <a:r>
              <a:rPr lang="en-US" sz="3100" kern="1200" dirty="0">
                <a:solidFill>
                  <a:schemeClr val="tx1"/>
                </a:solidFill>
                <a:latin typeface="Viper Squadron" panose="00000400000000000000" pitchFamily="2" charset="0"/>
              </a:rPr>
              <a:t>What Successful Firms Do</a:t>
            </a:r>
          </a:p>
        </p:txBody>
      </p:sp>
      <p:sp>
        <p:nvSpPr>
          <p:cNvPr id="3" name="Text Placeholder 2">
            <a:extLst>
              <a:ext uri="{FF2B5EF4-FFF2-40B4-BE49-F238E27FC236}">
                <a16:creationId xmlns:a16="http://schemas.microsoft.com/office/drawing/2014/main" id="{2F3AB84A-3AF6-0B03-2FB9-9BC224C76ED6}"/>
              </a:ext>
            </a:extLst>
          </p:cNvPr>
          <p:cNvSpPr>
            <a:spLocks noGrp="1"/>
          </p:cNvSpPr>
          <p:nvPr>
            <p:ph type="body" idx="1"/>
          </p:nvPr>
        </p:nvSpPr>
        <p:spPr>
          <a:xfrm>
            <a:off x="628650" y="2137606"/>
            <a:ext cx="2862072" cy="2770780"/>
          </a:xfrm>
        </p:spPr>
        <p:txBody>
          <a:bodyPr vert="horz" lIns="91440" tIns="45720" rIns="91440" bIns="45720" rtlCol="0">
            <a:normAutofit/>
          </a:bodyPr>
          <a:lstStyle/>
          <a:p>
            <a:pPr indent="-228600" defTabSz="914400"/>
            <a:r>
              <a:rPr lang="en-US" sz="1500" dirty="0"/>
              <a:t>Interactive dashboards for weekly reviews</a:t>
            </a:r>
          </a:p>
          <a:p>
            <a:pPr indent="-228600" defTabSz="914400"/>
            <a:r>
              <a:rPr lang="en-US" sz="1500" dirty="0"/>
              <a:t>Automated reports to owners</a:t>
            </a:r>
          </a:p>
          <a:p>
            <a:pPr indent="-228600" defTabSz="914400"/>
            <a:r>
              <a:rPr lang="en-US" sz="1500" dirty="0"/>
              <a:t>AB tests on wording and button place</a:t>
            </a:r>
          </a:p>
          <a:p>
            <a:pPr indent="-228600" defTabSz="914400"/>
            <a:r>
              <a:rPr lang="en-US" sz="1500" dirty="0"/>
              <a:t>Influencer impact tracking</a:t>
            </a:r>
          </a:p>
        </p:txBody>
      </p:sp>
      <p:pic>
        <p:nvPicPr>
          <p:cNvPr id="4098" name="Picture 2" descr="360 Deals and Artist Success: Why Music Artists &amp; Representatives Should  Approach 360 Deals Holistically – The Visionary Vault: Where Law Meets  Creative Entrepreneurship">
            <a:extLst>
              <a:ext uri="{FF2B5EF4-FFF2-40B4-BE49-F238E27FC236}">
                <a16:creationId xmlns:a16="http://schemas.microsoft.com/office/drawing/2014/main" id="{162529F0-A648-8CCB-77F8-271EE2572A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228" r="-2" b="5504"/>
          <a:stretch>
            <a:fillRect/>
          </a:stretch>
        </p:blipFill>
        <p:spPr bwMode="auto">
          <a:xfrm>
            <a:off x="3678237" y="-107445"/>
            <a:ext cx="5465763" cy="2878221"/>
          </a:xfrm>
          <a:custGeom>
            <a:avLst/>
            <a:gdLst/>
            <a:ahLst/>
            <a:cxnLst/>
            <a:rect l="l" t="t" r="r" b="b"/>
            <a:pathLst>
              <a:path w="7287684" h="3694372">
                <a:moveTo>
                  <a:pt x="1047969" y="0"/>
                </a:moveTo>
                <a:lnTo>
                  <a:pt x="7287684" y="0"/>
                </a:lnTo>
                <a:lnTo>
                  <a:pt x="7287684" y="814388"/>
                </a:lnTo>
                <a:lnTo>
                  <a:pt x="7287684" y="3694372"/>
                </a:lnTo>
                <a:lnTo>
                  <a:pt x="471411" y="3694372"/>
                </a:lnTo>
                <a:lnTo>
                  <a:pt x="470992" y="3686621"/>
                </a:lnTo>
                <a:cubicBezTo>
                  <a:pt x="458999" y="3642419"/>
                  <a:pt x="427907" y="3602236"/>
                  <a:pt x="376383" y="3554015"/>
                </a:cubicBezTo>
                <a:cubicBezTo>
                  <a:pt x="315976" y="3500438"/>
                  <a:pt x="255568" y="3454003"/>
                  <a:pt x="170288" y="3407569"/>
                </a:cubicBezTo>
                <a:cubicBezTo>
                  <a:pt x="365723" y="3382565"/>
                  <a:pt x="163181" y="3296841"/>
                  <a:pt x="230695" y="3243263"/>
                </a:cubicBezTo>
                <a:cubicBezTo>
                  <a:pt x="369276" y="3221831"/>
                  <a:pt x="479431" y="3393282"/>
                  <a:pt x="667759" y="3343275"/>
                </a:cubicBezTo>
                <a:cubicBezTo>
                  <a:pt x="440344" y="3196828"/>
                  <a:pt x="184501" y="3150393"/>
                  <a:pt x="17493" y="2953940"/>
                </a:cubicBezTo>
                <a:cubicBezTo>
                  <a:pt x="56580" y="2911078"/>
                  <a:pt x="95667" y="2953940"/>
                  <a:pt x="127647" y="2936081"/>
                </a:cubicBezTo>
                <a:cubicBezTo>
                  <a:pt x="127647" y="2925365"/>
                  <a:pt x="500751" y="2993232"/>
                  <a:pt x="522071" y="2714625"/>
                </a:cubicBezTo>
                <a:cubicBezTo>
                  <a:pt x="529178" y="2714625"/>
                  <a:pt x="536285" y="2714625"/>
                  <a:pt x="543391" y="2703909"/>
                </a:cubicBezTo>
                <a:cubicBezTo>
                  <a:pt x="582478" y="2664619"/>
                  <a:pt x="546945" y="2571750"/>
                  <a:pt x="610905" y="2564606"/>
                </a:cubicBezTo>
                <a:cubicBezTo>
                  <a:pt x="681973" y="2557462"/>
                  <a:pt x="749487" y="2525315"/>
                  <a:pt x="824107" y="2543175"/>
                </a:cubicBezTo>
                <a:cubicBezTo>
                  <a:pt x="880961" y="2557462"/>
                  <a:pt x="941368" y="2575322"/>
                  <a:pt x="1001776" y="2575322"/>
                </a:cubicBezTo>
                <a:cubicBezTo>
                  <a:pt x="1065736" y="2575322"/>
                  <a:pt x="1154570" y="2696766"/>
                  <a:pt x="1193658" y="2536031"/>
                </a:cubicBezTo>
                <a:cubicBezTo>
                  <a:pt x="1193658" y="2528888"/>
                  <a:pt x="1303812" y="2546747"/>
                  <a:pt x="1364219" y="2553891"/>
                </a:cubicBezTo>
                <a:cubicBezTo>
                  <a:pt x="1413966" y="2561035"/>
                  <a:pt x="1474374" y="2593181"/>
                  <a:pt x="1509907" y="2528888"/>
                </a:cubicBezTo>
                <a:cubicBezTo>
                  <a:pt x="1527674" y="2489596"/>
                  <a:pt x="1442393" y="2418159"/>
                  <a:pt x="1367772" y="2411015"/>
                </a:cubicBezTo>
                <a:cubicBezTo>
                  <a:pt x="1300259" y="2403872"/>
                  <a:pt x="1232745" y="2396728"/>
                  <a:pt x="1168784" y="2411015"/>
                </a:cubicBezTo>
                <a:cubicBezTo>
                  <a:pt x="1090610" y="2428875"/>
                  <a:pt x="1047969" y="2400300"/>
                  <a:pt x="1026649" y="2336007"/>
                </a:cubicBezTo>
                <a:cubicBezTo>
                  <a:pt x="1001776" y="2268141"/>
                  <a:pt x="955582" y="2232422"/>
                  <a:pt x="891621" y="2200275"/>
                </a:cubicBezTo>
                <a:cubicBezTo>
                  <a:pt x="735273" y="2121694"/>
                  <a:pt x="586032" y="2028825"/>
                  <a:pt x="415470" y="1982390"/>
                </a:cubicBezTo>
                <a:cubicBezTo>
                  <a:pt x="383490" y="1975246"/>
                  <a:pt x="344403" y="1960959"/>
                  <a:pt x="330189" y="1900238"/>
                </a:cubicBezTo>
                <a:cubicBezTo>
                  <a:pt x="792127" y="1993106"/>
                  <a:pt x="1211424" y="2232422"/>
                  <a:pt x="1687576" y="2218135"/>
                </a:cubicBezTo>
                <a:cubicBezTo>
                  <a:pt x="1559654" y="2143125"/>
                  <a:pt x="1406860" y="2139554"/>
                  <a:pt x="1268278" y="2085975"/>
                </a:cubicBezTo>
                <a:cubicBezTo>
                  <a:pt x="1367772" y="2046685"/>
                  <a:pt x="1460160" y="2089547"/>
                  <a:pt x="1552548" y="2110978"/>
                </a:cubicBezTo>
                <a:cubicBezTo>
                  <a:pt x="1630722" y="2128837"/>
                  <a:pt x="1701789" y="2132410"/>
                  <a:pt x="1708896" y="2021681"/>
                </a:cubicBezTo>
                <a:cubicBezTo>
                  <a:pt x="1708896" y="2010965"/>
                  <a:pt x="1708896" y="2003821"/>
                  <a:pt x="1708896" y="1993106"/>
                </a:cubicBezTo>
                <a:cubicBezTo>
                  <a:pt x="1680469" y="1946672"/>
                  <a:pt x="1641382" y="1925240"/>
                  <a:pt x="1591635" y="1910953"/>
                </a:cubicBezTo>
                <a:cubicBezTo>
                  <a:pt x="1563208" y="1903809"/>
                  <a:pt x="1524121" y="1889522"/>
                  <a:pt x="1524121" y="1857375"/>
                </a:cubicBezTo>
                <a:cubicBezTo>
                  <a:pt x="1527674" y="1735931"/>
                  <a:pt x="1431733" y="1700212"/>
                  <a:pt x="1339346" y="1664493"/>
                </a:cubicBezTo>
                <a:cubicBezTo>
                  <a:pt x="1389093" y="1603772"/>
                  <a:pt x="1431733" y="1646635"/>
                  <a:pt x="1470820" y="1643062"/>
                </a:cubicBezTo>
                <a:cubicBezTo>
                  <a:pt x="1495694" y="1639491"/>
                  <a:pt x="1520567" y="1635919"/>
                  <a:pt x="1520567" y="1603772"/>
                </a:cubicBezTo>
                <a:cubicBezTo>
                  <a:pt x="1520567" y="1578769"/>
                  <a:pt x="1509907" y="1546622"/>
                  <a:pt x="1485034" y="1546622"/>
                </a:cubicBezTo>
                <a:cubicBezTo>
                  <a:pt x="1328686" y="1543050"/>
                  <a:pt x="1239851" y="1371600"/>
                  <a:pt x="1076396" y="1371600"/>
                </a:cubicBezTo>
                <a:cubicBezTo>
                  <a:pt x="976902" y="1371600"/>
                  <a:pt x="1126144" y="1275159"/>
                  <a:pt x="1044416" y="1235869"/>
                </a:cubicBezTo>
                <a:cubicBezTo>
                  <a:pt x="1026649" y="1225153"/>
                  <a:pt x="1094163" y="1210866"/>
                  <a:pt x="1122590" y="1214437"/>
                </a:cubicBezTo>
                <a:cubicBezTo>
                  <a:pt x="1151017" y="1218009"/>
                  <a:pt x="1175891" y="1243013"/>
                  <a:pt x="1211424" y="1225153"/>
                </a:cubicBezTo>
                <a:cubicBezTo>
                  <a:pt x="1229191" y="1160860"/>
                  <a:pt x="1182997" y="1135856"/>
                  <a:pt x="1140357" y="1117997"/>
                </a:cubicBezTo>
                <a:cubicBezTo>
                  <a:pt x="1047969" y="1075135"/>
                  <a:pt x="955582" y="1025129"/>
                  <a:pt x="852534" y="1010841"/>
                </a:cubicBezTo>
                <a:cubicBezTo>
                  <a:pt x="817001" y="1007269"/>
                  <a:pt x="795680" y="989409"/>
                  <a:pt x="799234" y="953690"/>
                </a:cubicBezTo>
                <a:cubicBezTo>
                  <a:pt x="806340" y="907256"/>
                  <a:pt x="841874" y="921544"/>
                  <a:pt x="870301" y="925115"/>
                </a:cubicBezTo>
                <a:cubicBezTo>
                  <a:pt x="888068" y="928688"/>
                  <a:pt x="905835" y="939403"/>
                  <a:pt x="923602" y="914400"/>
                </a:cubicBezTo>
                <a:cubicBezTo>
                  <a:pt x="611794" y="724198"/>
                  <a:pt x="409919" y="684684"/>
                  <a:pt x="132090" y="589415"/>
                </a:cubicBezTo>
                <a:lnTo>
                  <a:pt x="31922" y="552917"/>
                </a:lnTo>
                <a:lnTo>
                  <a:pt x="26859" y="541335"/>
                </a:lnTo>
                <a:cubicBezTo>
                  <a:pt x="20137" y="534929"/>
                  <a:pt x="8953" y="532232"/>
                  <a:pt x="0" y="527681"/>
                </a:cubicBezTo>
                <a:cubicBezTo>
                  <a:pt x="5969" y="516305"/>
                  <a:pt x="7617" y="502963"/>
                  <a:pt x="17905" y="493550"/>
                </a:cubicBezTo>
                <a:cubicBezTo>
                  <a:pt x="23947" y="488022"/>
                  <a:pt x="35344" y="487159"/>
                  <a:pt x="44763" y="486724"/>
                </a:cubicBezTo>
                <a:lnTo>
                  <a:pt x="165722" y="483650"/>
                </a:lnTo>
                <a:lnTo>
                  <a:pt x="193385" y="498723"/>
                </a:lnTo>
                <a:cubicBezTo>
                  <a:pt x="210263" y="511671"/>
                  <a:pt x="227142" y="525066"/>
                  <a:pt x="315976" y="535781"/>
                </a:cubicBezTo>
                <a:cubicBezTo>
                  <a:pt x="401257" y="546497"/>
                  <a:pt x="479431" y="582216"/>
                  <a:pt x="575372" y="525066"/>
                </a:cubicBezTo>
                <a:cubicBezTo>
                  <a:pt x="639332" y="485775"/>
                  <a:pt x="742380" y="528637"/>
                  <a:pt x="820554" y="560785"/>
                </a:cubicBezTo>
                <a:cubicBezTo>
                  <a:pt x="884515" y="589360"/>
                  <a:pt x="948475" y="596503"/>
                  <a:pt x="1033756" y="560785"/>
                </a:cubicBezTo>
                <a:cubicBezTo>
                  <a:pt x="955582" y="539354"/>
                  <a:pt x="895175" y="521494"/>
                  <a:pt x="834767" y="507206"/>
                </a:cubicBezTo>
                <a:cubicBezTo>
                  <a:pt x="785020" y="496491"/>
                  <a:pt x="756593" y="471488"/>
                  <a:pt x="760147" y="417909"/>
                </a:cubicBezTo>
                <a:cubicBezTo>
                  <a:pt x="760147" y="389334"/>
                  <a:pt x="749487" y="350044"/>
                  <a:pt x="785020" y="335757"/>
                </a:cubicBezTo>
                <a:cubicBezTo>
                  <a:pt x="813447" y="321469"/>
                  <a:pt x="852534" y="335757"/>
                  <a:pt x="866748" y="360759"/>
                </a:cubicBezTo>
                <a:cubicBezTo>
                  <a:pt x="884515" y="407194"/>
                  <a:pt x="902281" y="450056"/>
                  <a:pt x="962689" y="453629"/>
                </a:cubicBezTo>
                <a:cubicBezTo>
                  <a:pt x="1044416" y="460771"/>
                  <a:pt x="998222" y="432197"/>
                  <a:pt x="984009" y="396478"/>
                </a:cubicBezTo>
                <a:cubicBezTo>
                  <a:pt x="969795" y="357188"/>
                  <a:pt x="1012436" y="346472"/>
                  <a:pt x="1040863" y="353615"/>
                </a:cubicBezTo>
                <a:cubicBezTo>
                  <a:pt x="1147464" y="385763"/>
                  <a:pt x="1257618" y="328613"/>
                  <a:pt x="1367772" y="375047"/>
                </a:cubicBezTo>
                <a:cubicBezTo>
                  <a:pt x="1339346" y="260747"/>
                  <a:pt x="1278938" y="210741"/>
                  <a:pt x="1151017" y="192881"/>
                </a:cubicBezTo>
                <a:cubicBezTo>
                  <a:pt x="1104823" y="189310"/>
                  <a:pt x="1055076" y="196453"/>
                  <a:pt x="1012436" y="164306"/>
                </a:cubicBezTo>
                <a:cubicBezTo>
                  <a:pt x="987562" y="146447"/>
                  <a:pt x="962689" y="125016"/>
                  <a:pt x="980456" y="89297"/>
                </a:cubicBezTo>
                <a:cubicBezTo>
                  <a:pt x="991116" y="64294"/>
                  <a:pt x="1019542" y="64294"/>
                  <a:pt x="1044416" y="71437"/>
                </a:cubicBezTo>
                <a:cubicBezTo>
                  <a:pt x="1147464" y="110728"/>
                  <a:pt x="1257618" y="121444"/>
                  <a:pt x="1364219" y="135731"/>
                </a:cubicBezTo>
                <a:cubicBezTo>
                  <a:pt x="1381986" y="139303"/>
                  <a:pt x="1399753" y="146447"/>
                  <a:pt x="1417520" y="110728"/>
                </a:cubicBezTo>
                <a:cubicBezTo>
                  <a:pt x="1293152" y="78581"/>
                  <a:pt x="1172337" y="35719"/>
                  <a:pt x="1047969" y="0"/>
                </a:cubicBezTo>
                <a:close/>
              </a:path>
            </a:pathLst>
          </a:custGeom>
          <a:noFill/>
          <a:extLst>
            <a:ext uri="{909E8E84-426E-40DD-AFC4-6F175D3DCCD1}">
              <a14:hiddenFill xmlns:a14="http://schemas.microsoft.com/office/drawing/2010/main">
                <a:solidFill>
                  <a:srgbClr val="FFFFFF"/>
                </a:solidFill>
              </a14:hiddenFill>
            </a:ext>
          </a:extLst>
        </p:spPr>
      </p:pic>
      <p:pic>
        <p:nvPicPr>
          <p:cNvPr id="4100" name="Picture 4" descr="Successful Business Owners: Their Habits &amp; More">
            <a:extLst>
              <a:ext uri="{FF2B5EF4-FFF2-40B4-BE49-F238E27FC236}">
                <a16:creationId xmlns:a16="http://schemas.microsoft.com/office/drawing/2014/main" id="{79599979-B012-77B7-54BF-49F1112654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2" b="38751"/>
          <a:stretch>
            <a:fillRect/>
          </a:stretch>
        </p:blipFill>
        <p:spPr bwMode="auto">
          <a:xfrm>
            <a:off x="3545046" y="2763372"/>
            <a:ext cx="5604285" cy="2380132"/>
          </a:xfrm>
          <a:custGeom>
            <a:avLst/>
            <a:gdLst/>
            <a:ahLst/>
            <a:cxnLst/>
            <a:rect l="l" t="t" r="r" b="b"/>
            <a:pathLst>
              <a:path w="7472381" h="3055043">
                <a:moveTo>
                  <a:pt x="638975" y="0"/>
                </a:moveTo>
                <a:lnTo>
                  <a:pt x="7472381" y="0"/>
                </a:lnTo>
                <a:lnTo>
                  <a:pt x="7472381" y="2579984"/>
                </a:lnTo>
                <a:lnTo>
                  <a:pt x="7472381" y="3055043"/>
                </a:lnTo>
                <a:lnTo>
                  <a:pt x="6992676"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8726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9" name="Rectangle 512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E48558-C66A-A6F7-0640-17B2AA2E0FD7}"/>
              </a:ext>
            </a:extLst>
          </p:cNvPr>
          <p:cNvSpPr>
            <a:spLocks noGrp="1"/>
          </p:cNvSpPr>
          <p:nvPr>
            <p:ph type="title"/>
          </p:nvPr>
        </p:nvSpPr>
        <p:spPr>
          <a:xfrm>
            <a:off x="480060" y="244026"/>
            <a:ext cx="3276451" cy="1467631"/>
          </a:xfrm>
        </p:spPr>
        <p:txBody>
          <a:bodyPr vert="horz" lIns="91440" tIns="45720" rIns="91440" bIns="45720" rtlCol="0" anchor="b">
            <a:normAutofit/>
          </a:bodyPr>
          <a:lstStyle/>
          <a:p>
            <a:pPr defTabSz="914400"/>
            <a:r>
              <a:rPr lang="en-US" sz="3200" dirty="0">
                <a:latin typeface="Viper Squadron" panose="00000400000000000000" pitchFamily="2" charset="0"/>
              </a:rPr>
              <a:t>Insights from Shared Song Titles</a:t>
            </a:r>
          </a:p>
        </p:txBody>
      </p:sp>
      <p:sp>
        <p:nvSpPr>
          <p:cNvPr id="513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1940245"/>
            <a:ext cx="2606040" cy="13716"/>
          </a:xfrm>
          <a:custGeom>
            <a:avLst/>
            <a:gdLst>
              <a:gd name="connsiteX0" fmla="*/ 0 w 2606040"/>
              <a:gd name="connsiteY0" fmla="*/ 0 h 13716"/>
              <a:gd name="connsiteX1" fmla="*/ 625450 w 2606040"/>
              <a:gd name="connsiteY1" fmla="*/ 0 h 13716"/>
              <a:gd name="connsiteX2" fmla="*/ 1224839 w 2606040"/>
              <a:gd name="connsiteY2" fmla="*/ 0 h 13716"/>
              <a:gd name="connsiteX3" fmla="*/ 1824228 w 2606040"/>
              <a:gd name="connsiteY3" fmla="*/ 0 h 13716"/>
              <a:gd name="connsiteX4" fmla="*/ 2606040 w 2606040"/>
              <a:gd name="connsiteY4" fmla="*/ 0 h 13716"/>
              <a:gd name="connsiteX5" fmla="*/ 2606040 w 2606040"/>
              <a:gd name="connsiteY5" fmla="*/ 13716 h 13716"/>
              <a:gd name="connsiteX6" fmla="*/ 1902409 w 2606040"/>
              <a:gd name="connsiteY6" fmla="*/ 13716 h 13716"/>
              <a:gd name="connsiteX7" fmla="*/ 1276960 w 2606040"/>
              <a:gd name="connsiteY7" fmla="*/ 13716 h 13716"/>
              <a:gd name="connsiteX8" fmla="*/ 677570 w 2606040"/>
              <a:gd name="connsiteY8" fmla="*/ 13716 h 13716"/>
              <a:gd name="connsiteX9" fmla="*/ 0 w 2606040"/>
              <a:gd name="connsiteY9" fmla="*/ 13716 h 13716"/>
              <a:gd name="connsiteX10" fmla="*/ 0 w 2606040"/>
              <a:gd name="connsiteY10"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6040" h="13716"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690" y="5728"/>
                  <a:pt x="2605650" y="7624"/>
                  <a:pt x="2606040" y="13716"/>
                </a:cubicBezTo>
                <a:cubicBezTo>
                  <a:pt x="2256758" y="26838"/>
                  <a:pt x="2173673" y="-17450"/>
                  <a:pt x="1902409" y="13716"/>
                </a:cubicBezTo>
                <a:cubicBezTo>
                  <a:pt x="1631145" y="44882"/>
                  <a:pt x="1461378" y="894"/>
                  <a:pt x="1276960" y="13716"/>
                </a:cubicBezTo>
                <a:cubicBezTo>
                  <a:pt x="1092542" y="26538"/>
                  <a:pt x="890442" y="8641"/>
                  <a:pt x="677570" y="13716"/>
                </a:cubicBezTo>
                <a:cubicBezTo>
                  <a:pt x="464698" y="18792"/>
                  <a:pt x="187648" y="31265"/>
                  <a:pt x="0" y="13716"/>
                </a:cubicBezTo>
                <a:cubicBezTo>
                  <a:pt x="-302" y="10335"/>
                  <a:pt x="417" y="4724"/>
                  <a:pt x="0" y="0"/>
                </a:cubicBezTo>
                <a:close/>
              </a:path>
              <a:path w="2606040" h="13716"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6569" y="5071"/>
                  <a:pt x="2606315" y="7437"/>
                  <a:pt x="2606040" y="13716"/>
                </a:cubicBezTo>
                <a:cubicBezTo>
                  <a:pt x="2393024" y="-2332"/>
                  <a:pt x="2191161" y="34687"/>
                  <a:pt x="1980590" y="13716"/>
                </a:cubicBezTo>
                <a:cubicBezTo>
                  <a:pt x="1770019" y="-7255"/>
                  <a:pt x="1476440" y="31542"/>
                  <a:pt x="1276960" y="13716"/>
                </a:cubicBezTo>
                <a:cubicBezTo>
                  <a:pt x="1077480" y="-4110"/>
                  <a:pt x="880988" y="37553"/>
                  <a:pt x="651510" y="13716"/>
                </a:cubicBezTo>
                <a:cubicBezTo>
                  <a:pt x="422032" y="-10121"/>
                  <a:pt x="130744" y="-6519"/>
                  <a:pt x="0" y="13716"/>
                </a:cubicBezTo>
                <a:cubicBezTo>
                  <a:pt x="198" y="8947"/>
                  <a:pt x="304" y="520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F304DA8B-0055-4BEF-447F-E59082BC2B4D}"/>
              </a:ext>
            </a:extLst>
          </p:cNvPr>
          <p:cNvSpPr>
            <a:spLocks noGrp="1"/>
          </p:cNvSpPr>
          <p:nvPr>
            <p:ph type="body" idx="1"/>
          </p:nvPr>
        </p:nvSpPr>
        <p:spPr>
          <a:xfrm>
            <a:off x="480060" y="2154674"/>
            <a:ext cx="3182691" cy="2490501"/>
          </a:xfrm>
        </p:spPr>
        <p:txBody>
          <a:bodyPr vert="horz" lIns="91440" tIns="45720" rIns="91440" bIns="45720" rtlCol="0">
            <a:normAutofit/>
          </a:bodyPr>
          <a:lstStyle/>
          <a:p>
            <a:pPr indent="-228600" defTabSz="914400"/>
            <a:r>
              <a:rPr lang="en-US" sz="1700" dirty="0"/>
              <a:t>Top songs and genres by city and campus</a:t>
            </a:r>
          </a:p>
          <a:p>
            <a:pPr indent="-228600" defTabSz="914400"/>
            <a:r>
              <a:rPr lang="en-US" sz="1700" dirty="0"/>
              <a:t>Time of day and day of week patterns</a:t>
            </a:r>
          </a:p>
          <a:p>
            <a:pPr indent="-228600" defTabSz="914400"/>
            <a:r>
              <a:rPr lang="en-US" sz="1700" dirty="0"/>
              <a:t>Creator effect on spread</a:t>
            </a:r>
          </a:p>
          <a:p>
            <a:pPr indent="-228600" defTabSz="914400"/>
            <a:r>
              <a:rPr lang="en-US" sz="1700" dirty="0"/>
              <a:t>Paths from view to save to share</a:t>
            </a:r>
          </a:p>
        </p:txBody>
      </p:sp>
      <p:pic>
        <p:nvPicPr>
          <p:cNvPr id="5124" name="Picture 4" descr="OC] The most common song titles in music : r/dataisbeautiful">
            <a:extLst>
              <a:ext uri="{FF2B5EF4-FFF2-40B4-BE49-F238E27FC236}">
                <a16:creationId xmlns:a16="http://schemas.microsoft.com/office/drawing/2014/main" id="{A6401FF9-0331-3E8E-70AA-CD408A2977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412" b="-11"/>
          <a:stretch>
            <a:fillRect/>
          </a:stretch>
        </p:blipFill>
        <p:spPr bwMode="auto">
          <a:xfrm>
            <a:off x="3983776" y="10"/>
            <a:ext cx="5159081" cy="51434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1956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3" name="Rectangle 6152">
            <a:extLst>
              <a:ext uri="{FF2B5EF4-FFF2-40B4-BE49-F238E27FC236}">
                <a16:creationId xmlns:a16="http://schemas.microsoft.com/office/drawing/2014/main" id="{CEF6118E-44FB-4509-B4D9-129052E4C6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FBE887-B404-9020-B4DE-54652AB03FCF}"/>
              </a:ext>
            </a:extLst>
          </p:cNvPr>
          <p:cNvSpPr>
            <a:spLocks noGrp="1"/>
          </p:cNvSpPr>
          <p:nvPr>
            <p:ph type="title"/>
          </p:nvPr>
        </p:nvSpPr>
        <p:spPr>
          <a:xfrm>
            <a:off x="276380" y="89096"/>
            <a:ext cx="3337155" cy="2104879"/>
          </a:xfrm>
        </p:spPr>
        <p:txBody>
          <a:bodyPr vert="horz" lIns="91440" tIns="45720" rIns="91440" bIns="45720" rtlCol="0" anchor="b">
            <a:normAutofit/>
          </a:bodyPr>
          <a:lstStyle/>
          <a:p>
            <a:pPr algn="ctr" defTabSz="914400"/>
            <a:r>
              <a:rPr lang="en-US" sz="3000" kern="1200" dirty="0">
                <a:solidFill>
                  <a:schemeClr val="tx1"/>
                </a:solidFill>
                <a:latin typeface="Viper Squadron" panose="00000400000000000000" pitchFamily="2" charset="0"/>
              </a:rPr>
              <a:t>Visualization Methods</a:t>
            </a:r>
          </a:p>
        </p:txBody>
      </p:sp>
      <p:pic>
        <p:nvPicPr>
          <p:cNvPr id="6148" name="Picture 4" descr="Music Map | Devpost">
            <a:extLst>
              <a:ext uri="{FF2B5EF4-FFF2-40B4-BE49-F238E27FC236}">
                <a16:creationId xmlns:a16="http://schemas.microsoft.com/office/drawing/2014/main" id="{9A40CB5B-30C0-D284-7724-E49C204963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9281" r="3" b="22211"/>
          <a:stretch>
            <a:fillRect/>
          </a:stretch>
        </p:blipFill>
        <p:spPr bwMode="auto">
          <a:xfrm>
            <a:off x="3889915" y="122734"/>
            <a:ext cx="5105027" cy="1967323"/>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27EC7993-5099-BD0B-14FE-B9756EF7688B}"/>
              </a:ext>
            </a:extLst>
          </p:cNvPr>
          <p:cNvSpPr>
            <a:spLocks noGrp="1"/>
          </p:cNvSpPr>
          <p:nvPr>
            <p:ph type="body" idx="1"/>
          </p:nvPr>
        </p:nvSpPr>
        <p:spPr>
          <a:xfrm>
            <a:off x="513672" y="2443687"/>
            <a:ext cx="2989616" cy="1941343"/>
          </a:xfrm>
        </p:spPr>
        <p:txBody>
          <a:bodyPr vert="horz" lIns="91440" tIns="45720" rIns="91440" bIns="45720" rtlCol="0">
            <a:normAutofit/>
          </a:bodyPr>
          <a:lstStyle/>
          <a:p>
            <a:pPr indent="-228600" defTabSz="914400"/>
            <a:r>
              <a:rPr lang="en-US" sz="1500" dirty="0"/>
              <a:t>Charts and graphs for trends</a:t>
            </a:r>
          </a:p>
          <a:p>
            <a:pPr indent="-228600" defTabSz="914400"/>
            <a:r>
              <a:rPr lang="en-US" sz="1500" dirty="0"/>
              <a:t>Heat maps for geography</a:t>
            </a:r>
          </a:p>
          <a:p>
            <a:pPr indent="-228600" defTabSz="914400"/>
            <a:r>
              <a:rPr lang="en-US" sz="1500" dirty="0"/>
              <a:t>Word clouds for top mentions</a:t>
            </a:r>
          </a:p>
          <a:p>
            <a:pPr indent="-228600" defTabSz="914400"/>
            <a:r>
              <a:rPr lang="en-US" sz="1500" dirty="0"/>
              <a:t>Dashboards for real time review</a:t>
            </a:r>
          </a:p>
        </p:txBody>
      </p:sp>
      <p:pic>
        <p:nvPicPr>
          <p:cNvPr id="6146" name="Picture 2" descr="audio analytics dashboard example">
            <a:extLst>
              <a:ext uri="{FF2B5EF4-FFF2-40B4-BE49-F238E27FC236}">
                <a16:creationId xmlns:a16="http://schemas.microsoft.com/office/drawing/2014/main" id="{009CEBD6-6583-08CE-E4FF-F1674232EF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0670" b="1"/>
          <a:stretch>
            <a:fillRect/>
          </a:stretch>
        </p:blipFill>
        <p:spPr bwMode="auto">
          <a:xfrm>
            <a:off x="3889915" y="2217656"/>
            <a:ext cx="5105027" cy="2514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1080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9" name="Rectangle 7178">
            <a:extLst>
              <a:ext uri="{FF2B5EF4-FFF2-40B4-BE49-F238E27FC236}">
                <a16:creationId xmlns:a16="http://schemas.microsoft.com/office/drawing/2014/main" id="{2ABE1108-6423-4E53-85A1-817683043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9AE223-3837-27E2-3D09-A12F2C8943BC}"/>
              </a:ext>
            </a:extLst>
          </p:cNvPr>
          <p:cNvSpPr>
            <a:spLocks noGrp="1"/>
          </p:cNvSpPr>
          <p:nvPr>
            <p:ph type="title"/>
          </p:nvPr>
        </p:nvSpPr>
        <p:spPr>
          <a:xfrm>
            <a:off x="3625024" y="407302"/>
            <a:ext cx="5153216" cy="1256720"/>
          </a:xfrm>
        </p:spPr>
        <p:txBody>
          <a:bodyPr vert="horz" lIns="91440" tIns="45720" rIns="91440" bIns="45720" rtlCol="0" anchor="ctr">
            <a:normAutofit/>
          </a:bodyPr>
          <a:lstStyle/>
          <a:p>
            <a:pPr defTabSz="914400"/>
            <a:r>
              <a:rPr lang="en-US" sz="3000" kern="1200" dirty="0">
                <a:solidFill>
                  <a:schemeClr val="tx1"/>
                </a:solidFill>
                <a:latin typeface="Viper Squadron" panose="00000400000000000000" pitchFamily="2" charset="0"/>
              </a:rPr>
              <a:t>Preferences by Group</a:t>
            </a:r>
          </a:p>
        </p:txBody>
      </p:sp>
      <p:pic>
        <p:nvPicPr>
          <p:cNvPr id="7170" name="Picture 2" descr="Understanding US Regions through Cluster Analysis | by Benjamin Peck | Geek  Culture | Medium">
            <a:extLst>
              <a:ext uri="{FF2B5EF4-FFF2-40B4-BE49-F238E27FC236}">
                <a16:creationId xmlns:a16="http://schemas.microsoft.com/office/drawing/2014/main" id="{9C97CF92-2308-D922-8BB2-A083644EFA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122" r="3" b="15429"/>
          <a:stretch>
            <a:fillRect/>
          </a:stretch>
        </p:blipFill>
        <p:spPr bwMode="auto">
          <a:xfrm>
            <a:off x="20" y="10"/>
            <a:ext cx="3140313" cy="1623231"/>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Competitors'-volume-of-mentions-overtime">
            <a:extLst>
              <a:ext uri="{FF2B5EF4-FFF2-40B4-BE49-F238E27FC236}">
                <a16:creationId xmlns:a16="http://schemas.microsoft.com/office/drawing/2014/main" id="{5B4D39EE-5D3E-1561-1907-794096A6AE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0041" r="-1" b="-1"/>
          <a:stretch>
            <a:fillRect/>
          </a:stretch>
        </p:blipFill>
        <p:spPr bwMode="auto">
          <a:xfrm>
            <a:off x="20" y="1756740"/>
            <a:ext cx="3140313" cy="162324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Volume-of-brand-mentions">
            <a:extLst>
              <a:ext uri="{FF2B5EF4-FFF2-40B4-BE49-F238E27FC236}">
                <a16:creationId xmlns:a16="http://schemas.microsoft.com/office/drawing/2014/main" id="{E562026A-E34E-D18B-341B-396C987DE1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3" b="21386"/>
          <a:stretch>
            <a:fillRect/>
          </a:stretch>
        </p:blipFill>
        <p:spPr bwMode="auto">
          <a:xfrm>
            <a:off x="20" y="3520260"/>
            <a:ext cx="3140313" cy="162324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181" name="Text Placeholder 2">
            <a:extLst>
              <a:ext uri="{FF2B5EF4-FFF2-40B4-BE49-F238E27FC236}">
                <a16:creationId xmlns:a16="http://schemas.microsoft.com/office/drawing/2014/main" id="{E428A47F-1E18-6528-8997-1A05BB81CE44}"/>
              </a:ext>
            </a:extLst>
          </p:cNvPr>
          <p:cNvGraphicFramePr/>
          <p:nvPr>
            <p:extLst>
              <p:ext uri="{D42A27DB-BD31-4B8C-83A1-F6EECF244321}">
                <p14:modId xmlns:p14="http://schemas.microsoft.com/office/powerpoint/2010/main" val="90222357"/>
              </p:ext>
            </p:extLst>
          </p:nvPr>
        </p:nvGraphicFramePr>
        <p:xfrm>
          <a:off x="3625024" y="1799790"/>
          <a:ext cx="5153216" cy="280238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741460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0958A5-D0EE-0635-3DC9-05204FD2BA46}"/>
              </a:ext>
            </a:extLst>
          </p:cNvPr>
          <p:cNvSpPr>
            <a:spLocks noGrp="1"/>
          </p:cNvSpPr>
          <p:nvPr>
            <p:ph type="title"/>
          </p:nvPr>
        </p:nvSpPr>
        <p:spPr>
          <a:xfrm>
            <a:off x="322326" y="308610"/>
            <a:ext cx="8401050" cy="829818"/>
          </a:xfrm>
        </p:spPr>
        <p:txBody>
          <a:bodyPr vert="horz" lIns="91440" tIns="45720" rIns="91440" bIns="45720" rtlCol="0" anchor="ctr">
            <a:normAutofit/>
          </a:bodyPr>
          <a:lstStyle/>
          <a:p>
            <a:pPr defTabSz="914400"/>
            <a:r>
              <a:rPr lang="en-US" sz="2700" kern="1200" dirty="0">
                <a:solidFill>
                  <a:schemeClr val="tx1"/>
                </a:solidFill>
                <a:latin typeface="Viper Squadron" panose="00000400000000000000" pitchFamily="2" charset="0"/>
              </a:rPr>
              <a:t>Sentiment and Trends</a:t>
            </a:r>
          </a:p>
        </p:txBody>
      </p:sp>
      <p:sp>
        <p:nvSpPr>
          <p:cNvPr id="8201" name="Rectangle 8200">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48843"/>
            <a:ext cx="96012"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8194" name="Picture 2" descr="Using Trustpilot API for sentiment analysis | Repustate">
            <a:extLst>
              <a:ext uri="{FF2B5EF4-FFF2-40B4-BE49-F238E27FC236}">
                <a16:creationId xmlns:a16="http://schemas.microsoft.com/office/drawing/2014/main" id="{787D8832-74C1-5302-CE39-3DADE1A87A2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22326" y="1673969"/>
            <a:ext cx="5026914" cy="2618521"/>
          </a:xfrm>
          <a:prstGeom prst="rect">
            <a:avLst/>
          </a:prstGeom>
          <a:noFill/>
          <a:extLst>
            <a:ext uri="{909E8E84-426E-40DD-AFC4-6F175D3DCCD1}">
              <a14:hiddenFill xmlns:a14="http://schemas.microsoft.com/office/drawing/2010/main">
                <a:solidFill>
                  <a:srgbClr val="FFFFFF"/>
                </a:solidFill>
              </a14:hiddenFill>
            </a:ext>
          </a:extLst>
        </p:spPr>
      </p:pic>
      <p:sp useBgFill="1">
        <p:nvSpPr>
          <p:cNvPr id="8203" name="Rectangle 8202">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7850" y="1291441"/>
            <a:ext cx="3163824" cy="339042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B5EB0F61-25FD-DA0E-4968-A8B35A819B9B}"/>
              </a:ext>
            </a:extLst>
          </p:cNvPr>
          <p:cNvSpPr>
            <a:spLocks noGrp="1"/>
          </p:cNvSpPr>
          <p:nvPr>
            <p:ph type="body" idx="1"/>
          </p:nvPr>
        </p:nvSpPr>
        <p:spPr>
          <a:xfrm>
            <a:off x="5954064" y="1515618"/>
            <a:ext cx="2591322" cy="2969514"/>
          </a:xfrm>
        </p:spPr>
        <p:txBody>
          <a:bodyPr vert="horz" lIns="91440" tIns="45720" rIns="91440" bIns="45720" rtlCol="0" anchor="ctr">
            <a:normAutofit/>
          </a:bodyPr>
          <a:lstStyle/>
          <a:p>
            <a:pPr indent="-228600" defTabSz="914400"/>
            <a:r>
              <a:rPr lang="en-US" sz="2000" dirty="0"/>
              <a:t>Positive, neutral, negative share of posts</a:t>
            </a:r>
          </a:p>
          <a:p>
            <a:pPr indent="-228600" defTabSz="914400"/>
            <a:r>
              <a:rPr lang="en-US" sz="2000" dirty="0"/>
              <a:t>Peaks during events and seasons</a:t>
            </a:r>
          </a:p>
          <a:p>
            <a:pPr indent="-228600" defTabSz="914400"/>
            <a:r>
              <a:rPr lang="en-US" sz="2000" dirty="0"/>
              <a:t>Lift after creator mentions</a:t>
            </a:r>
          </a:p>
        </p:txBody>
      </p:sp>
    </p:spTree>
    <p:extLst>
      <p:ext uri="{BB962C8B-B14F-4D97-AF65-F5344CB8AC3E}">
        <p14:creationId xmlns:p14="http://schemas.microsoft.com/office/powerpoint/2010/main" val="1672700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5" name="Rectangle 9224">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0541" y="136182"/>
            <a:ext cx="8867727" cy="487581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Steps to Data Collection - Research Graduate">
            <a:extLst>
              <a:ext uri="{FF2B5EF4-FFF2-40B4-BE49-F238E27FC236}">
                <a16:creationId xmlns:a16="http://schemas.microsoft.com/office/drawing/2014/main" id="{0F068275-55E4-AA57-7817-684327616AC1}"/>
              </a:ext>
            </a:extLst>
          </p:cNvPr>
          <p:cNvPicPr>
            <a:picLocks noChangeAspect="1" noChangeArrowheads="1"/>
          </p:cNvPicPr>
          <p:nvPr/>
        </p:nvPicPr>
        <p:blipFill>
          <a:blip r:embed="rId3">
            <a:alphaModFix amt="60000"/>
            <a:extLst>
              <a:ext uri="{28A0092B-C50C-407E-A947-70E740481C1C}">
                <a14:useLocalDpi xmlns:a14="http://schemas.microsoft.com/office/drawing/2010/main" val="0"/>
              </a:ext>
            </a:extLst>
          </a:blip>
          <a:srcRect t="678" r="-1" b="14747"/>
          <a:stretch>
            <a:fillRect/>
          </a:stretch>
        </p:blipFill>
        <p:spPr bwMode="auto">
          <a:xfrm>
            <a:off x="135731" y="137160"/>
            <a:ext cx="8867728" cy="48748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E49DA56-0103-CBC9-624A-88D3F4D3E0F5}"/>
              </a:ext>
            </a:extLst>
          </p:cNvPr>
          <p:cNvSpPr>
            <a:spLocks noGrp="1"/>
          </p:cNvSpPr>
          <p:nvPr>
            <p:ph type="title"/>
          </p:nvPr>
        </p:nvSpPr>
        <p:spPr>
          <a:xfrm>
            <a:off x="628650" y="393896"/>
            <a:ext cx="7623913" cy="2104879"/>
          </a:xfrm>
          <a:effectLst>
            <a:outerShdw blurRad="50800" dist="38100" dir="5400000" algn="t" rotWithShape="0">
              <a:prstClr val="black">
                <a:alpha val="40000"/>
              </a:prstClr>
            </a:outerShdw>
          </a:effectLst>
        </p:spPr>
        <p:txBody>
          <a:bodyPr vert="horz" lIns="91440" tIns="45720" rIns="91440" bIns="45720" rtlCol="0" anchor="b">
            <a:normAutofit/>
          </a:bodyPr>
          <a:lstStyle/>
          <a:p>
            <a:pPr defTabSz="914400"/>
            <a:r>
              <a:rPr lang="en-US" sz="3000" dirty="0">
                <a:solidFill>
                  <a:srgbClr val="FFFFFF"/>
                </a:solidFill>
                <a:latin typeface="Viper Squadron" panose="00000400000000000000" pitchFamily="2" charset="0"/>
              </a:rPr>
              <a:t>Data Collection and Integration</a:t>
            </a:r>
          </a:p>
        </p:txBody>
      </p:sp>
      <p:sp>
        <p:nvSpPr>
          <p:cNvPr id="3" name="Text Placeholder 2">
            <a:extLst>
              <a:ext uri="{FF2B5EF4-FFF2-40B4-BE49-F238E27FC236}">
                <a16:creationId xmlns:a16="http://schemas.microsoft.com/office/drawing/2014/main" id="{0264D288-4507-FBB6-5B96-4543B0213874}"/>
              </a:ext>
            </a:extLst>
          </p:cNvPr>
          <p:cNvSpPr>
            <a:spLocks noGrp="1"/>
          </p:cNvSpPr>
          <p:nvPr>
            <p:ph type="body" idx="1"/>
          </p:nvPr>
        </p:nvSpPr>
        <p:spPr>
          <a:xfrm>
            <a:off x="628650" y="2644725"/>
            <a:ext cx="7623913" cy="1941343"/>
          </a:xfrm>
          <a:effectLst>
            <a:outerShdw blurRad="50800" dist="38100" dir="5400000" algn="t" rotWithShape="0">
              <a:prstClr val="black">
                <a:alpha val="40000"/>
              </a:prstClr>
            </a:outerShdw>
          </a:effectLst>
        </p:spPr>
        <p:txBody>
          <a:bodyPr vert="horz" lIns="91440" tIns="45720" rIns="91440" bIns="45720" rtlCol="0">
            <a:normAutofit/>
          </a:bodyPr>
          <a:lstStyle/>
          <a:p>
            <a:pPr indent="-228600" algn="ctr" defTabSz="914400"/>
            <a:r>
              <a:rPr lang="en-US" sz="1500" dirty="0">
                <a:solidFill>
                  <a:srgbClr val="FFFFFF"/>
                </a:solidFill>
              </a:rPr>
              <a:t>Platform APIs for mentions and tags</a:t>
            </a:r>
          </a:p>
          <a:p>
            <a:pPr indent="-228600" algn="ctr" defTabSz="914400"/>
            <a:r>
              <a:rPr lang="en-US" sz="1500" dirty="0">
                <a:solidFill>
                  <a:srgbClr val="FFFFFF"/>
                </a:solidFill>
              </a:rPr>
              <a:t>Web and app analytics for behavior</a:t>
            </a:r>
          </a:p>
          <a:p>
            <a:pPr indent="-228600" algn="ctr" defTabSz="914400"/>
            <a:r>
              <a:rPr lang="en-US" sz="1500" dirty="0">
                <a:solidFill>
                  <a:srgbClr val="FFFFFF"/>
                </a:solidFill>
              </a:rPr>
              <a:t>Consent capture and clear opt out</a:t>
            </a:r>
          </a:p>
          <a:p>
            <a:pPr indent="-228600" algn="ctr" defTabSz="914400"/>
            <a:r>
              <a:rPr lang="en-US" sz="1500" dirty="0">
                <a:solidFill>
                  <a:srgbClr val="FFFFFF"/>
                </a:solidFill>
              </a:rPr>
              <a:t>Automated pipelines for updates</a:t>
            </a:r>
          </a:p>
        </p:txBody>
      </p:sp>
    </p:spTree>
    <p:extLst>
      <p:ext uri="{BB962C8B-B14F-4D97-AF65-F5344CB8AC3E}">
        <p14:creationId xmlns:p14="http://schemas.microsoft.com/office/powerpoint/2010/main" val="4284754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56" name="Rectangle 10255">
            <a:extLst>
              <a:ext uri="{FF2B5EF4-FFF2-40B4-BE49-F238E27FC236}">
                <a16:creationId xmlns:a16="http://schemas.microsoft.com/office/drawing/2014/main" id="{C03DDB2E-68A6-4B69-8803-0A52B5921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19371B-7058-B0F0-F5D2-286154938616}"/>
              </a:ext>
            </a:extLst>
          </p:cNvPr>
          <p:cNvSpPr>
            <a:spLocks noGrp="1"/>
          </p:cNvSpPr>
          <p:nvPr>
            <p:ph type="title"/>
          </p:nvPr>
        </p:nvSpPr>
        <p:spPr>
          <a:xfrm>
            <a:off x="5701510" y="642203"/>
            <a:ext cx="3028626" cy="1233854"/>
          </a:xfrm>
        </p:spPr>
        <p:txBody>
          <a:bodyPr vert="horz" lIns="91440" tIns="45720" rIns="91440" bIns="45720" rtlCol="0" anchor="b">
            <a:normAutofit/>
          </a:bodyPr>
          <a:lstStyle/>
          <a:p>
            <a:pPr algn="ctr" defTabSz="914400"/>
            <a:r>
              <a:rPr lang="en-US" sz="2900" kern="1200" dirty="0">
                <a:solidFill>
                  <a:schemeClr val="tx1"/>
                </a:solidFill>
                <a:latin typeface="Viper Squadron" panose="00000400000000000000" pitchFamily="2" charset="0"/>
              </a:rPr>
              <a:t>Tools for the Work</a:t>
            </a:r>
          </a:p>
        </p:txBody>
      </p:sp>
      <p:pic>
        <p:nvPicPr>
          <p:cNvPr id="10242" name="Picture 2" descr="Looker Studio: Power your SEO Strategy with Key Data">
            <a:extLst>
              <a:ext uri="{FF2B5EF4-FFF2-40B4-BE49-F238E27FC236}">
                <a16:creationId xmlns:a16="http://schemas.microsoft.com/office/drawing/2014/main" id="{7EE7D157-6456-1486-B0D9-B728BD731B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281" b="-1"/>
          <a:stretch>
            <a:fillRect/>
          </a:stretch>
        </p:blipFill>
        <p:spPr bwMode="auto">
          <a:xfrm>
            <a:off x="301979" y="450855"/>
            <a:ext cx="2247211" cy="1552897"/>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Hootsuite: The Good, and the Bad - JoomConnect Blog">
            <a:extLst>
              <a:ext uri="{FF2B5EF4-FFF2-40B4-BE49-F238E27FC236}">
                <a16:creationId xmlns:a16="http://schemas.microsoft.com/office/drawing/2014/main" id="{EEC596D7-3333-81DA-05B5-901C47A9F3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427" r="8682"/>
          <a:stretch>
            <a:fillRect/>
          </a:stretch>
        </p:blipFill>
        <p:spPr bwMode="auto">
          <a:xfrm>
            <a:off x="301979" y="2079193"/>
            <a:ext cx="2247211" cy="2556809"/>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What Is Tableau? Features, Benefits &amp; Use Cases Explained">
            <a:extLst>
              <a:ext uri="{FF2B5EF4-FFF2-40B4-BE49-F238E27FC236}">
                <a16:creationId xmlns:a16="http://schemas.microsoft.com/office/drawing/2014/main" id="{5A0C290B-2BC8-AE70-2967-4680F78549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569" r="-3" b="445"/>
          <a:stretch>
            <a:fillRect/>
          </a:stretch>
        </p:blipFill>
        <p:spPr bwMode="auto">
          <a:xfrm>
            <a:off x="2624643" y="450855"/>
            <a:ext cx="2635670" cy="2477089"/>
          </a:xfrm>
          <a:prstGeom prst="rect">
            <a:avLst/>
          </a:prstGeom>
          <a:noFill/>
          <a:extLst>
            <a:ext uri="{909E8E84-426E-40DD-AFC4-6F175D3DCCD1}">
              <a14:hiddenFill xmlns:a14="http://schemas.microsoft.com/office/drawing/2010/main">
                <a:solidFill>
                  <a:srgbClr val="FFFFFF"/>
                </a:solidFill>
              </a14:hiddenFill>
            </a:ext>
          </a:extLst>
        </p:spPr>
      </p:pic>
      <p:sp>
        <p:nvSpPr>
          <p:cNvPr id="10258" name="Rectangle 10257">
            <a:extLst>
              <a:ext uri="{FF2B5EF4-FFF2-40B4-BE49-F238E27FC236}">
                <a16:creationId xmlns:a16="http://schemas.microsoft.com/office/drawing/2014/main" id="{481EABE0-FA8E-49A5-A966-F0539111C9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877532" y="272542"/>
            <a:ext cx="54864" cy="411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60" name="Rectangle 10259">
            <a:extLst>
              <a:ext uri="{FF2B5EF4-FFF2-40B4-BE49-F238E27FC236}">
                <a16:creationId xmlns:a16="http://schemas.microsoft.com/office/drawing/2014/main" id="{56A3E26D-73B1-468C-B97B-BC18159597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01508" y="2034615"/>
            <a:ext cx="308610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48" name="Picture 8" descr="9.5. Introduction to Python — Mobile CSP">
            <a:extLst>
              <a:ext uri="{FF2B5EF4-FFF2-40B4-BE49-F238E27FC236}">
                <a16:creationId xmlns:a16="http://schemas.microsoft.com/office/drawing/2014/main" id="{AE95FBE3-EB08-7729-FBD3-A2AF57D415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8478" r="732" b="46"/>
          <a:stretch>
            <a:fillRect/>
          </a:stretch>
        </p:blipFill>
        <p:spPr bwMode="auto">
          <a:xfrm>
            <a:off x="2624643" y="3003798"/>
            <a:ext cx="2635670" cy="1632204"/>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03C4E05D-7B2B-F20C-871D-FDDD3D7D57E2}"/>
              </a:ext>
            </a:extLst>
          </p:cNvPr>
          <p:cNvSpPr>
            <a:spLocks noGrp="1"/>
          </p:cNvSpPr>
          <p:nvPr>
            <p:ph type="body" idx="1"/>
          </p:nvPr>
        </p:nvSpPr>
        <p:spPr>
          <a:xfrm>
            <a:off x="5701510" y="2206890"/>
            <a:ext cx="3028626" cy="2434353"/>
          </a:xfrm>
        </p:spPr>
        <p:txBody>
          <a:bodyPr vert="horz" lIns="91440" tIns="45720" rIns="91440" bIns="45720" rtlCol="0">
            <a:normAutofit/>
          </a:bodyPr>
          <a:lstStyle/>
          <a:p>
            <a:pPr indent="-228600" defTabSz="914400"/>
            <a:r>
              <a:rPr lang="en-US" sz="1600" dirty="0"/>
              <a:t>Looker Studio for quick dashboards</a:t>
            </a:r>
          </a:p>
          <a:p>
            <a:pPr indent="-228600" defTabSz="914400"/>
            <a:r>
              <a:rPr lang="en-US" sz="1600" dirty="0"/>
              <a:t>Tableau or Power BI for deep dives</a:t>
            </a:r>
          </a:p>
          <a:p>
            <a:pPr indent="-228600" defTabSz="914400"/>
            <a:r>
              <a:rPr lang="en-US" sz="1600" dirty="0"/>
              <a:t>Hootsuite or </a:t>
            </a:r>
            <a:r>
              <a:rPr lang="en-US" sz="1600" dirty="0" err="1"/>
              <a:t>Brandwatch</a:t>
            </a:r>
            <a:r>
              <a:rPr lang="en-US" sz="1600" dirty="0"/>
              <a:t> for listening</a:t>
            </a:r>
          </a:p>
          <a:p>
            <a:pPr indent="-228600" defTabSz="914400"/>
            <a:r>
              <a:rPr lang="en-US" sz="1600" dirty="0"/>
              <a:t>Python or R for custom charts</a:t>
            </a:r>
          </a:p>
        </p:txBody>
      </p:sp>
    </p:spTree>
    <p:extLst>
      <p:ext uri="{BB962C8B-B14F-4D97-AF65-F5344CB8AC3E}">
        <p14:creationId xmlns:p14="http://schemas.microsoft.com/office/powerpoint/2010/main" val="3685403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1" name="Rectangle 11270">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3" name="Rectangle 11272">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0541" y="136182"/>
            <a:ext cx="8867727" cy="487581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descr="Feel the Temptation to Stretch the Truth? 3 Ethical Guardrails to Keep You  in the Right - Leading With Honor®">
            <a:extLst>
              <a:ext uri="{FF2B5EF4-FFF2-40B4-BE49-F238E27FC236}">
                <a16:creationId xmlns:a16="http://schemas.microsoft.com/office/drawing/2014/main" id="{D0431F7A-B585-1E99-DCF0-4E5A21678B97}"/>
              </a:ext>
            </a:extLst>
          </p:cNvPr>
          <p:cNvPicPr>
            <a:picLocks noChangeAspect="1" noChangeArrowheads="1"/>
          </p:cNvPicPr>
          <p:nvPr/>
        </p:nvPicPr>
        <p:blipFill>
          <a:blip r:embed="rId3">
            <a:alphaModFix amt="60000"/>
            <a:extLst>
              <a:ext uri="{28A0092B-C50C-407E-A947-70E740481C1C}">
                <a14:useLocalDpi xmlns:a14="http://schemas.microsoft.com/office/drawing/2010/main" val="0"/>
              </a:ext>
            </a:extLst>
          </a:blip>
          <a:srcRect t="16135" r="-1" b="10567"/>
          <a:stretch>
            <a:fillRect/>
          </a:stretch>
        </p:blipFill>
        <p:spPr bwMode="auto">
          <a:xfrm>
            <a:off x="207263" y="134331"/>
            <a:ext cx="8867728" cy="48748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75A0156-1184-20EB-EBE6-7A62030CC615}"/>
              </a:ext>
            </a:extLst>
          </p:cNvPr>
          <p:cNvSpPr>
            <a:spLocks noGrp="1"/>
          </p:cNvSpPr>
          <p:nvPr>
            <p:ph type="title"/>
          </p:nvPr>
        </p:nvSpPr>
        <p:spPr>
          <a:xfrm>
            <a:off x="628650" y="393896"/>
            <a:ext cx="7623913" cy="2104879"/>
          </a:xfrm>
          <a:effectLst>
            <a:outerShdw blurRad="50800" dist="38100" dir="5400000" algn="t" rotWithShape="0">
              <a:prstClr val="black">
                <a:alpha val="40000"/>
              </a:prstClr>
            </a:outerShdw>
          </a:effectLst>
        </p:spPr>
        <p:txBody>
          <a:bodyPr vert="horz" lIns="91440" tIns="45720" rIns="91440" bIns="45720" rtlCol="0" anchor="b">
            <a:normAutofit/>
          </a:bodyPr>
          <a:lstStyle/>
          <a:p>
            <a:pPr algn="ctr" defTabSz="914400"/>
            <a:r>
              <a:rPr lang="en-US" sz="3000" dirty="0">
                <a:solidFill>
                  <a:srgbClr val="FFFFFF"/>
                </a:solidFill>
                <a:latin typeface="Viper Squadron" panose="00000400000000000000" pitchFamily="2" charset="0"/>
              </a:rPr>
              <a:t>Legal and Ethical Guardrails</a:t>
            </a:r>
          </a:p>
        </p:txBody>
      </p:sp>
      <p:sp>
        <p:nvSpPr>
          <p:cNvPr id="3" name="Text Placeholder 2">
            <a:extLst>
              <a:ext uri="{FF2B5EF4-FFF2-40B4-BE49-F238E27FC236}">
                <a16:creationId xmlns:a16="http://schemas.microsoft.com/office/drawing/2014/main" id="{3387ECEE-D279-EAF0-A684-B831FB5AE4A1}"/>
              </a:ext>
            </a:extLst>
          </p:cNvPr>
          <p:cNvSpPr>
            <a:spLocks noGrp="1"/>
          </p:cNvSpPr>
          <p:nvPr>
            <p:ph type="body" idx="1"/>
          </p:nvPr>
        </p:nvSpPr>
        <p:spPr>
          <a:xfrm>
            <a:off x="628650" y="2644725"/>
            <a:ext cx="7623913" cy="1941343"/>
          </a:xfrm>
          <a:effectLst>
            <a:outerShdw blurRad="50800" dist="38100" dir="5400000" algn="t" rotWithShape="0">
              <a:prstClr val="black">
                <a:alpha val="40000"/>
              </a:prstClr>
            </a:outerShdw>
          </a:effectLst>
        </p:spPr>
        <p:txBody>
          <a:bodyPr vert="horz" lIns="91440" tIns="45720" rIns="91440" bIns="45720" rtlCol="0">
            <a:normAutofit/>
          </a:bodyPr>
          <a:lstStyle/>
          <a:p>
            <a:pPr indent="-228600" algn="ctr" defTabSz="914400"/>
            <a:r>
              <a:rPr lang="en-US" sz="1500" dirty="0">
                <a:solidFill>
                  <a:srgbClr val="FFFFFF"/>
                </a:solidFill>
              </a:rPr>
              <a:t>Consent for cookies and tracking</a:t>
            </a:r>
          </a:p>
          <a:p>
            <a:pPr indent="-228600" algn="ctr" defTabSz="914400"/>
            <a:r>
              <a:rPr lang="en-US" sz="1500" dirty="0">
                <a:solidFill>
                  <a:srgbClr val="FFFFFF"/>
                </a:solidFill>
              </a:rPr>
              <a:t>Data minimization</a:t>
            </a:r>
          </a:p>
          <a:p>
            <a:pPr indent="-228600" algn="ctr" defTabSz="914400"/>
            <a:r>
              <a:rPr lang="en-US" sz="1500" dirty="0">
                <a:solidFill>
                  <a:srgbClr val="FFFFFF"/>
                </a:solidFill>
              </a:rPr>
              <a:t>Encrypt in transit and at rest</a:t>
            </a:r>
          </a:p>
          <a:p>
            <a:pPr indent="-228600" algn="ctr" defTabSz="914400"/>
            <a:r>
              <a:rPr lang="en-US" sz="1500" dirty="0">
                <a:solidFill>
                  <a:srgbClr val="FFFFFF"/>
                </a:solidFill>
              </a:rPr>
              <a:t>Follow regional privacy rules</a:t>
            </a:r>
          </a:p>
        </p:txBody>
      </p:sp>
    </p:spTree>
    <p:extLst>
      <p:ext uri="{BB962C8B-B14F-4D97-AF65-F5344CB8AC3E}">
        <p14:creationId xmlns:p14="http://schemas.microsoft.com/office/powerpoint/2010/main" val="2109741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2C3FF4-27E2-998B-709F-2AD1B7A92E54}"/>
              </a:ext>
            </a:extLst>
          </p:cNvPr>
          <p:cNvPicPr>
            <a:picLocks noChangeAspect="1"/>
          </p:cNvPicPr>
          <p:nvPr/>
        </p:nvPicPr>
        <p:blipFill>
          <a:blip r:embed="rId3"/>
          <a:srcRect r="-2" b="-2"/>
          <a:stretch>
            <a:fillRect/>
          </a:stretch>
        </p:blipFill>
        <p:spPr>
          <a:xfrm>
            <a:off x="2003195" y="-260510"/>
            <a:ext cx="5493496" cy="5493496"/>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Tree>
    <p:extLst>
      <p:ext uri="{BB962C8B-B14F-4D97-AF65-F5344CB8AC3E}">
        <p14:creationId xmlns:p14="http://schemas.microsoft.com/office/powerpoint/2010/main" val="13173881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1161</Words>
  <Application>Microsoft Office PowerPoint</Application>
  <PresentationFormat>On-screen Show (16:9)</PresentationFormat>
  <Paragraphs>86</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Calibri</vt:lpstr>
      <vt:lpstr>Viper Squadron</vt:lpstr>
      <vt:lpstr>Office Theme</vt:lpstr>
      <vt:lpstr>Social Media Analytics for Paradigm Music</vt:lpstr>
      <vt:lpstr>Mission and Plan</vt:lpstr>
      <vt:lpstr>From Goals to Measurable Objectives</vt:lpstr>
      <vt:lpstr>Key Performance Indicators</vt:lpstr>
      <vt:lpstr>How Visualization Guides Decisions</vt:lpstr>
      <vt:lpstr>What Successful Firms Do</vt:lpstr>
      <vt:lpstr>Insights from Shared Song Titles</vt:lpstr>
      <vt:lpstr>Visualization Methods</vt:lpstr>
      <vt:lpstr>Preferences by Group</vt:lpstr>
      <vt:lpstr>Sentiment and Trends</vt:lpstr>
      <vt:lpstr>Data Collection and Integration</vt:lpstr>
      <vt:lpstr>Tools for the Work</vt:lpstr>
      <vt:lpstr>Legal and Ethical Guardrails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Kevin McMahon</dc:creator>
  <cp:lastModifiedBy>Kevin McMahon</cp:lastModifiedBy>
  <cp:revision>1</cp:revision>
  <dcterms:created xsi:type="dcterms:W3CDTF">2025-11-07T00:34:25Z</dcterms:created>
  <dcterms:modified xsi:type="dcterms:W3CDTF">2025-11-07T01:22:17Z</dcterms:modified>
</cp:coreProperties>
</file>