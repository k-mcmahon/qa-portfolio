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66243" autoAdjust="0"/>
  </p:normalViewPr>
  <p:slideViewPr>
    <p:cSldViewPr snapToGrid="0">
      <p:cViewPr varScale="1">
        <p:scale>
          <a:sx n="137" d="100"/>
          <a:sy n="137" d="100"/>
        </p:scale>
        <p:origin x="245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2C482D-70BF-4EE3-B95E-CCD96643FA0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F47A2C4-308D-45C5-9D01-C5955DA8F668}">
      <dgm:prSet/>
      <dgm:spPr/>
      <dgm:t>
        <a:bodyPr/>
        <a:lstStyle/>
        <a:p>
          <a:r>
            <a:rPr lang="en-US"/>
            <a:t>Why web analytics matters and how it supports decisions</a:t>
          </a:r>
        </a:p>
      </dgm:t>
    </dgm:pt>
    <dgm:pt modelId="{0E34173A-3B1C-4A96-8FC9-929AC234051A}" type="parTrans" cxnId="{5BABA389-A2A7-4AD0-85D0-3088DFF79BD5}">
      <dgm:prSet/>
      <dgm:spPr/>
      <dgm:t>
        <a:bodyPr/>
        <a:lstStyle/>
        <a:p>
          <a:endParaRPr lang="en-US"/>
        </a:p>
      </dgm:t>
    </dgm:pt>
    <dgm:pt modelId="{2273BDE7-CCCD-4808-95B6-83180737264E}" type="sibTrans" cxnId="{5BABA389-A2A7-4AD0-85D0-3088DFF79BD5}">
      <dgm:prSet/>
      <dgm:spPr/>
      <dgm:t>
        <a:bodyPr/>
        <a:lstStyle/>
        <a:p>
          <a:endParaRPr lang="en-US"/>
        </a:p>
      </dgm:t>
    </dgm:pt>
    <dgm:pt modelId="{5BF6AD0D-00A7-4E3F-84FC-5214AF6834FA}">
      <dgm:prSet/>
      <dgm:spPr/>
      <dgm:t>
        <a:bodyPr/>
        <a:lstStyle/>
        <a:p>
          <a:r>
            <a:rPr lang="en-US"/>
            <a:t>Big Data challenges, solutions, and real-world examples</a:t>
          </a:r>
        </a:p>
      </dgm:t>
    </dgm:pt>
    <dgm:pt modelId="{2A9BFE3E-1CEF-4F79-9429-DFFE3F01DA3E}" type="parTrans" cxnId="{B4D9B605-6446-4018-881F-68A0DB72F9EA}">
      <dgm:prSet/>
      <dgm:spPr/>
      <dgm:t>
        <a:bodyPr/>
        <a:lstStyle/>
        <a:p>
          <a:endParaRPr lang="en-US"/>
        </a:p>
      </dgm:t>
    </dgm:pt>
    <dgm:pt modelId="{6FCDC88D-43AD-441B-9D9E-10443A785374}" type="sibTrans" cxnId="{B4D9B605-6446-4018-881F-68A0DB72F9EA}">
      <dgm:prSet/>
      <dgm:spPr/>
      <dgm:t>
        <a:bodyPr/>
        <a:lstStyle/>
        <a:p>
          <a:endParaRPr lang="en-US"/>
        </a:p>
      </dgm:t>
    </dgm:pt>
    <dgm:pt modelId="{61251DB0-66A1-4C1D-A714-EC2614918AAC}">
      <dgm:prSet/>
      <dgm:spPr/>
      <dgm:t>
        <a:bodyPr/>
        <a:lstStyle/>
        <a:p>
          <a:r>
            <a:rPr lang="en-US"/>
            <a:t>Tool rating chart with a color key</a:t>
          </a:r>
        </a:p>
      </dgm:t>
    </dgm:pt>
    <dgm:pt modelId="{6B76DC70-0165-4EE5-B89B-0589E2179F05}" type="parTrans" cxnId="{E4C71F04-B1DB-4672-9535-771371706479}">
      <dgm:prSet/>
      <dgm:spPr/>
      <dgm:t>
        <a:bodyPr/>
        <a:lstStyle/>
        <a:p>
          <a:endParaRPr lang="en-US"/>
        </a:p>
      </dgm:t>
    </dgm:pt>
    <dgm:pt modelId="{8CE49A1E-163B-4B2F-9D49-8123A93A8D45}" type="sibTrans" cxnId="{E4C71F04-B1DB-4672-9535-771371706479}">
      <dgm:prSet/>
      <dgm:spPr/>
      <dgm:t>
        <a:bodyPr/>
        <a:lstStyle/>
        <a:p>
          <a:endParaRPr lang="en-US"/>
        </a:p>
      </dgm:t>
    </dgm:pt>
    <dgm:pt modelId="{D106096B-B60C-400C-87EE-ECA3489AA8BB}">
      <dgm:prSet/>
      <dgm:spPr/>
      <dgm:t>
        <a:bodyPr/>
        <a:lstStyle/>
        <a:p>
          <a:r>
            <a:rPr lang="en-US"/>
            <a:t>Data use policies, privacy, and data ownership</a:t>
          </a:r>
        </a:p>
      </dgm:t>
    </dgm:pt>
    <dgm:pt modelId="{B902241F-A2E2-4CB8-A6FE-2B43DBAC353C}" type="parTrans" cxnId="{1E419E0E-57CA-446F-AF13-F6D41643621E}">
      <dgm:prSet/>
      <dgm:spPr/>
      <dgm:t>
        <a:bodyPr/>
        <a:lstStyle/>
        <a:p>
          <a:endParaRPr lang="en-US"/>
        </a:p>
      </dgm:t>
    </dgm:pt>
    <dgm:pt modelId="{2ACC4A28-3101-4D7B-94F9-D8BA606435D4}" type="sibTrans" cxnId="{1E419E0E-57CA-446F-AF13-F6D41643621E}">
      <dgm:prSet/>
      <dgm:spPr/>
      <dgm:t>
        <a:bodyPr/>
        <a:lstStyle/>
        <a:p>
          <a:endParaRPr lang="en-US"/>
        </a:p>
      </dgm:t>
    </dgm:pt>
    <dgm:pt modelId="{0B341D0C-2202-4183-837F-AB574ACABF75}">
      <dgm:prSet/>
      <dgm:spPr/>
      <dgm:t>
        <a:bodyPr/>
        <a:lstStyle/>
        <a:p>
          <a:r>
            <a:rPr lang="en-US"/>
            <a:t>Audience Q&amp;A with prepared answers and contact info</a:t>
          </a:r>
        </a:p>
      </dgm:t>
    </dgm:pt>
    <dgm:pt modelId="{B1A79D03-A71D-49EA-A39B-E5F501E03034}" type="parTrans" cxnId="{8A8A7934-4BE4-435C-BD13-D96047FF125C}">
      <dgm:prSet/>
      <dgm:spPr/>
      <dgm:t>
        <a:bodyPr/>
        <a:lstStyle/>
        <a:p>
          <a:endParaRPr lang="en-US"/>
        </a:p>
      </dgm:t>
    </dgm:pt>
    <dgm:pt modelId="{341F09A3-658C-4AE3-884A-11DAE6875409}" type="sibTrans" cxnId="{8A8A7934-4BE4-435C-BD13-D96047FF125C}">
      <dgm:prSet/>
      <dgm:spPr/>
      <dgm:t>
        <a:bodyPr/>
        <a:lstStyle/>
        <a:p>
          <a:endParaRPr lang="en-US"/>
        </a:p>
      </dgm:t>
    </dgm:pt>
    <dgm:pt modelId="{8E8E29BB-2AE0-4BDB-BC0E-E3485E6CE2F7}" type="pres">
      <dgm:prSet presAssocID="{442C482D-70BF-4EE3-B95E-CCD96643FA0B}" presName="root" presStyleCnt="0">
        <dgm:presLayoutVars>
          <dgm:dir/>
          <dgm:resizeHandles val="exact"/>
        </dgm:presLayoutVars>
      </dgm:prSet>
      <dgm:spPr/>
    </dgm:pt>
    <dgm:pt modelId="{E4EDCAB7-B063-48A2-A64F-5E7FAFF3F7C4}" type="pres">
      <dgm:prSet presAssocID="{0F47A2C4-308D-45C5-9D01-C5955DA8F668}" presName="compNode" presStyleCnt="0"/>
      <dgm:spPr/>
    </dgm:pt>
    <dgm:pt modelId="{4129A297-89FB-4631-A1E7-E2E5366763C8}" type="pres">
      <dgm:prSet presAssocID="{0F47A2C4-308D-45C5-9D01-C5955DA8F668}" presName="bgRect" presStyleLbl="bgShp" presStyleIdx="0" presStyleCnt="5"/>
      <dgm:spPr/>
    </dgm:pt>
    <dgm:pt modelId="{D442A1C8-2908-4147-8DB6-547CAFB0B49A}" type="pres">
      <dgm:prSet presAssocID="{0F47A2C4-308D-45C5-9D01-C5955DA8F66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E735B2FD-43B6-409F-8E5B-DDEA3EF88C76}" type="pres">
      <dgm:prSet presAssocID="{0F47A2C4-308D-45C5-9D01-C5955DA8F668}" presName="spaceRect" presStyleCnt="0"/>
      <dgm:spPr/>
    </dgm:pt>
    <dgm:pt modelId="{B6E65A38-A87E-4FC0-B039-40AC547F1786}" type="pres">
      <dgm:prSet presAssocID="{0F47A2C4-308D-45C5-9D01-C5955DA8F668}" presName="parTx" presStyleLbl="revTx" presStyleIdx="0" presStyleCnt="5">
        <dgm:presLayoutVars>
          <dgm:chMax val="0"/>
          <dgm:chPref val="0"/>
        </dgm:presLayoutVars>
      </dgm:prSet>
      <dgm:spPr/>
    </dgm:pt>
    <dgm:pt modelId="{0E4369B9-1BE3-4656-8707-ED03DC84DEE4}" type="pres">
      <dgm:prSet presAssocID="{2273BDE7-CCCD-4808-95B6-83180737264E}" presName="sibTrans" presStyleCnt="0"/>
      <dgm:spPr/>
    </dgm:pt>
    <dgm:pt modelId="{91E12DD6-77F8-4ABF-9258-EB181A754A0F}" type="pres">
      <dgm:prSet presAssocID="{5BF6AD0D-00A7-4E3F-84FC-5214AF6834FA}" presName="compNode" presStyleCnt="0"/>
      <dgm:spPr/>
    </dgm:pt>
    <dgm:pt modelId="{62335CFA-E4D9-4739-A9D1-E8A7D04E3966}" type="pres">
      <dgm:prSet presAssocID="{5BF6AD0D-00A7-4E3F-84FC-5214AF6834FA}" presName="bgRect" presStyleLbl="bgShp" presStyleIdx="1" presStyleCnt="5"/>
      <dgm:spPr/>
    </dgm:pt>
    <dgm:pt modelId="{9BA52EF6-9814-4B42-A210-20EBB579CF48}" type="pres">
      <dgm:prSet presAssocID="{5BF6AD0D-00A7-4E3F-84FC-5214AF6834F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FD1CD044-6618-4669-ADFF-FFF29251D04A}" type="pres">
      <dgm:prSet presAssocID="{5BF6AD0D-00A7-4E3F-84FC-5214AF6834FA}" presName="spaceRect" presStyleCnt="0"/>
      <dgm:spPr/>
    </dgm:pt>
    <dgm:pt modelId="{A574769C-A99E-42C8-B6D9-88BA6A8281F9}" type="pres">
      <dgm:prSet presAssocID="{5BF6AD0D-00A7-4E3F-84FC-5214AF6834FA}" presName="parTx" presStyleLbl="revTx" presStyleIdx="1" presStyleCnt="5">
        <dgm:presLayoutVars>
          <dgm:chMax val="0"/>
          <dgm:chPref val="0"/>
        </dgm:presLayoutVars>
      </dgm:prSet>
      <dgm:spPr/>
    </dgm:pt>
    <dgm:pt modelId="{B253B820-5297-4075-BCCC-AB50222A9CF9}" type="pres">
      <dgm:prSet presAssocID="{6FCDC88D-43AD-441B-9D9E-10443A785374}" presName="sibTrans" presStyleCnt="0"/>
      <dgm:spPr/>
    </dgm:pt>
    <dgm:pt modelId="{932FBCC0-A30F-473B-9BC4-6B2357822C7F}" type="pres">
      <dgm:prSet presAssocID="{61251DB0-66A1-4C1D-A714-EC2614918AAC}" presName="compNode" presStyleCnt="0"/>
      <dgm:spPr/>
    </dgm:pt>
    <dgm:pt modelId="{2A9E1238-9635-4643-8CCF-6B011D28BAEF}" type="pres">
      <dgm:prSet presAssocID="{61251DB0-66A1-4C1D-A714-EC2614918AAC}" presName="bgRect" presStyleLbl="bgShp" presStyleIdx="2" presStyleCnt="5"/>
      <dgm:spPr/>
    </dgm:pt>
    <dgm:pt modelId="{E5082476-DF34-402F-9F56-F9D567298BCF}" type="pres">
      <dgm:prSet presAssocID="{61251DB0-66A1-4C1D-A714-EC2614918AA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ols"/>
        </a:ext>
      </dgm:extLst>
    </dgm:pt>
    <dgm:pt modelId="{225DEC14-4CE8-459E-AB2E-B6D70D8FC196}" type="pres">
      <dgm:prSet presAssocID="{61251DB0-66A1-4C1D-A714-EC2614918AAC}" presName="spaceRect" presStyleCnt="0"/>
      <dgm:spPr/>
    </dgm:pt>
    <dgm:pt modelId="{0E878AB5-C3E2-45CD-A783-D87230BCB5B1}" type="pres">
      <dgm:prSet presAssocID="{61251DB0-66A1-4C1D-A714-EC2614918AAC}" presName="parTx" presStyleLbl="revTx" presStyleIdx="2" presStyleCnt="5">
        <dgm:presLayoutVars>
          <dgm:chMax val="0"/>
          <dgm:chPref val="0"/>
        </dgm:presLayoutVars>
      </dgm:prSet>
      <dgm:spPr/>
    </dgm:pt>
    <dgm:pt modelId="{6B941B2E-DD19-4985-91A9-F06FB9E7F4BF}" type="pres">
      <dgm:prSet presAssocID="{8CE49A1E-163B-4B2F-9D49-8123A93A8D45}" presName="sibTrans" presStyleCnt="0"/>
      <dgm:spPr/>
    </dgm:pt>
    <dgm:pt modelId="{9EDEC821-87C7-4DBF-B386-5567D35EBF55}" type="pres">
      <dgm:prSet presAssocID="{D106096B-B60C-400C-87EE-ECA3489AA8BB}" presName="compNode" presStyleCnt="0"/>
      <dgm:spPr/>
    </dgm:pt>
    <dgm:pt modelId="{8F8AF3F1-80FD-4047-A5A9-B450D95A0086}" type="pres">
      <dgm:prSet presAssocID="{D106096B-B60C-400C-87EE-ECA3489AA8BB}" presName="bgRect" presStyleLbl="bgShp" presStyleIdx="3" presStyleCnt="5"/>
      <dgm:spPr/>
    </dgm:pt>
    <dgm:pt modelId="{BB510F8A-5991-40B8-8744-4E79EAFDA0AE}" type="pres">
      <dgm:prSet presAssocID="{D106096B-B60C-400C-87EE-ECA3489AA8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FD1EBD10-4B3F-4066-809E-F116A9E3E577}" type="pres">
      <dgm:prSet presAssocID="{D106096B-B60C-400C-87EE-ECA3489AA8BB}" presName="spaceRect" presStyleCnt="0"/>
      <dgm:spPr/>
    </dgm:pt>
    <dgm:pt modelId="{FC3930B7-9005-4876-B4CA-A86B5914D8E8}" type="pres">
      <dgm:prSet presAssocID="{D106096B-B60C-400C-87EE-ECA3489AA8BB}" presName="parTx" presStyleLbl="revTx" presStyleIdx="3" presStyleCnt="5">
        <dgm:presLayoutVars>
          <dgm:chMax val="0"/>
          <dgm:chPref val="0"/>
        </dgm:presLayoutVars>
      </dgm:prSet>
      <dgm:spPr/>
    </dgm:pt>
    <dgm:pt modelId="{3F9C3456-ECEC-4509-BA6C-5FE29703D2F3}" type="pres">
      <dgm:prSet presAssocID="{2ACC4A28-3101-4D7B-94F9-D8BA606435D4}" presName="sibTrans" presStyleCnt="0"/>
      <dgm:spPr/>
    </dgm:pt>
    <dgm:pt modelId="{A34B5613-2C7F-4B17-9D6D-4207C548D94C}" type="pres">
      <dgm:prSet presAssocID="{0B341D0C-2202-4183-837F-AB574ACABF75}" presName="compNode" presStyleCnt="0"/>
      <dgm:spPr/>
    </dgm:pt>
    <dgm:pt modelId="{70CDDDEE-F926-4B55-B6CA-CD6DFCDAD843}" type="pres">
      <dgm:prSet presAssocID="{0B341D0C-2202-4183-837F-AB574ACABF75}" presName="bgRect" presStyleLbl="bgShp" presStyleIdx="4" presStyleCnt="5"/>
      <dgm:spPr/>
    </dgm:pt>
    <dgm:pt modelId="{3AC6D309-FC02-461B-AA54-6E97C5E02AF7}" type="pres">
      <dgm:prSet presAssocID="{0B341D0C-2202-4183-837F-AB574ACABF7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all center"/>
        </a:ext>
      </dgm:extLst>
    </dgm:pt>
    <dgm:pt modelId="{45E30A45-FCC9-4431-B5C2-6B33C445BA46}" type="pres">
      <dgm:prSet presAssocID="{0B341D0C-2202-4183-837F-AB574ACABF75}" presName="spaceRect" presStyleCnt="0"/>
      <dgm:spPr/>
    </dgm:pt>
    <dgm:pt modelId="{D4F40CED-FBC2-4837-927C-77411A472F2A}" type="pres">
      <dgm:prSet presAssocID="{0B341D0C-2202-4183-837F-AB574ACABF75}" presName="parTx" presStyleLbl="revTx" presStyleIdx="4" presStyleCnt="5">
        <dgm:presLayoutVars>
          <dgm:chMax val="0"/>
          <dgm:chPref val="0"/>
        </dgm:presLayoutVars>
      </dgm:prSet>
      <dgm:spPr/>
    </dgm:pt>
  </dgm:ptLst>
  <dgm:cxnLst>
    <dgm:cxn modelId="{E4C71F04-B1DB-4672-9535-771371706479}" srcId="{442C482D-70BF-4EE3-B95E-CCD96643FA0B}" destId="{61251DB0-66A1-4C1D-A714-EC2614918AAC}" srcOrd="2" destOrd="0" parTransId="{6B76DC70-0165-4EE5-B89B-0589E2179F05}" sibTransId="{8CE49A1E-163B-4B2F-9D49-8123A93A8D45}"/>
    <dgm:cxn modelId="{B4D9B605-6446-4018-881F-68A0DB72F9EA}" srcId="{442C482D-70BF-4EE3-B95E-CCD96643FA0B}" destId="{5BF6AD0D-00A7-4E3F-84FC-5214AF6834FA}" srcOrd="1" destOrd="0" parTransId="{2A9BFE3E-1CEF-4F79-9429-DFFE3F01DA3E}" sibTransId="{6FCDC88D-43AD-441B-9D9E-10443A785374}"/>
    <dgm:cxn modelId="{1E419E0E-57CA-446F-AF13-F6D41643621E}" srcId="{442C482D-70BF-4EE3-B95E-CCD96643FA0B}" destId="{D106096B-B60C-400C-87EE-ECA3489AA8BB}" srcOrd="3" destOrd="0" parTransId="{B902241F-A2E2-4CB8-A6FE-2B43DBAC353C}" sibTransId="{2ACC4A28-3101-4D7B-94F9-D8BA606435D4}"/>
    <dgm:cxn modelId="{EB99A31D-CDC5-4C1A-BFF7-7BE0BB835B6A}" type="presOf" srcId="{442C482D-70BF-4EE3-B95E-CCD96643FA0B}" destId="{8E8E29BB-2AE0-4BDB-BC0E-E3485E6CE2F7}" srcOrd="0" destOrd="0" presId="urn:microsoft.com/office/officeart/2018/2/layout/IconVerticalSolidList"/>
    <dgm:cxn modelId="{8A8A7934-4BE4-435C-BD13-D96047FF125C}" srcId="{442C482D-70BF-4EE3-B95E-CCD96643FA0B}" destId="{0B341D0C-2202-4183-837F-AB574ACABF75}" srcOrd="4" destOrd="0" parTransId="{B1A79D03-A71D-49EA-A39B-E5F501E03034}" sibTransId="{341F09A3-658C-4AE3-884A-11DAE6875409}"/>
    <dgm:cxn modelId="{6F751888-D714-40AA-91A4-4830EC3D85CA}" type="presOf" srcId="{0B341D0C-2202-4183-837F-AB574ACABF75}" destId="{D4F40CED-FBC2-4837-927C-77411A472F2A}" srcOrd="0" destOrd="0" presId="urn:microsoft.com/office/officeart/2018/2/layout/IconVerticalSolidList"/>
    <dgm:cxn modelId="{5BABA389-A2A7-4AD0-85D0-3088DFF79BD5}" srcId="{442C482D-70BF-4EE3-B95E-CCD96643FA0B}" destId="{0F47A2C4-308D-45C5-9D01-C5955DA8F668}" srcOrd="0" destOrd="0" parTransId="{0E34173A-3B1C-4A96-8FC9-929AC234051A}" sibTransId="{2273BDE7-CCCD-4808-95B6-83180737264E}"/>
    <dgm:cxn modelId="{A21AB694-1DD5-4E5F-AB48-40EB91B80638}" type="presOf" srcId="{0F47A2C4-308D-45C5-9D01-C5955DA8F668}" destId="{B6E65A38-A87E-4FC0-B039-40AC547F1786}" srcOrd="0" destOrd="0" presId="urn:microsoft.com/office/officeart/2018/2/layout/IconVerticalSolidList"/>
    <dgm:cxn modelId="{8A5C7ED1-6155-4050-8555-36266F923DDA}" type="presOf" srcId="{61251DB0-66A1-4C1D-A714-EC2614918AAC}" destId="{0E878AB5-C3E2-45CD-A783-D87230BCB5B1}" srcOrd="0" destOrd="0" presId="urn:microsoft.com/office/officeart/2018/2/layout/IconVerticalSolidList"/>
    <dgm:cxn modelId="{4BA6E7D2-F0E4-413E-B730-E7CCB3A061F5}" type="presOf" srcId="{5BF6AD0D-00A7-4E3F-84FC-5214AF6834FA}" destId="{A574769C-A99E-42C8-B6D9-88BA6A8281F9}" srcOrd="0" destOrd="0" presId="urn:microsoft.com/office/officeart/2018/2/layout/IconVerticalSolidList"/>
    <dgm:cxn modelId="{1265BAFC-B2F8-4D44-A328-1C223D3DB6BA}" type="presOf" srcId="{D106096B-B60C-400C-87EE-ECA3489AA8BB}" destId="{FC3930B7-9005-4876-B4CA-A86B5914D8E8}" srcOrd="0" destOrd="0" presId="urn:microsoft.com/office/officeart/2018/2/layout/IconVerticalSolidList"/>
    <dgm:cxn modelId="{D53CAB29-A0A4-407D-B299-F6C731F45D1A}" type="presParOf" srcId="{8E8E29BB-2AE0-4BDB-BC0E-E3485E6CE2F7}" destId="{E4EDCAB7-B063-48A2-A64F-5E7FAFF3F7C4}" srcOrd="0" destOrd="0" presId="urn:microsoft.com/office/officeart/2018/2/layout/IconVerticalSolidList"/>
    <dgm:cxn modelId="{B7D036B9-984F-4ABB-BEF8-6906A7B79687}" type="presParOf" srcId="{E4EDCAB7-B063-48A2-A64F-5E7FAFF3F7C4}" destId="{4129A297-89FB-4631-A1E7-E2E5366763C8}" srcOrd="0" destOrd="0" presId="urn:microsoft.com/office/officeart/2018/2/layout/IconVerticalSolidList"/>
    <dgm:cxn modelId="{AC34E4D6-0313-4CC4-9B43-417C9B65D680}" type="presParOf" srcId="{E4EDCAB7-B063-48A2-A64F-5E7FAFF3F7C4}" destId="{D442A1C8-2908-4147-8DB6-547CAFB0B49A}" srcOrd="1" destOrd="0" presId="urn:microsoft.com/office/officeart/2018/2/layout/IconVerticalSolidList"/>
    <dgm:cxn modelId="{2F062683-33AC-4607-B558-816290883C46}" type="presParOf" srcId="{E4EDCAB7-B063-48A2-A64F-5E7FAFF3F7C4}" destId="{E735B2FD-43B6-409F-8E5B-DDEA3EF88C76}" srcOrd="2" destOrd="0" presId="urn:microsoft.com/office/officeart/2018/2/layout/IconVerticalSolidList"/>
    <dgm:cxn modelId="{D4F4BE7E-A01B-4105-8338-08AD92E93B24}" type="presParOf" srcId="{E4EDCAB7-B063-48A2-A64F-5E7FAFF3F7C4}" destId="{B6E65A38-A87E-4FC0-B039-40AC547F1786}" srcOrd="3" destOrd="0" presId="urn:microsoft.com/office/officeart/2018/2/layout/IconVerticalSolidList"/>
    <dgm:cxn modelId="{DA26879D-EB9E-4E29-9C69-CCE7763D10BC}" type="presParOf" srcId="{8E8E29BB-2AE0-4BDB-BC0E-E3485E6CE2F7}" destId="{0E4369B9-1BE3-4656-8707-ED03DC84DEE4}" srcOrd="1" destOrd="0" presId="urn:microsoft.com/office/officeart/2018/2/layout/IconVerticalSolidList"/>
    <dgm:cxn modelId="{29C4B730-8799-4471-B172-B62946C35422}" type="presParOf" srcId="{8E8E29BB-2AE0-4BDB-BC0E-E3485E6CE2F7}" destId="{91E12DD6-77F8-4ABF-9258-EB181A754A0F}" srcOrd="2" destOrd="0" presId="urn:microsoft.com/office/officeart/2018/2/layout/IconVerticalSolidList"/>
    <dgm:cxn modelId="{071321E5-B7CE-4380-9541-0E9E2BCB885E}" type="presParOf" srcId="{91E12DD6-77F8-4ABF-9258-EB181A754A0F}" destId="{62335CFA-E4D9-4739-A9D1-E8A7D04E3966}" srcOrd="0" destOrd="0" presId="urn:microsoft.com/office/officeart/2018/2/layout/IconVerticalSolidList"/>
    <dgm:cxn modelId="{F7D1F07B-B1BB-4265-9966-2C2055D94493}" type="presParOf" srcId="{91E12DD6-77F8-4ABF-9258-EB181A754A0F}" destId="{9BA52EF6-9814-4B42-A210-20EBB579CF48}" srcOrd="1" destOrd="0" presId="urn:microsoft.com/office/officeart/2018/2/layout/IconVerticalSolidList"/>
    <dgm:cxn modelId="{0B463228-9682-4E8D-87B2-946C4CEB6AB4}" type="presParOf" srcId="{91E12DD6-77F8-4ABF-9258-EB181A754A0F}" destId="{FD1CD044-6618-4669-ADFF-FFF29251D04A}" srcOrd="2" destOrd="0" presId="urn:microsoft.com/office/officeart/2018/2/layout/IconVerticalSolidList"/>
    <dgm:cxn modelId="{D6F0364E-BBFB-4CEE-93E1-A2264C26613A}" type="presParOf" srcId="{91E12DD6-77F8-4ABF-9258-EB181A754A0F}" destId="{A574769C-A99E-42C8-B6D9-88BA6A8281F9}" srcOrd="3" destOrd="0" presId="urn:microsoft.com/office/officeart/2018/2/layout/IconVerticalSolidList"/>
    <dgm:cxn modelId="{A7F7FA1F-A442-4B0C-9FCD-5C6E3E65C71F}" type="presParOf" srcId="{8E8E29BB-2AE0-4BDB-BC0E-E3485E6CE2F7}" destId="{B253B820-5297-4075-BCCC-AB50222A9CF9}" srcOrd="3" destOrd="0" presId="urn:microsoft.com/office/officeart/2018/2/layout/IconVerticalSolidList"/>
    <dgm:cxn modelId="{5CC1A95E-B9FB-4C73-8AD7-548E6C80496B}" type="presParOf" srcId="{8E8E29BB-2AE0-4BDB-BC0E-E3485E6CE2F7}" destId="{932FBCC0-A30F-473B-9BC4-6B2357822C7F}" srcOrd="4" destOrd="0" presId="urn:microsoft.com/office/officeart/2018/2/layout/IconVerticalSolidList"/>
    <dgm:cxn modelId="{CE79E35D-B19F-41EF-B707-8979413C6A7F}" type="presParOf" srcId="{932FBCC0-A30F-473B-9BC4-6B2357822C7F}" destId="{2A9E1238-9635-4643-8CCF-6B011D28BAEF}" srcOrd="0" destOrd="0" presId="urn:microsoft.com/office/officeart/2018/2/layout/IconVerticalSolidList"/>
    <dgm:cxn modelId="{E8BD8F65-89F7-4C42-B6E7-A0150A6B98DA}" type="presParOf" srcId="{932FBCC0-A30F-473B-9BC4-6B2357822C7F}" destId="{E5082476-DF34-402F-9F56-F9D567298BCF}" srcOrd="1" destOrd="0" presId="urn:microsoft.com/office/officeart/2018/2/layout/IconVerticalSolidList"/>
    <dgm:cxn modelId="{F9D22CFB-587E-4E31-B8C9-E6F6F023F427}" type="presParOf" srcId="{932FBCC0-A30F-473B-9BC4-6B2357822C7F}" destId="{225DEC14-4CE8-459E-AB2E-B6D70D8FC196}" srcOrd="2" destOrd="0" presId="urn:microsoft.com/office/officeart/2018/2/layout/IconVerticalSolidList"/>
    <dgm:cxn modelId="{3CBF545A-907E-4DE9-B54C-EC87DC5097A7}" type="presParOf" srcId="{932FBCC0-A30F-473B-9BC4-6B2357822C7F}" destId="{0E878AB5-C3E2-45CD-A783-D87230BCB5B1}" srcOrd="3" destOrd="0" presId="urn:microsoft.com/office/officeart/2018/2/layout/IconVerticalSolidList"/>
    <dgm:cxn modelId="{BE169577-3EAC-4053-B5BC-7602E0CA7CA9}" type="presParOf" srcId="{8E8E29BB-2AE0-4BDB-BC0E-E3485E6CE2F7}" destId="{6B941B2E-DD19-4985-91A9-F06FB9E7F4BF}" srcOrd="5" destOrd="0" presId="urn:microsoft.com/office/officeart/2018/2/layout/IconVerticalSolidList"/>
    <dgm:cxn modelId="{2CCAA35C-9B60-46AF-AB27-78FC3CEEC555}" type="presParOf" srcId="{8E8E29BB-2AE0-4BDB-BC0E-E3485E6CE2F7}" destId="{9EDEC821-87C7-4DBF-B386-5567D35EBF55}" srcOrd="6" destOrd="0" presId="urn:microsoft.com/office/officeart/2018/2/layout/IconVerticalSolidList"/>
    <dgm:cxn modelId="{A0E9397D-FC16-48A4-977D-E0B11383D182}" type="presParOf" srcId="{9EDEC821-87C7-4DBF-B386-5567D35EBF55}" destId="{8F8AF3F1-80FD-4047-A5A9-B450D95A0086}" srcOrd="0" destOrd="0" presId="urn:microsoft.com/office/officeart/2018/2/layout/IconVerticalSolidList"/>
    <dgm:cxn modelId="{217F0C82-FA5A-4019-BF6A-AE16A0B4B08B}" type="presParOf" srcId="{9EDEC821-87C7-4DBF-B386-5567D35EBF55}" destId="{BB510F8A-5991-40B8-8744-4E79EAFDA0AE}" srcOrd="1" destOrd="0" presId="urn:microsoft.com/office/officeart/2018/2/layout/IconVerticalSolidList"/>
    <dgm:cxn modelId="{7B69272A-7E18-40F3-AD67-A67955940FB2}" type="presParOf" srcId="{9EDEC821-87C7-4DBF-B386-5567D35EBF55}" destId="{FD1EBD10-4B3F-4066-809E-F116A9E3E577}" srcOrd="2" destOrd="0" presId="urn:microsoft.com/office/officeart/2018/2/layout/IconVerticalSolidList"/>
    <dgm:cxn modelId="{99478C02-FC39-4AD9-AE1A-D2C5BEABEFD2}" type="presParOf" srcId="{9EDEC821-87C7-4DBF-B386-5567D35EBF55}" destId="{FC3930B7-9005-4876-B4CA-A86B5914D8E8}" srcOrd="3" destOrd="0" presId="urn:microsoft.com/office/officeart/2018/2/layout/IconVerticalSolidList"/>
    <dgm:cxn modelId="{E421553C-A315-4E42-94A8-D5E721274769}" type="presParOf" srcId="{8E8E29BB-2AE0-4BDB-BC0E-E3485E6CE2F7}" destId="{3F9C3456-ECEC-4509-BA6C-5FE29703D2F3}" srcOrd="7" destOrd="0" presId="urn:microsoft.com/office/officeart/2018/2/layout/IconVerticalSolidList"/>
    <dgm:cxn modelId="{66365995-9F2A-4F3A-BFD7-A1B3F751EE37}" type="presParOf" srcId="{8E8E29BB-2AE0-4BDB-BC0E-E3485E6CE2F7}" destId="{A34B5613-2C7F-4B17-9D6D-4207C548D94C}" srcOrd="8" destOrd="0" presId="urn:microsoft.com/office/officeart/2018/2/layout/IconVerticalSolidList"/>
    <dgm:cxn modelId="{0D10CDB2-04A1-4636-8ABC-9FBB66AD8FAA}" type="presParOf" srcId="{A34B5613-2C7F-4B17-9D6D-4207C548D94C}" destId="{70CDDDEE-F926-4B55-B6CA-CD6DFCDAD843}" srcOrd="0" destOrd="0" presId="urn:microsoft.com/office/officeart/2018/2/layout/IconVerticalSolidList"/>
    <dgm:cxn modelId="{12083955-44BC-4B4D-B940-D4DFA30963DF}" type="presParOf" srcId="{A34B5613-2C7F-4B17-9D6D-4207C548D94C}" destId="{3AC6D309-FC02-461B-AA54-6E97C5E02AF7}" srcOrd="1" destOrd="0" presId="urn:microsoft.com/office/officeart/2018/2/layout/IconVerticalSolidList"/>
    <dgm:cxn modelId="{4CD88D31-C673-4DB1-9147-D73382B92B2F}" type="presParOf" srcId="{A34B5613-2C7F-4B17-9D6D-4207C548D94C}" destId="{45E30A45-FCC9-4431-B5C2-6B33C445BA46}" srcOrd="2" destOrd="0" presId="urn:microsoft.com/office/officeart/2018/2/layout/IconVerticalSolidList"/>
    <dgm:cxn modelId="{2AB291CC-6566-4CF7-9603-E15D48E30738}" type="presParOf" srcId="{A34B5613-2C7F-4B17-9D6D-4207C548D94C}" destId="{D4F40CED-FBC2-4837-927C-77411A472F2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359751-2724-4A54-A1E9-E04B0673D82A}" type="doc">
      <dgm:prSet loTypeId="urn:microsoft.com/office/officeart/2005/8/layout/vList2" loCatId="list" qsTypeId="urn:microsoft.com/office/officeart/2005/8/quickstyle/simple2" qsCatId="simple" csTypeId="urn:microsoft.com/office/officeart/2005/8/colors/accent0_3" csCatId="mainScheme"/>
      <dgm:spPr/>
      <dgm:t>
        <a:bodyPr/>
        <a:lstStyle/>
        <a:p>
          <a:endParaRPr lang="en-US"/>
        </a:p>
      </dgm:t>
    </dgm:pt>
    <dgm:pt modelId="{BE670379-9BF7-4743-BBA9-830C416012FE}">
      <dgm:prSet/>
      <dgm:spPr/>
      <dgm:t>
        <a:bodyPr/>
        <a:lstStyle/>
        <a:p>
          <a:r>
            <a:rPr lang="en-US"/>
            <a:t>Kevin McMahon</a:t>
          </a:r>
        </a:p>
      </dgm:t>
    </dgm:pt>
    <dgm:pt modelId="{306CEC39-C651-442B-9C8B-0C08B71F6B82}" type="parTrans" cxnId="{F69C57BB-4916-4F99-AF15-B452E6D02BED}">
      <dgm:prSet/>
      <dgm:spPr/>
      <dgm:t>
        <a:bodyPr/>
        <a:lstStyle/>
        <a:p>
          <a:endParaRPr lang="en-US"/>
        </a:p>
      </dgm:t>
    </dgm:pt>
    <dgm:pt modelId="{20D73DD1-346F-4631-B0B3-240699244B29}" type="sibTrans" cxnId="{F69C57BB-4916-4F99-AF15-B452E6D02BED}">
      <dgm:prSet/>
      <dgm:spPr/>
      <dgm:t>
        <a:bodyPr/>
        <a:lstStyle/>
        <a:p>
          <a:endParaRPr lang="en-US"/>
        </a:p>
      </dgm:t>
    </dgm:pt>
    <dgm:pt modelId="{0E029BDD-A24F-4931-8318-306C778F8807}">
      <dgm:prSet/>
      <dgm:spPr/>
      <dgm:t>
        <a:bodyPr/>
        <a:lstStyle/>
        <a:p>
          <a:r>
            <a:rPr lang="en-US" b="1"/>
            <a:t>Email: </a:t>
          </a:r>
          <a:r>
            <a:rPr lang="en-US"/>
            <a:t>kevin.mcmahon@smail.rasmussen.edu</a:t>
          </a:r>
          <a:endParaRPr lang="en-US" dirty="0"/>
        </a:p>
      </dgm:t>
    </dgm:pt>
    <dgm:pt modelId="{6DE737E8-C6C5-4D12-B341-1C6018F66CCB}" type="parTrans" cxnId="{82D02216-BA81-43E8-829A-7231ABA67DF0}">
      <dgm:prSet/>
      <dgm:spPr/>
      <dgm:t>
        <a:bodyPr/>
        <a:lstStyle/>
        <a:p>
          <a:endParaRPr lang="en-US"/>
        </a:p>
      </dgm:t>
    </dgm:pt>
    <dgm:pt modelId="{A881E8B0-B66B-4D42-B19B-340DFAEF9918}" type="sibTrans" cxnId="{82D02216-BA81-43E8-829A-7231ABA67DF0}">
      <dgm:prSet/>
      <dgm:spPr/>
      <dgm:t>
        <a:bodyPr/>
        <a:lstStyle/>
        <a:p>
          <a:endParaRPr lang="en-US"/>
        </a:p>
      </dgm:t>
    </dgm:pt>
    <dgm:pt modelId="{8BCB2C8E-BBBF-4A88-BAD0-01654C4A7312}" type="pres">
      <dgm:prSet presAssocID="{D4359751-2724-4A54-A1E9-E04B0673D82A}" presName="linear" presStyleCnt="0">
        <dgm:presLayoutVars>
          <dgm:animLvl val="lvl"/>
          <dgm:resizeHandles val="exact"/>
        </dgm:presLayoutVars>
      </dgm:prSet>
      <dgm:spPr/>
    </dgm:pt>
    <dgm:pt modelId="{4A556ECD-850E-4489-813F-496CA029FB9F}" type="pres">
      <dgm:prSet presAssocID="{BE670379-9BF7-4743-BBA9-830C416012FE}" presName="parentText" presStyleLbl="node1" presStyleIdx="0" presStyleCnt="2">
        <dgm:presLayoutVars>
          <dgm:chMax val="0"/>
          <dgm:bulletEnabled val="1"/>
        </dgm:presLayoutVars>
      </dgm:prSet>
      <dgm:spPr/>
    </dgm:pt>
    <dgm:pt modelId="{F35DFE32-8A1A-4277-83DE-84A16286A250}" type="pres">
      <dgm:prSet presAssocID="{20D73DD1-346F-4631-B0B3-240699244B29}" presName="spacer" presStyleCnt="0"/>
      <dgm:spPr/>
    </dgm:pt>
    <dgm:pt modelId="{7AE7F64D-C428-4A0B-A5A3-0C49F0FC3B30}" type="pres">
      <dgm:prSet presAssocID="{0E029BDD-A24F-4931-8318-306C778F8807}" presName="parentText" presStyleLbl="node1" presStyleIdx="1" presStyleCnt="2">
        <dgm:presLayoutVars>
          <dgm:chMax val="0"/>
          <dgm:bulletEnabled val="1"/>
        </dgm:presLayoutVars>
      </dgm:prSet>
      <dgm:spPr/>
    </dgm:pt>
  </dgm:ptLst>
  <dgm:cxnLst>
    <dgm:cxn modelId="{82D02216-BA81-43E8-829A-7231ABA67DF0}" srcId="{D4359751-2724-4A54-A1E9-E04B0673D82A}" destId="{0E029BDD-A24F-4931-8318-306C778F8807}" srcOrd="1" destOrd="0" parTransId="{6DE737E8-C6C5-4D12-B341-1C6018F66CCB}" sibTransId="{A881E8B0-B66B-4D42-B19B-340DFAEF9918}"/>
    <dgm:cxn modelId="{61970829-4FF5-4C9D-8862-3A97AB547FDE}" type="presOf" srcId="{BE670379-9BF7-4743-BBA9-830C416012FE}" destId="{4A556ECD-850E-4489-813F-496CA029FB9F}" srcOrd="0" destOrd="0" presId="urn:microsoft.com/office/officeart/2005/8/layout/vList2"/>
    <dgm:cxn modelId="{FB0F0F61-60D9-4D9C-8B4E-70F5939679D0}" type="presOf" srcId="{D4359751-2724-4A54-A1E9-E04B0673D82A}" destId="{8BCB2C8E-BBBF-4A88-BAD0-01654C4A7312}" srcOrd="0" destOrd="0" presId="urn:microsoft.com/office/officeart/2005/8/layout/vList2"/>
    <dgm:cxn modelId="{F69C57BB-4916-4F99-AF15-B452E6D02BED}" srcId="{D4359751-2724-4A54-A1E9-E04B0673D82A}" destId="{BE670379-9BF7-4743-BBA9-830C416012FE}" srcOrd="0" destOrd="0" parTransId="{306CEC39-C651-442B-9C8B-0C08B71F6B82}" sibTransId="{20D73DD1-346F-4631-B0B3-240699244B29}"/>
    <dgm:cxn modelId="{880C94F9-C372-4A52-9857-1E3FB8EFB9EB}" type="presOf" srcId="{0E029BDD-A24F-4931-8318-306C778F8807}" destId="{7AE7F64D-C428-4A0B-A5A3-0C49F0FC3B30}" srcOrd="0" destOrd="0" presId="urn:microsoft.com/office/officeart/2005/8/layout/vList2"/>
    <dgm:cxn modelId="{9745F548-0B8C-421D-8F43-BF9726D18203}" type="presParOf" srcId="{8BCB2C8E-BBBF-4A88-BAD0-01654C4A7312}" destId="{4A556ECD-850E-4489-813F-496CA029FB9F}" srcOrd="0" destOrd="0" presId="urn:microsoft.com/office/officeart/2005/8/layout/vList2"/>
    <dgm:cxn modelId="{684AF822-9042-4B02-898E-852C8E297728}" type="presParOf" srcId="{8BCB2C8E-BBBF-4A88-BAD0-01654C4A7312}" destId="{F35DFE32-8A1A-4277-83DE-84A16286A250}" srcOrd="1" destOrd="0" presId="urn:microsoft.com/office/officeart/2005/8/layout/vList2"/>
    <dgm:cxn modelId="{F3D35032-FCEA-411F-92EC-2C16CDCA1841}" type="presParOf" srcId="{8BCB2C8E-BBBF-4A88-BAD0-01654C4A7312}" destId="{7AE7F64D-C428-4A0B-A5A3-0C49F0FC3B30}"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A297-89FB-4631-A1E7-E2E5366763C8}">
      <dsp:nvSpPr>
        <dsp:cNvPr id="0" name=""/>
        <dsp:cNvSpPr/>
      </dsp:nvSpPr>
      <dsp:spPr>
        <a:xfrm>
          <a:off x="0" y="3262"/>
          <a:ext cx="4988440" cy="6948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42A1C8-2908-4147-8DB6-547CAFB0B49A}">
      <dsp:nvSpPr>
        <dsp:cNvPr id="0" name=""/>
        <dsp:cNvSpPr/>
      </dsp:nvSpPr>
      <dsp:spPr>
        <a:xfrm>
          <a:off x="210187" y="159599"/>
          <a:ext cx="382158" cy="3821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E65A38-A87E-4FC0-B039-40AC547F1786}">
      <dsp:nvSpPr>
        <dsp:cNvPr id="0" name=""/>
        <dsp:cNvSpPr/>
      </dsp:nvSpPr>
      <dsp:spPr>
        <a:xfrm>
          <a:off x="802532" y="3262"/>
          <a:ext cx="4185907" cy="694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537" tIns="73537" rIns="73537" bIns="73537" numCol="1" spcCol="1270" anchor="ctr" anchorCtr="0">
          <a:noAutofit/>
        </a:bodyPr>
        <a:lstStyle/>
        <a:p>
          <a:pPr marL="0" lvl="0" indent="0" algn="l" defTabSz="844550">
            <a:lnSpc>
              <a:spcPct val="90000"/>
            </a:lnSpc>
            <a:spcBef>
              <a:spcPct val="0"/>
            </a:spcBef>
            <a:spcAft>
              <a:spcPct val="35000"/>
            </a:spcAft>
            <a:buNone/>
          </a:pPr>
          <a:r>
            <a:rPr lang="en-US" sz="1900" kern="1200"/>
            <a:t>Why web analytics matters and how it supports decisions</a:t>
          </a:r>
        </a:p>
      </dsp:txBody>
      <dsp:txXfrm>
        <a:off x="802532" y="3262"/>
        <a:ext cx="4185907" cy="694833"/>
      </dsp:txXfrm>
    </dsp:sp>
    <dsp:sp modelId="{62335CFA-E4D9-4739-A9D1-E8A7D04E3966}">
      <dsp:nvSpPr>
        <dsp:cNvPr id="0" name=""/>
        <dsp:cNvSpPr/>
      </dsp:nvSpPr>
      <dsp:spPr>
        <a:xfrm>
          <a:off x="0" y="871803"/>
          <a:ext cx="4988440" cy="6948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A52EF6-9814-4B42-A210-20EBB579CF48}">
      <dsp:nvSpPr>
        <dsp:cNvPr id="0" name=""/>
        <dsp:cNvSpPr/>
      </dsp:nvSpPr>
      <dsp:spPr>
        <a:xfrm>
          <a:off x="210187" y="1028140"/>
          <a:ext cx="382158" cy="3821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74769C-A99E-42C8-B6D9-88BA6A8281F9}">
      <dsp:nvSpPr>
        <dsp:cNvPr id="0" name=""/>
        <dsp:cNvSpPr/>
      </dsp:nvSpPr>
      <dsp:spPr>
        <a:xfrm>
          <a:off x="802532" y="871803"/>
          <a:ext cx="4185907" cy="694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537" tIns="73537" rIns="73537" bIns="73537" numCol="1" spcCol="1270" anchor="ctr" anchorCtr="0">
          <a:noAutofit/>
        </a:bodyPr>
        <a:lstStyle/>
        <a:p>
          <a:pPr marL="0" lvl="0" indent="0" algn="l" defTabSz="844550">
            <a:lnSpc>
              <a:spcPct val="90000"/>
            </a:lnSpc>
            <a:spcBef>
              <a:spcPct val="0"/>
            </a:spcBef>
            <a:spcAft>
              <a:spcPct val="35000"/>
            </a:spcAft>
            <a:buNone/>
          </a:pPr>
          <a:r>
            <a:rPr lang="en-US" sz="1900" kern="1200"/>
            <a:t>Big Data challenges, solutions, and real-world examples</a:t>
          </a:r>
        </a:p>
      </dsp:txBody>
      <dsp:txXfrm>
        <a:off x="802532" y="871803"/>
        <a:ext cx="4185907" cy="694833"/>
      </dsp:txXfrm>
    </dsp:sp>
    <dsp:sp modelId="{2A9E1238-9635-4643-8CCF-6B011D28BAEF}">
      <dsp:nvSpPr>
        <dsp:cNvPr id="0" name=""/>
        <dsp:cNvSpPr/>
      </dsp:nvSpPr>
      <dsp:spPr>
        <a:xfrm>
          <a:off x="0" y="1740344"/>
          <a:ext cx="4988440" cy="6948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082476-DF34-402F-9F56-F9D567298BCF}">
      <dsp:nvSpPr>
        <dsp:cNvPr id="0" name=""/>
        <dsp:cNvSpPr/>
      </dsp:nvSpPr>
      <dsp:spPr>
        <a:xfrm>
          <a:off x="210187" y="1896682"/>
          <a:ext cx="382158" cy="3821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878AB5-C3E2-45CD-A783-D87230BCB5B1}">
      <dsp:nvSpPr>
        <dsp:cNvPr id="0" name=""/>
        <dsp:cNvSpPr/>
      </dsp:nvSpPr>
      <dsp:spPr>
        <a:xfrm>
          <a:off x="802532" y="1740344"/>
          <a:ext cx="4185907" cy="694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537" tIns="73537" rIns="73537" bIns="73537" numCol="1" spcCol="1270" anchor="ctr" anchorCtr="0">
          <a:noAutofit/>
        </a:bodyPr>
        <a:lstStyle/>
        <a:p>
          <a:pPr marL="0" lvl="0" indent="0" algn="l" defTabSz="844550">
            <a:lnSpc>
              <a:spcPct val="90000"/>
            </a:lnSpc>
            <a:spcBef>
              <a:spcPct val="0"/>
            </a:spcBef>
            <a:spcAft>
              <a:spcPct val="35000"/>
            </a:spcAft>
            <a:buNone/>
          </a:pPr>
          <a:r>
            <a:rPr lang="en-US" sz="1900" kern="1200"/>
            <a:t>Tool rating chart with a color key</a:t>
          </a:r>
        </a:p>
      </dsp:txBody>
      <dsp:txXfrm>
        <a:off x="802532" y="1740344"/>
        <a:ext cx="4185907" cy="694833"/>
      </dsp:txXfrm>
    </dsp:sp>
    <dsp:sp modelId="{8F8AF3F1-80FD-4047-A5A9-B450D95A0086}">
      <dsp:nvSpPr>
        <dsp:cNvPr id="0" name=""/>
        <dsp:cNvSpPr/>
      </dsp:nvSpPr>
      <dsp:spPr>
        <a:xfrm>
          <a:off x="0" y="2608886"/>
          <a:ext cx="4988440" cy="6948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510F8A-5991-40B8-8744-4E79EAFDA0AE}">
      <dsp:nvSpPr>
        <dsp:cNvPr id="0" name=""/>
        <dsp:cNvSpPr/>
      </dsp:nvSpPr>
      <dsp:spPr>
        <a:xfrm>
          <a:off x="210187" y="2765223"/>
          <a:ext cx="382158" cy="38215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3930B7-9005-4876-B4CA-A86B5914D8E8}">
      <dsp:nvSpPr>
        <dsp:cNvPr id="0" name=""/>
        <dsp:cNvSpPr/>
      </dsp:nvSpPr>
      <dsp:spPr>
        <a:xfrm>
          <a:off x="802532" y="2608886"/>
          <a:ext cx="4185907" cy="694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537" tIns="73537" rIns="73537" bIns="73537" numCol="1" spcCol="1270" anchor="ctr" anchorCtr="0">
          <a:noAutofit/>
        </a:bodyPr>
        <a:lstStyle/>
        <a:p>
          <a:pPr marL="0" lvl="0" indent="0" algn="l" defTabSz="844550">
            <a:lnSpc>
              <a:spcPct val="90000"/>
            </a:lnSpc>
            <a:spcBef>
              <a:spcPct val="0"/>
            </a:spcBef>
            <a:spcAft>
              <a:spcPct val="35000"/>
            </a:spcAft>
            <a:buNone/>
          </a:pPr>
          <a:r>
            <a:rPr lang="en-US" sz="1900" kern="1200"/>
            <a:t>Data use policies, privacy, and data ownership</a:t>
          </a:r>
        </a:p>
      </dsp:txBody>
      <dsp:txXfrm>
        <a:off x="802532" y="2608886"/>
        <a:ext cx="4185907" cy="694833"/>
      </dsp:txXfrm>
    </dsp:sp>
    <dsp:sp modelId="{70CDDDEE-F926-4B55-B6CA-CD6DFCDAD843}">
      <dsp:nvSpPr>
        <dsp:cNvPr id="0" name=""/>
        <dsp:cNvSpPr/>
      </dsp:nvSpPr>
      <dsp:spPr>
        <a:xfrm>
          <a:off x="0" y="3477427"/>
          <a:ext cx="4988440" cy="6948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C6D309-FC02-461B-AA54-6E97C5E02AF7}">
      <dsp:nvSpPr>
        <dsp:cNvPr id="0" name=""/>
        <dsp:cNvSpPr/>
      </dsp:nvSpPr>
      <dsp:spPr>
        <a:xfrm>
          <a:off x="210187" y="3633765"/>
          <a:ext cx="382158" cy="38215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F40CED-FBC2-4837-927C-77411A472F2A}">
      <dsp:nvSpPr>
        <dsp:cNvPr id="0" name=""/>
        <dsp:cNvSpPr/>
      </dsp:nvSpPr>
      <dsp:spPr>
        <a:xfrm>
          <a:off x="802532" y="3477427"/>
          <a:ext cx="4185907" cy="694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537" tIns="73537" rIns="73537" bIns="73537" numCol="1" spcCol="1270" anchor="ctr" anchorCtr="0">
          <a:noAutofit/>
        </a:bodyPr>
        <a:lstStyle/>
        <a:p>
          <a:pPr marL="0" lvl="0" indent="0" algn="l" defTabSz="844550">
            <a:lnSpc>
              <a:spcPct val="90000"/>
            </a:lnSpc>
            <a:spcBef>
              <a:spcPct val="0"/>
            </a:spcBef>
            <a:spcAft>
              <a:spcPct val="35000"/>
            </a:spcAft>
            <a:buNone/>
          </a:pPr>
          <a:r>
            <a:rPr lang="en-US" sz="1900" kern="1200"/>
            <a:t>Audience Q&amp;A with prepared answers and contact info</a:t>
          </a:r>
        </a:p>
      </dsp:txBody>
      <dsp:txXfrm>
        <a:off x="802532" y="3477427"/>
        <a:ext cx="4185907" cy="6948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56ECD-850E-4489-813F-496CA029FB9F}">
      <dsp:nvSpPr>
        <dsp:cNvPr id="0" name=""/>
        <dsp:cNvSpPr/>
      </dsp:nvSpPr>
      <dsp:spPr>
        <a:xfrm>
          <a:off x="0" y="829362"/>
          <a:ext cx="2558034" cy="439188"/>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Kevin McMahon</a:t>
          </a:r>
        </a:p>
      </dsp:txBody>
      <dsp:txXfrm>
        <a:off x="21439" y="850801"/>
        <a:ext cx="2515156" cy="396310"/>
      </dsp:txXfrm>
    </dsp:sp>
    <dsp:sp modelId="{7AE7F64D-C428-4A0B-A5A3-0C49F0FC3B30}">
      <dsp:nvSpPr>
        <dsp:cNvPr id="0" name=""/>
        <dsp:cNvSpPr/>
      </dsp:nvSpPr>
      <dsp:spPr>
        <a:xfrm>
          <a:off x="0" y="1300231"/>
          <a:ext cx="2558034" cy="439188"/>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a:t>Email: </a:t>
          </a:r>
          <a:r>
            <a:rPr lang="en-US" sz="1100" kern="1200"/>
            <a:t>kevin.mcmahon@smail.rasmussen.edu</a:t>
          </a:r>
          <a:endParaRPr lang="en-US" sz="1100" kern="1200" dirty="0"/>
        </a:p>
      </dsp:txBody>
      <dsp:txXfrm>
        <a:off x="21439" y="1321670"/>
        <a:ext cx="2515156" cy="396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514062-BE4A-42D0-BBDD-EC17D4C20D77}"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E6D72-36D9-4ED9-8D73-5C0ACDDD9887}" type="slidenum">
              <a:rPr lang="en-US" smtClean="0"/>
              <a:t>‹#›</a:t>
            </a:fld>
            <a:endParaRPr lang="en-US"/>
          </a:p>
        </p:txBody>
      </p:sp>
    </p:spTree>
    <p:extLst>
      <p:ext uri="{BB962C8B-B14F-4D97-AF65-F5344CB8AC3E}">
        <p14:creationId xmlns:p14="http://schemas.microsoft.com/office/powerpoint/2010/main" val="272855909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introduces how web analytics helps organizations understand user behavior, evaluate performance, and make informed decisions. The goal is to explain key analytics concepts in a clearway for both a business and technical audience.</a:t>
            </a:r>
          </a:p>
          <a:p>
            <a:r>
              <a:rPr lang="en-US" dirty="0"/>
              <a:t>We will walk through how data is collected and visualized, why dashboards matter, and how analytics tools support strategy, growth, and accountability. We will also address challenges related to big data, privacy, and ethical use, which are critical in today’s digital environment.</a:t>
            </a:r>
          </a:p>
          <a:p>
            <a:r>
              <a:rPr lang="en-US" dirty="0"/>
              <a:t>By the end of this presentation, the audience should have a solid understanding of how web analytics drives smarter decisions, improves user experiences, and supports long term business value</a:t>
            </a:r>
          </a:p>
        </p:txBody>
      </p:sp>
      <p:sp>
        <p:nvSpPr>
          <p:cNvPr id="4" name="Slide Number Placeholder 3"/>
          <p:cNvSpPr>
            <a:spLocks noGrp="1"/>
          </p:cNvSpPr>
          <p:nvPr>
            <p:ph type="sldNum" sz="quarter" idx="5"/>
          </p:nvPr>
        </p:nvSpPr>
        <p:spPr/>
        <p:txBody>
          <a:bodyPr/>
          <a:lstStyle/>
          <a:p>
            <a:fld id="{1DEE6D72-36D9-4ED9-8D73-5C0ACDDD9887}" type="slidenum">
              <a:rPr lang="en-US" smtClean="0"/>
              <a:t>1</a:t>
            </a:fld>
            <a:endParaRPr lang="en-US"/>
          </a:p>
        </p:txBody>
      </p:sp>
    </p:spTree>
    <p:extLst>
      <p:ext uri="{BB962C8B-B14F-4D97-AF65-F5344CB8AC3E}">
        <p14:creationId xmlns:p14="http://schemas.microsoft.com/office/powerpoint/2010/main" val="1470074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begin by explaining why web analytics matters and how it supports real business decisions, not just reporting.</a:t>
            </a:r>
          </a:p>
          <a:p>
            <a:r>
              <a:rPr lang="en-US" dirty="0"/>
              <a:t>Next, we will cover big data challenges, including how large volumes of data are collected, managed, and turned into usable insights through real examples.</a:t>
            </a:r>
          </a:p>
          <a:p>
            <a:r>
              <a:rPr lang="en-US" dirty="0"/>
              <a:t>We will then review popular web analytics tools using a rating chart with a color key to compare features and usability. After that, we will discuss data use policies, focusing on privacy, responsible data handling, and ownership.</a:t>
            </a:r>
          </a:p>
          <a:p>
            <a:r>
              <a:rPr lang="en-US" dirty="0"/>
              <a:t>Finally, we will close with a Q&amp;A section that addresses common audience questions and provides contact information for follow-up.</a:t>
            </a:r>
          </a:p>
        </p:txBody>
      </p:sp>
      <p:sp>
        <p:nvSpPr>
          <p:cNvPr id="4" name="Slide Number Placeholder 3"/>
          <p:cNvSpPr>
            <a:spLocks noGrp="1"/>
          </p:cNvSpPr>
          <p:nvPr>
            <p:ph type="sldNum" sz="quarter" idx="5"/>
          </p:nvPr>
        </p:nvSpPr>
        <p:spPr/>
        <p:txBody>
          <a:bodyPr/>
          <a:lstStyle/>
          <a:p>
            <a:fld id="{1DEE6D72-36D9-4ED9-8D73-5C0ACDDD9887}" type="slidenum">
              <a:rPr lang="en-US" smtClean="0"/>
              <a:t>2</a:t>
            </a:fld>
            <a:endParaRPr lang="en-US"/>
          </a:p>
        </p:txBody>
      </p:sp>
    </p:spTree>
    <p:extLst>
      <p:ext uri="{BB962C8B-B14F-4D97-AF65-F5344CB8AC3E}">
        <p14:creationId xmlns:p14="http://schemas.microsoft.com/office/powerpoint/2010/main" val="3223637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analytics builds on the agenda we just reviewed by showing how data moves from observation to action. Instead of relying on assumptions, teams can see what users are actually doing in real time.</a:t>
            </a:r>
          </a:p>
          <a:p>
            <a:r>
              <a:rPr lang="en-US" dirty="0"/>
              <a:t>Because digital behavior changes quickly, analytics helps organizations stay grounded in current user activity. Metrics make it easier to prioritize content, product updates, and marketing spend based on evidence rather than opinion.</a:t>
            </a:r>
          </a:p>
          <a:p>
            <a:r>
              <a:rPr lang="en-US" dirty="0"/>
              <a:t>When measurement is consistent, guesswork is reduced and accountability improves. Strong analytics also helps align product, creative, and revenue goals so decisions support clear, measurable outcomes.</a:t>
            </a:r>
          </a:p>
        </p:txBody>
      </p:sp>
      <p:sp>
        <p:nvSpPr>
          <p:cNvPr id="4" name="Slide Number Placeholder 3"/>
          <p:cNvSpPr>
            <a:spLocks noGrp="1"/>
          </p:cNvSpPr>
          <p:nvPr>
            <p:ph type="sldNum" sz="quarter" idx="5"/>
          </p:nvPr>
        </p:nvSpPr>
        <p:spPr/>
        <p:txBody>
          <a:bodyPr/>
          <a:lstStyle/>
          <a:p>
            <a:fld id="{1DEE6D72-36D9-4ED9-8D73-5C0ACDDD9887}" type="slidenum">
              <a:rPr lang="en-US" smtClean="0"/>
              <a:t>3</a:t>
            </a:fld>
            <a:endParaRPr lang="en-US"/>
          </a:p>
        </p:txBody>
      </p:sp>
    </p:spTree>
    <p:extLst>
      <p:ext uri="{BB962C8B-B14F-4D97-AF65-F5344CB8AC3E}">
        <p14:creationId xmlns:p14="http://schemas.microsoft.com/office/powerpoint/2010/main" val="2952366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why analytics matters, this is where the numbers start to turn into real choices.</a:t>
            </a:r>
          </a:p>
          <a:p>
            <a:r>
              <a:rPr lang="en-US" dirty="0"/>
              <a:t>Metrics help teams decide what content to double down on and what no longer serves the audience. When users drop off at a specific point, analytics highlights where the experience needs attention instead of guessing.</a:t>
            </a:r>
          </a:p>
          <a:p>
            <a:r>
              <a:rPr lang="en-US" dirty="0"/>
              <a:t>Growth decisions become clearer by showing which channels actually bring engaged users, not just traffic volume. Revenue decisions also improve because performance data reveals which formats and audience segments convert most effectively.</a:t>
            </a:r>
          </a:p>
          <a:p>
            <a:r>
              <a:rPr lang="en-US" dirty="0"/>
              <a:t>At this stage, analytics is no longer about reporting. It becomes a guide for prioritizing effort, budget, and strategy based on how users truly behave.</a:t>
            </a:r>
          </a:p>
        </p:txBody>
      </p:sp>
      <p:sp>
        <p:nvSpPr>
          <p:cNvPr id="4" name="Slide Number Placeholder 3"/>
          <p:cNvSpPr>
            <a:spLocks noGrp="1"/>
          </p:cNvSpPr>
          <p:nvPr>
            <p:ph type="sldNum" sz="quarter" idx="5"/>
          </p:nvPr>
        </p:nvSpPr>
        <p:spPr/>
        <p:txBody>
          <a:bodyPr/>
          <a:lstStyle/>
          <a:p>
            <a:fld id="{1DEE6D72-36D9-4ED9-8D73-5C0ACDDD9887}" type="slidenum">
              <a:rPr lang="en-US" smtClean="0"/>
              <a:t>4</a:t>
            </a:fld>
            <a:endParaRPr lang="en-US"/>
          </a:p>
        </p:txBody>
      </p:sp>
    </p:spTree>
    <p:extLst>
      <p:ext uri="{BB962C8B-B14F-4D97-AF65-F5344CB8AC3E}">
        <p14:creationId xmlns:p14="http://schemas.microsoft.com/office/powerpoint/2010/main" val="2365434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move deeper into how analytics works in practice, it helps to understand why it is often treated as Big Data.</a:t>
            </a:r>
          </a:p>
          <a:p>
            <a:r>
              <a:rPr lang="en-US" dirty="0"/>
              <a:t>Even a single website or platform can generate massive volumes of information. Every click, view, scroll, and interaction adds another event to track, and those events stack up quickly. At the same time, this data arrives continuously, which means it has to be processed fast enough to stay useful for decision making.</a:t>
            </a:r>
          </a:p>
          <a:p>
            <a:r>
              <a:rPr lang="en-US" dirty="0"/>
              <a:t>The challenge grows as data comes from many places. Web activity, mobile apps, advertising platforms, CRM systems, subscriptions, and support tools all feed into analytics. Bringing those sources together is powerful, but it also introduces risk when definitions or tracking rules are not consistent.</a:t>
            </a:r>
          </a:p>
          <a:p>
            <a:r>
              <a:rPr lang="en-US" dirty="0"/>
              <a:t>Quality becomes the final pressure point. Bots, missing tags, sampling, or unclear metric definitions can distort results. If the data quality is weak, even well designed dashboards can point teams in the wrong direction. This is why strong analytics practices focus as much on data reliability as they do on visual presentation.</a:t>
            </a:r>
          </a:p>
        </p:txBody>
      </p:sp>
      <p:sp>
        <p:nvSpPr>
          <p:cNvPr id="4" name="Slide Number Placeholder 3"/>
          <p:cNvSpPr>
            <a:spLocks noGrp="1"/>
          </p:cNvSpPr>
          <p:nvPr>
            <p:ph type="sldNum" sz="quarter" idx="5"/>
          </p:nvPr>
        </p:nvSpPr>
        <p:spPr/>
        <p:txBody>
          <a:bodyPr/>
          <a:lstStyle/>
          <a:p>
            <a:fld id="{1DEE6D72-36D9-4ED9-8D73-5C0ACDDD9887}" type="slidenum">
              <a:rPr lang="en-US" smtClean="0"/>
              <a:t>5</a:t>
            </a:fld>
            <a:endParaRPr lang="en-US"/>
          </a:p>
        </p:txBody>
      </p:sp>
    </p:spTree>
    <p:extLst>
      <p:ext uri="{BB962C8B-B14F-4D97-AF65-F5344CB8AC3E}">
        <p14:creationId xmlns:p14="http://schemas.microsoft.com/office/powerpoint/2010/main" val="297037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is where analytics often breaks down first. If events are not defined and tracked correctly, the story the data tells becomes incomplete or misleading. Gaps in tracking plans can hide key user actions, while tag issues may create double counting or missing sessions. Tracking users across devices adds another layer of complexity, especially as privacy and consent rules limit what can be captured. Getting collection right is critical because every report and decision downstream depends on this foundation.</a:t>
            </a:r>
          </a:p>
        </p:txBody>
      </p:sp>
      <p:sp>
        <p:nvSpPr>
          <p:cNvPr id="4" name="Slide Number Placeholder 3"/>
          <p:cNvSpPr>
            <a:spLocks noGrp="1"/>
          </p:cNvSpPr>
          <p:nvPr>
            <p:ph type="sldNum" sz="quarter" idx="5"/>
          </p:nvPr>
        </p:nvSpPr>
        <p:spPr/>
        <p:txBody>
          <a:bodyPr/>
          <a:lstStyle/>
          <a:p>
            <a:fld id="{1DEE6D72-36D9-4ED9-8D73-5C0ACDDD9887}" type="slidenum">
              <a:rPr lang="en-US" smtClean="0"/>
              <a:t>6</a:t>
            </a:fld>
            <a:endParaRPr lang="en-US"/>
          </a:p>
        </p:txBody>
      </p:sp>
    </p:spTree>
    <p:extLst>
      <p:ext uri="{BB962C8B-B14F-4D97-AF65-F5344CB8AC3E}">
        <p14:creationId xmlns:p14="http://schemas.microsoft.com/office/powerpoint/2010/main" val="3855454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data is collected, it has to be stored and processed correctly or the insights fall apart. Raw events need to be retained so teams can audit results and reprocess data when definitions change. Analytics pipelines also have to handle traffic spikes without dropping events. Just as important, transformations must be consistent and documented so metrics stay trustworthy over time. Because this data often includes sensitive behavioral signals, access controls are important to prevent misuse and protect the organization.</a:t>
            </a:r>
          </a:p>
        </p:txBody>
      </p:sp>
      <p:sp>
        <p:nvSpPr>
          <p:cNvPr id="4" name="Slide Number Placeholder 3"/>
          <p:cNvSpPr>
            <a:spLocks noGrp="1"/>
          </p:cNvSpPr>
          <p:nvPr>
            <p:ph type="sldNum" sz="quarter" idx="5"/>
          </p:nvPr>
        </p:nvSpPr>
        <p:spPr/>
        <p:txBody>
          <a:bodyPr/>
          <a:lstStyle/>
          <a:p>
            <a:fld id="{1DEE6D72-36D9-4ED9-8D73-5C0ACDDD9887}" type="slidenum">
              <a:rPr lang="en-US" smtClean="0"/>
              <a:t>7</a:t>
            </a:fld>
            <a:endParaRPr lang="en-US"/>
          </a:p>
        </p:txBody>
      </p:sp>
    </p:spTree>
    <p:extLst>
      <p:ext uri="{BB962C8B-B14F-4D97-AF65-F5344CB8AC3E}">
        <p14:creationId xmlns:p14="http://schemas.microsoft.com/office/powerpoint/2010/main" val="961350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data is processed, the real challenge is turning it into insight that actually drives action. Metrics need to answer real business questions, not just look good in a dashboard. Attribution becomes harder when users move across multiple channels, which is why consistent category definitions matter. Context is what turns numbers into the insights. Understanding content type, audience, and intent helps teams decide what to invest in, what to fix, and what to stop doing. The goal is always a clear next step, not just another metric on a report.</a:t>
            </a:r>
          </a:p>
        </p:txBody>
      </p:sp>
      <p:sp>
        <p:nvSpPr>
          <p:cNvPr id="4" name="Slide Number Placeholder 3"/>
          <p:cNvSpPr>
            <a:spLocks noGrp="1"/>
          </p:cNvSpPr>
          <p:nvPr>
            <p:ph type="sldNum" sz="quarter" idx="5"/>
          </p:nvPr>
        </p:nvSpPr>
        <p:spPr/>
        <p:txBody>
          <a:bodyPr/>
          <a:lstStyle/>
          <a:p>
            <a:fld id="{1DEE6D72-36D9-4ED9-8D73-5C0ACDDD9887}" type="slidenum">
              <a:rPr lang="en-US" smtClean="0"/>
              <a:t>8</a:t>
            </a:fld>
            <a:endParaRPr lang="en-US"/>
          </a:p>
        </p:txBody>
      </p:sp>
    </p:spTree>
    <p:extLst>
      <p:ext uri="{BB962C8B-B14F-4D97-AF65-F5344CB8AC3E}">
        <p14:creationId xmlns:p14="http://schemas.microsoft.com/office/powerpoint/2010/main" val="3050095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know what questions we want to answer, the next challenge is understanding the types of data we work with. Web analytics is not just clean tables. Some data is structured and easy to chart, like views, click-through rate, or revenue by day. Other data comes in semi-structured formats, such as JSON event payloads from tags and tracking tools. There is also unstructured data, like user comments or support tickets, which adds context but requires interpretation. Media data, like thumbnails and retention curves, adds another layer by showing how users actually engage. Each format requires different tools and handling to turn raw data into usable insight.</a:t>
            </a:r>
          </a:p>
        </p:txBody>
      </p:sp>
      <p:sp>
        <p:nvSpPr>
          <p:cNvPr id="4" name="Slide Number Placeholder 3"/>
          <p:cNvSpPr>
            <a:spLocks noGrp="1"/>
          </p:cNvSpPr>
          <p:nvPr>
            <p:ph type="sldNum" sz="quarter" idx="5"/>
          </p:nvPr>
        </p:nvSpPr>
        <p:spPr/>
        <p:txBody>
          <a:bodyPr/>
          <a:lstStyle/>
          <a:p>
            <a:fld id="{1DEE6D72-36D9-4ED9-8D73-5C0ACDDD9887}" type="slidenum">
              <a:rPr lang="en-US" smtClean="0"/>
              <a:t>9</a:t>
            </a:fld>
            <a:endParaRPr lang="en-US"/>
          </a:p>
        </p:txBody>
      </p:sp>
    </p:spTree>
    <p:extLst>
      <p:ext uri="{BB962C8B-B14F-4D97-AF65-F5344CB8AC3E}">
        <p14:creationId xmlns:p14="http://schemas.microsoft.com/office/powerpoint/2010/main" val="208425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understand the different data formats, the real value comes from combining them. Looking at one metric in isolation can be misleading, but joining sources adds context. For example, a traffic source may look strong by views alone, but pairing it with watch time or retention shows whether that traffic is actually valuable. High click-through rate combined with poor retention can signal clickbait or expectation mismatch. When revenue, content type, and posting timing are joined together, patterns start to explain why spikes and dips happen. This is where analytics moves from reporting numbers to explaining behavior and guiding smarter decisions.</a:t>
            </a:r>
          </a:p>
        </p:txBody>
      </p:sp>
      <p:sp>
        <p:nvSpPr>
          <p:cNvPr id="4" name="Slide Number Placeholder 3"/>
          <p:cNvSpPr>
            <a:spLocks noGrp="1"/>
          </p:cNvSpPr>
          <p:nvPr>
            <p:ph type="sldNum" sz="quarter" idx="5"/>
          </p:nvPr>
        </p:nvSpPr>
        <p:spPr/>
        <p:txBody>
          <a:bodyPr/>
          <a:lstStyle/>
          <a:p>
            <a:fld id="{1DEE6D72-36D9-4ED9-8D73-5C0ACDDD9887}" type="slidenum">
              <a:rPr lang="en-US" smtClean="0"/>
              <a:t>10</a:t>
            </a:fld>
            <a:endParaRPr lang="en-US"/>
          </a:p>
        </p:txBody>
      </p:sp>
    </p:spTree>
    <p:extLst>
      <p:ext uri="{BB962C8B-B14F-4D97-AF65-F5344CB8AC3E}">
        <p14:creationId xmlns:p14="http://schemas.microsoft.com/office/powerpoint/2010/main" val="2564478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data is joined and modeled, dashboards are where teams actually interact with the insights. A good dashboard is designed to answer questions quickly, not just display charts. The most important signals should be visible first, with consistent definitions so numbers do not contradict each other across panels. Design matters because clutter, poor color choices, or inconsistent scales can introduce bias or confusion. Context like time range and audience segment is critical, because without it, teams cannot confidently act on what they see. The goal is faster and better decisions with less guesswork.</a:t>
            </a:r>
          </a:p>
        </p:txBody>
      </p:sp>
      <p:sp>
        <p:nvSpPr>
          <p:cNvPr id="4" name="Slide Number Placeholder 3"/>
          <p:cNvSpPr>
            <a:spLocks noGrp="1"/>
          </p:cNvSpPr>
          <p:nvPr>
            <p:ph type="sldNum" sz="quarter" idx="5"/>
          </p:nvPr>
        </p:nvSpPr>
        <p:spPr/>
        <p:txBody>
          <a:bodyPr/>
          <a:lstStyle/>
          <a:p>
            <a:fld id="{1DEE6D72-36D9-4ED9-8D73-5C0ACDDD9887}" type="slidenum">
              <a:rPr lang="en-US" smtClean="0"/>
              <a:t>11</a:t>
            </a:fld>
            <a:endParaRPr lang="en-US"/>
          </a:p>
        </p:txBody>
      </p:sp>
    </p:spTree>
    <p:extLst>
      <p:ext uri="{BB962C8B-B14F-4D97-AF65-F5344CB8AC3E}">
        <p14:creationId xmlns:p14="http://schemas.microsoft.com/office/powerpoint/2010/main" val="3363699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see those dashboard principles applied in a real example. This YouTube channel dashboard pulls multiple metrics together so performance can be understood at a glance. Watch time trends reveal momentum and seasonality, helping identify when content is gaining or losing traction. View comparisons show which uploads are actually driving reach, not just impressions. Subscriber growth confirms whether that engagement is translating into sustained audience growth. Revenue distribution highlights how monetization is balanced across ads, memberships, and premium sources. Together, these views allow a quick scan to spot what is improving, what is slipping, and where action is needed next.</a:t>
            </a:r>
          </a:p>
        </p:txBody>
      </p:sp>
      <p:sp>
        <p:nvSpPr>
          <p:cNvPr id="4" name="Slide Number Placeholder 3"/>
          <p:cNvSpPr>
            <a:spLocks noGrp="1"/>
          </p:cNvSpPr>
          <p:nvPr>
            <p:ph type="sldNum" sz="quarter" idx="5"/>
          </p:nvPr>
        </p:nvSpPr>
        <p:spPr/>
        <p:txBody>
          <a:bodyPr/>
          <a:lstStyle/>
          <a:p>
            <a:fld id="{1DEE6D72-36D9-4ED9-8D73-5C0ACDDD9887}" type="slidenum">
              <a:rPr lang="en-US" smtClean="0"/>
              <a:t>12</a:t>
            </a:fld>
            <a:endParaRPr lang="en-US"/>
          </a:p>
        </p:txBody>
      </p:sp>
    </p:spTree>
    <p:extLst>
      <p:ext uri="{BB962C8B-B14F-4D97-AF65-F5344CB8AC3E}">
        <p14:creationId xmlns:p14="http://schemas.microsoft.com/office/powerpoint/2010/main" val="1982982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seeing how dashboards bring metrics together, the next question is which tools teams rely on to make this possible. Different platforms excel at different parts of the analytics workflow, so the goal is not to crown a single winner but to understand strengths and tradeoffs. Google Analytics 4 stands out for its tight ecosystem integration and reporting depth. Adobe Analytics is designed for large organizations that need advanced segmentation and complex analysis. Looker Studio focuses on flexible dashboards and easy sharing across teams. Tableau excels at visual exploration and uncovering patterns in complex datasets. These tools are rated based on the features that matter most to analytics teams and decision makers, which will be broken down on the next slide.</a:t>
            </a:r>
          </a:p>
        </p:txBody>
      </p:sp>
      <p:sp>
        <p:nvSpPr>
          <p:cNvPr id="4" name="Slide Number Placeholder 3"/>
          <p:cNvSpPr>
            <a:spLocks noGrp="1"/>
          </p:cNvSpPr>
          <p:nvPr>
            <p:ph type="sldNum" sz="quarter" idx="5"/>
          </p:nvPr>
        </p:nvSpPr>
        <p:spPr/>
        <p:txBody>
          <a:bodyPr/>
          <a:lstStyle/>
          <a:p>
            <a:fld id="{1DEE6D72-36D9-4ED9-8D73-5C0ACDDD9887}" type="slidenum">
              <a:rPr lang="en-US" smtClean="0"/>
              <a:t>13</a:t>
            </a:fld>
            <a:endParaRPr lang="en-US"/>
          </a:p>
        </p:txBody>
      </p:sp>
    </p:spTree>
    <p:extLst>
      <p:ext uri="{BB962C8B-B14F-4D97-AF65-F5344CB8AC3E}">
        <p14:creationId xmlns:p14="http://schemas.microsoft.com/office/powerpoint/2010/main" val="4142072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For this chart, we did not invent scores or rely on our own personal opinion. The ratings are based on publicly available third party review data, primarily from G2 comparison pages, which aggregate thousands of verified user reviews across analytics platforms.</a:t>
            </a:r>
          </a:p>
          <a:p>
            <a:r>
              <a:rPr lang="en-US" b="0" dirty="0"/>
              <a:t>G2 reports feature scores on a 0–10 scale for categories such as:</a:t>
            </a:r>
          </a:p>
          <a:p>
            <a:r>
              <a:rPr lang="en-US" b="0" dirty="0"/>
              <a:t>Data visualization</a:t>
            </a:r>
          </a:p>
          <a:p>
            <a:r>
              <a:rPr lang="en-US" b="0" dirty="0"/>
              <a:t>Real time reporting</a:t>
            </a:r>
          </a:p>
          <a:p>
            <a:r>
              <a:rPr lang="en-US" b="0" dirty="0"/>
              <a:t>Ease of use</a:t>
            </a:r>
          </a:p>
          <a:p>
            <a:r>
              <a:rPr lang="en-US" b="0" dirty="0"/>
              <a:t>Customization and reporting flexibility</a:t>
            </a:r>
          </a:p>
          <a:p>
            <a:r>
              <a:rPr lang="en-US" b="0" dirty="0"/>
              <a:t>So, we divided by 2 made it a scale of 1-5.  </a:t>
            </a:r>
          </a:p>
          <a:p>
            <a:endParaRPr lang="en-US" b="0" dirty="0"/>
          </a:p>
          <a:p>
            <a:r>
              <a:rPr lang="en-US" b="1" dirty="0"/>
              <a:t>Google Analytics 4 (GA4)</a:t>
            </a:r>
          </a:p>
          <a:p>
            <a:r>
              <a:rPr lang="en-US" b="0" dirty="0"/>
              <a:t>Data Visualization (4.2): Strong built-in charts and funnels, though less flexible than BI-first tools.</a:t>
            </a:r>
          </a:p>
          <a:p>
            <a:r>
              <a:rPr lang="en-US" b="0" dirty="0"/>
              <a:t>Real-Time Reporting (4.4): One of GA4’s strengths, with near real-time event streaming and live dashboards.</a:t>
            </a:r>
          </a:p>
          <a:p>
            <a:r>
              <a:rPr lang="en-US" b="0" dirty="0"/>
              <a:t>Usability (3.9): Learning curve is steeper due to the event-based model and redesigned interface.</a:t>
            </a:r>
          </a:p>
          <a:p>
            <a:r>
              <a:rPr lang="en-US" b="0" dirty="0"/>
              <a:t>Customization (4.2): Good customization through explorations and </a:t>
            </a:r>
            <a:r>
              <a:rPr lang="en-US" b="0" dirty="0" err="1"/>
              <a:t>BigQuery</a:t>
            </a:r>
            <a:r>
              <a:rPr lang="en-US" b="0" dirty="0"/>
              <a:t> exports, but limited UI flexibility.</a:t>
            </a:r>
          </a:p>
          <a:p>
            <a:r>
              <a:rPr lang="en-US" b="0" dirty="0"/>
              <a:t>Overall: Very strong analytics engine with some usability trade-offs.</a:t>
            </a:r>
          </a:p>
          <a:p>
            <a:br>
              <a:rPr lang="en-US" b="0" dirty="0"/>
            </a:br>
            <a:endParaRPr lang="en-US" b="0" dirty="0"/>
          </a:p>
          <a:p>
            <a:r>
              <a:rPr lang="en-US" b="1" dirty="0"/>
              <a:t>Adobe Analytics</a:t>
            </a:r>
          </a:p>
          <a:p>
            <a:r>
              <a:rPr lang="en-US" b="0" dirty="0"/>
              <a:t>Data Visualization (4.2): Highly capable visual analysis tools within Analysis Workspace.</a:t>
            </a:r>
          </a:p>
          <a:p>
            <a:r>
              <a:rPr lang="en-US" b="0" dirty="0"/>
              <a:t>Real-Time Reporting (4.2): Solid real-time capabilities, though often requires configuration.</a:t>
            </a:r>
          </a:p>
          <a:p>
            <a:r>
              <a:rPr lang="en-US" b="0" dirty="0"/>
              <a:t>Usability (3.8): Powerful but complex; typically requires trained analysts.</a:t>
            </a:r>
          </a:p>
          <a:p>
            <a:r>
              <a:rPr lang="en-US" b="0" dirty="0"/>
              <a:t>Customization (4.2): Extremely flexible segmentation and reporting for enterprise use cases.</a:t>
            </a:r>
          </a:p>
          <a:p>
            <a:r>
              <a:rPr lang="en-US" b="0" dirty="0"/>
              <a:t>Overall: Enterprise-grade power, but complexity lowers ease of use.</a:t>
            </a:r>
          </a:p>
          <a:p>
            <a:br>
              <a:rPr lang="en-US" b="0" dirty="0"/>
            </a:br>
            <a:endParaRPr lang="en-US" b="0" dirty="0"/>
          </a:p>
          <a:p>
            <a:r>
              <a:rPr lang="en-US" b="1" dirty="0"/>
              <a:t>Looker Studio</a:t>
            </a:r>
          </a:p>
          <a:p>
            <a:r>
              <a:rPr lang="en-US" b="0" dirty="0"/>
              <a:t>Data Visualization (4.5): Excellent dashboard visuals and layout flexibility.</a:t>
            </a:r>
          </a:p>
          <a:p>
            <a:r>
              <a:rPr lang="en-US" b="0" dirty="0"/>
              <a:t>Real-Time Reporting (4.3): Near real-time when connected to live data sources.</a:t>
            </a:r>
          </a:p>
          <a:p>
            <a:r>
              <a:rPr lang="en-US" b="0" dirty="0"/>
              <a:t>Usability (4.1): More intuitive than enterprise tools, especially for non-technical users.</a:t>
            </a:r>
          </a:p>
          <a:p>
            <a:r>
              <a:rPr lang="en-US" b="0" dirty="0"/>
              <a:t>Customization (4.6): Very strong customization through calculated fields and connectors.</a:t>
            </a:r>
          </a:p>
          <a:p>
            <a:r>
              <a:rPr lang="en-US" b="0" dirty="0"/>
              <a:t>Overall: Best balance of flexibility and usability for dashboards and reporting.</a:t>
            </a:r>
          </a:p>
          <a:p>
            <a:br>
              <a:rPr lang="en-US" b="0" dirty="0"/>
            </a:br>
            <a:endParaRPr lang="en-US" b="0" dirty="0"/>
          </a:p>
          <a:p>
            <a:r>
              <a:rPr lang="en-US" b="1" dirty="0"/>
              <a:t>Tableau</a:t>
            </a:r>
          </a:p>
          <a:p>
            <a:r>
              <a:rPr lang="en-US" b="0" dirty="0"/>
              <a:t>Data Visualization (4.6): Industry leader in visual analytics and exploratory analysis.</a:t>
            </a:r>
          </a:p>
          <a:p>
            <a:r>
              <a:rPr lang="en-US" b="0" dirty="0"/>
              <a:t>Real-Time Reporting (4.7): Strong live connections and real-time data refresh capabilities.</a:t>
            </a:r>
          </a:p>
          <a:p>
            <a:r>
              <a:rPr lang="en-US" b="0" dirty="0"/>
              <a:t>Usability (4.2): Powerful but requires some learning; more intuitive than Adobe for most users.</a:t>
            </a:r>
          </a:p>
          <a:p>
            <a:r>
              <a:rPr lang="en-US" b="0" dirty="0"/>
              <a:t>Customization (4.6): Highly customizable visuals, calculations, and dashboards.</a:t>
            </a:r>
          </a:p>
          <a:p>
            <a:r>
              <a:rPr lang="en-US" b="0" dirty="0"/>
              <a:t>Overall: Best-in-class visualization and analysis, especially for data exploration.</a:t>
            </a:r>
          </a:p>
          <a:p>
            <a:endParaRPr lang="en-US" b="0" dirty="0"/>
          </a:p>
          <a:p>
            <a:r>
              <a:rPr lang="en-US" b="0" dirty="0"/>
              <a:t>Source I used: https://www.g2.com/</a:t>
            </a:r>
          </a:p>
          <a:p>
            <a:endParaRPr lang="en-US" b="0" dirty="0"/>
          </a:p>
        </p:txBody>
      </p:sp>
      <p:sp>
        <p:nvSpPr>
          <p:cNvPr id="4" name="Slide Number Placeholder 3"/>
          <p:cNvSpPr>
            <a:spLocks noGrp="1"/>
          </p:cNvSpPr>
          <p:nvPr>
            <p:ph type="sldNum" sz="quarter" idx="5"/>
          </p:nvPr>
        </p:nvSpPr>
        <p:spPr/>
        <p:txBody>
          <a:bodyPr/>
          <a:lstStyle/>
          <a:p>
            <a:fld id="{1DEE6D72-36D9-4ED9-8D73-5C0ACDDD9887}" type="slidenum">
              <a:rPr lang="en-US" smtClean="0"/>
              <a:t>14</a:t>
            </a:fld>
            <a:endParaRPr lang="en-US"/>
          </a:p>
        </p:txBody>
      </p:sp>
    </p:spTree>
    <p:extLst>
      <p:ext uri="{BB962C8B-B14F-4D97-AF65-F5344CB8AC3E}">
        <p14:creationId xmlns:p14="http://schemas.microsoft.com/office/powerpoint/2010/main" val="2913429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how analytics tools compare, it is just as important to talk about how the data inside those tools should be handled. Strong analytics without clear data use policies can quickly create legal, ethical, and trust issues. Companies need to be deliberate about why data is collected, limit collection to what is actually needed, and avoid holding onto personal data longer than necessary. Access controls matter because analytics exports can expose sensitive behavior if shared too broadly. Clear policies protect users, but they also protect the business by reducing risk and maintaining credibility with customers and regulators.</a:t>
            </a:r>
          </a:p>
        </p:txBody>
      </p:sp>
      <p:sp>
        <p:nvSpPr>
          <p:cNvPr id="4" name="Slide Number Placeholder 3"/>
          <p:cNvSpPr>
            <a:spLocks noGrp="1"/>
          </p:cNvSpPr>
          <p:nvPr>
            <p:ph type="sldNum" sz="quarter" idx="5"/>
          </p:nvPr>
        </p:nvSpPr>
        <p:spPr/>
        <p:txBody>
          <a:bodyPr/>
          <a:lstStyle/>
          <a:p>
            <a:fld id="{1DEE6D72-36D9-4ED9-8D73-5C0ACDDD9887}" type="slidenum">
              <a:rPr lang="en-US" smtClean="0"/>
              <a:t>15</a:t>
            </a:fld>
            <a:endParaRPr lang="en-US"/>
          </a:p>
        </p:txBody>
      </p:sp>
    </p:spTree>
    <p:extLst>
      <p:ext uri="{BB962C8B-B14F-4D97-AF65-F5344CB8AC3E}">
        <p14:creationId xmlns:p14="http://schemas.microsoft.com/office/powerpoint/2010/main" val="271111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data use policies, this is how responsible use looks in practice. The default should always be aggregated reporting, especially when making trend or performance decisions. Individual-level data should only be used when there is a clear business reason and proper consent in place. Removing identifiers reduces risk without reducing insight. Vendor and integration audits matter because third-party tools can quietly expand data sharing beyond what teams expect. Responsible data handling is not just compliance-driven, it directly supports safer reporting and long-term trust.</a:t>
            </a:r>
          </a:p>
        </p:txBody>
      </p:sp>
      <p:sp>
        <p:nvSpPr>
          <p:cNvPr id="4" name="Slide Number Placeholder 3"/>
          <p:cNvSpPr>
            <a:spLocks noGrp="1"/>
          </p:cNvSpPr>
          <p:nvPr>
            <p:ph type="sldNum" sz="quarter" idx="5"/>
          </p:nvPr>
        </p:nvSpPr>
        <p:spPr/>
        <p:txBody>
          <a:bodyPr/>
          <a:lstStyle/>
          <a:p>
            <a:fld id="{1DEE6D72-36D9-4ED9-8D73-5C0ACDDD9887}" type="slidenum">
              <a:rPr lang="en-US" smtClean="0"/>
              <a:t>16</a:t>
            </a:fld>
            <a:endParaRPr lang="en-US"/>
          </a:p>
        </p:txBody>
      </p:sp>
    </p:spTree>
    <p:extLst>
      <p:ext uri="{BB962C8B-B14F-4D97-AF65-F5344CB8AC3E}">
        <p14:creationId xmlns:p14="http://schemas.microsoft.com/office/powerpoint/2010/main" val="3580666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data is collected and used responsibly, ownership and transparency becomes very important. Teams need to be clear about what data they collect, how it is used, and who is accountable for it. Defining ownership helps prevent confusion when questions arise about accuracy, access, or retention. Consistent metric definitions keep reports aligned across teams so decisions are based on the same understanding. Transparency also supports user rights by making data requests, corrections, and opt-outs easier to manage. Clear ownership ultimately builds trust both internally and with users.</a:t>
            </a:r>
          </a:p>
        </p:txBody>
      </p:sp>
      <p:sp>
        <p:nvSpPr>
          <p:cNvPr id="4" name="Slide Number Placeholder 3"/>
          <p:cNvSpPr>
            <a:spLocks noGrp="1"/>
          </p:cNvSpPr>
          <p:nvPr>
            <p:ph type="sldNum" sz="quarter" idx="5"/>
          </p:nvPr>
        </p:nvSpPr>
        <p:spPr/>
        <p:txBody>
          <a:bodyPr/>
          <a:lstStyle/>
          <a:p>
            <a:fld id="{1DEE6D72-36D9-4ED9-8D73-5C0ACDDD9887}" type="slidenum">
              <a:rPr lang="en-US" smtClean="0"/>
              <a:t>17</a:t>
            </a:fld>
            <a:endParaRPr lang="en-US"/>
          </a:p>
        </p:txBody>
      </p:sp>
    </p:spTree>
    <p:extLst>
      <p:ext uri="{BB962C8B-B14F-4D97-AF65-F5344CB8AC3E}">
        <p14:creationId xmlns:p14="http://schemas.microsoft.com/office/powerpoint/2010/main" val="3176192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part of the 2 slide Q&amp;A. These are two that are very common. The first is the difference between a metric and a KPI. A metric is anything we can measure, but a KPI is selected because it directly supports a business goal and drives a decision. The second question is why two tools can report different numbers for the same period. In most cases, the data itself is not wrong. The differences come from how each tool defines sessions and events, applies attribution rules, filters traffic, or handles sampling. Understanding those definitions matters more than chasing a single number.</a:t>
            </a:r>
          </a:p>
        </p:txBody>
      </p:sp>
      <p:sp>
        <p:nvSpPr>
          <p:cNvPr id="4" name="Slide Number Placeholder 3"/>
          <p:cNvSpPr>
            <a:spLocks noGrp="1"/>
          </p:cNvSpPr>
          <p:nvPr>
            <p:ph type="sldNum" sz="quarter" idx="5"/>
          </p:nvPr>
        </p:nvSpPr>
        <p:spPr/>
        <p:txBody>
          <a:bodyPr/>
          <a:lstStyle/>
          <a:p>
            <a:fld id="{1DEE6D72-36D9-4ED9-8D73-5C0ACDDD9887}" type="slidenum">
              <a:rPr lang="en-US" smtClean="0"/>
              <a:t>18</a:t>
            </a:fld>
            <a:endParaRPr lang="en-US"/>
          </a:p>
        </p:txBody>
      </p:sp>
    </p:spTree>
    <p:extLst>
      <p:ext uri="{BB962C8B-B14F-4D97-AF65-F5344CB8AC3E}">
        <p14:creationId xmlns:p14="http://schemas.microsoft.com/office/powerpoint/2010/main" val="24463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help tie everything together from the presentation. When we talk about avoiding misleading charts, consistency is only part of the solution. Sanity checking means stepping back and asking whether the numbers actually make sense in context.</a:t>
            </a:r>
          </a:p>
          <a:p>
            <a:r>
              <a:rPr lang="en-US" dirty="0"/>
              <a:t>A sanity check is a quick reality test. For example, if revenue suddenly doubles but there was no campaign change, no seasonality shift, and no pricing update, that should raise a flag. If conversion counts are higher than total sessions, or engagement jumps overnight with no clear reason, those are signals to pause and investigate.</a:t>
            </a:r>
          </a:p>
          <a:p>
            <a:r>
              <a:rPr lang="en-US" dirty="0"/>
              <a:t>The second question reinforces data trust. A metric becomes trustworthy when it is clearly defined, behaves logically over time, and aligns with related metrics across tools or reports. When teams do this consistently, they avoid making decisions based on reporting errors instead of real performance.</a:t>
            </a:r>
          </a:p>
        </p:txBody>
      </p:sp>
      <p:sp>
        <p:nvSpPr>
          <p:cNvPr id="4" name="Slide Number Placeholder 3"/>
          <p:cNvSpPr>
            <a:spLocks noGrp="1"/>
          </p:cNvSpPr>
          <p:nvPr>
            <p:ph type="sldNum" sz="quarter" idx="5"/>
          </p:nvPr>
        </p:nvSpPr>
        <p:spPr/>
        <p:txBody>
          <a:bodyPr/>
          <a:lstStyle/>
          <a:p>
            <a:fld id="{1DEE6D72-36D9-4ED9-8D73-5C0ACDDD9887}" type="slidenum">
              <a:rPr lang="en-US" smtClean="0"/>
              <a:t>19</a:t>
            </a:fld>
            <a:endParaRPr lang="en-US"/>
          </a:p>
        </p:txBody>
      </p:sp>
    </p:spTree>
    <p:extLst>
      <p:ext uri="{BB962C8B-B14F-4D97-AF65-F5344CB8AC3E}">
        <p14:creationId xmlns:p14="http://schemas.microsoft.com/office/powerpoint/2010/main" val="2890298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dirty="0"/>
              <a:t>That brings everything together. We covered how analytics data is collected, processed, modeled, and ultimately turned into decisions, along with the risks that come from poor definitions, misleading visuals, or unclear ownership.</a:t>
            </a:r>
          </a:p>
          <a:p>
            <a:r>
              <a:rPr lang="en-US" dirty="0"/>
              <a:t>The key takeaway is that good analytics is not about collecting more data. It is about collecting the </a:t>
            </a:r>
            <a:r>
              <a:rPr lang="en-US" i="1" dirty="0"/>
              <a:t>right</a:t>
            </a:r>
            <a:r>
              <a:rPr lang="en-US" dirty="0"/>
              <a:t> data, validating it, and using it responsibly so teams can trust what they see and act on it with confidence.</a:t>
            </a:r>
          </a:p>
          <a:p>
            <a:r>
              <a:rPr lang="en-US" dirty="0"/>
              <a:t>I included my contact information for </a:t>
            </a:r>
            <a:r>
              <a:rPr lang="en-US"/>
              <a:t>follow-up questions.</a:t>
            </a:r>
            <a:endParaRPr lang="en-US" dirty="0"/>
          </a:p>
        </p:txBody>
      </p:sp>
      <p:sp>
        <p:nvSpPr>
          <p:cNvPr id="4" name="Slide Number Placeholder 3"/>
          <p:cNvSpPr>
            <a:spLocks noGrp="1"/>
          </p:cNvSpPr>
          <p:nvPr>
            <p:ph type="sldNum" sz="quarter" idx="5"/>
          </p:nvPr>
        </p:nvSpPr>
        <p:spPr/>
        <p:txBody>
          <a:bodyPr/>
          <a:lstStyle/>
          <a:p>
            <a:fld id="{1DEE6D72-36D9-4ED9-8D73-5C0ACDDD9887}" type="slidenum">
              <a:rPr lang="en-US" smtClean="0"/>
              <a:t>20</a:t>
            </a:fld>
            <a:endParaRPr lang="en-US"/>
          </a:p>
        </p:txBody>
      </p:sp>
    </p:spTree>
    <p:extLst>
      <p:ext uri="{BB962C8B-B14F-4D97-AF65-F5344CB8AC3E}">
        <p14:creationId xmlns:p14="http://schemas.microsoft.com/office/powerpoint/2010/main" val="4067581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EE6D72-36D9-4ED9-8D73-5C0ACDDD9887}" type="slidenum">
              <a:rPr lang="en-US" smtClean="0"/>
              <a:t>21</a:t>
            </a:fld>
            <a:endParaRPr lang="en-US"/>
          </a:p>
        </p:txBody>
      </p:sp>
    </p:spTree>
    <p:extLst>
      <p:ext uri="{BB962C8B-B14F-4D97-AF65-F5344CB8AC3E}">
        <p14:creationId xmlns:p14="http://schemas.microsoft.com/office/powerpoint/2010/main" val="2695957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1A26A-18FD-1EE9-742A-389965F9E59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E77D96E-88EC-F7D0-A299-A427360465F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1E0AEF4-4654-663F-2822-3A66438FCBCF}"/>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2E697FA6-55C7-5AD6-743E-90790284B8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7B6847-C058-F517-CB09-6F0F9C0FCF75}"/>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16253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D8EB3-24EF-A5C4-0F41-68ABB4B34B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4120C6-6CD4-D1B6-202B-54964CED3A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041E5B-61EB-DF9F-C549-3380B94F66F6}"/>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4EB51EC0-F318-87F4-76DE-F9BE9A88D7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6AF32-9CE8-61BF-F809-8A2C192CA281}"/>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3527935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BA06-C8B3-9C19-3CDA-2127E6C21CF9}"/>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73A4900-D927-6577-6830-2F4FD7C3A9C1}"/>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1FFD6-E3AC-D811-A17B-B70217D7B28C}"/>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839D336F-E314-0731-E564-1D0B0EDEC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624128-B254-04F5-21DF-76BE4ABB5625}"/>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3082650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97D5-A306-B5C7-B54E-EDAE4A6F9B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927C3F-A8D5-C34A-C08A-2CBE6D6A4B2C}"/>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B15215-F14E-C6C4-C6E6-1ADBD6BF6C7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6343BA-B792-EFC4-55CE-458A2370F530}"/>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6" name="Footer Placeholder 5">
            <a:extLst>
              <a:ext uri="{FF2B5EF4-FFF2-40B4-BE49-F238E27FC236}">
                <a16:creationId xmlns:a16="http://schemas.microsoft.com/office/drawing/2014/main" id="{4981F2D7-20BA-FB7D-725D-AEF18C529F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E9D4E-D3D2-C572-ACAA-62811D31ED11}"/>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4226497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A46F4-2B5A-FF58-7A58-30A4583EEED2}"/>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534EE-8C0C-2A58-6E63-CE068158FA2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7DC3FA5-4B5C-9F7E-811A-F6B14FB5256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AC9361-C071-FBA4-E7F0-35A11502CACE}"/>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C850BD6-DE0E-1958-B843-A2FBF9487E0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1DDB2-DDEF-4073-25D0-7C2446BA8BA2}"/>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8" name="Footer Placeholder 7">
            <a:extLst>
              <a:ext uri="{FF2B5EF4-FFF2-40B4-BE49-F238E27FC236}">
                <a16:creationId xmlns:a16="http://schemas.microsoft.com/office/drawing/2014/main" id="{2C6CE4EE-0164-04A6-701D-20505BC04D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90AC30-26DA-3881-E9AC-DBA3F97584F0}"/>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3388271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EA98-1971-836B-B360-2BC4B70389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C91A0C-4AB0-4B9D-9DAA-329CAB4C3239}"/>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4" name="Footer Placeholder 3">
            <a:extLst>
              <a:ext uri="{FF2B5EF4-FFF2-40B4-BE49-F238E27FC236}">
                <a16:creationId xmlns:a16="http://schemas.microsoft.com/office/drawing/2014/main" id="{99BEF22E-F206-59DF-6556-58BA4C950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8A1986-76A8-8696-C9AC-0D1159C0C22B}"/>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775215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975053-08F9-5C89-4301-82EC9CA05554}"/>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3" name="Footer Placeholder 2">
            <a:extLst>
              <a:ext uri="{FF2B5EF4-FFF2-40B4-BE49-F238E27FC236}">
                <a16:creationId xmlns:a16="http://schemas.microsoft.com/office/drawing/2014/main" id="{BFD77CDA-7741-FCCB-1E47-170DBA5F47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4FEA8-DF98-8080-7076-E68247CD0F69}"/>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356681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9D11D-8810-5EB2-8A2A-052D1F92932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D47B9B1-E503-1967-74B8-64DC2E98B66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BA8756-35AB-D180-5E25-F1306EB3C78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8ABB6CA-BFBA-1C73-2398-CADAC0C2FAD2}"/>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6" name="Footer Placeholder 5">
            <a:extLst>
              <a:ext uri="{FF2B5EF4-FFF2-40B4-BE49-F238E27FC236}">
                <a16:creationId xmlns:a16="http://schemas.microsoft.com/office/drawing/2014/main" id="{9478ACBF-DD29-62F9-0FF2-C5423DF48D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C70EED-30E2-3FCC-FED2-2C4F2CA746CB}"/>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1037378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A31B3-DF73-D85A-AE1C-233B2AF4FC1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40EE66F-21B5-BF3A-DB93-BEB1F04820F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E06F9A5B-54A9-0B4B-8CDF-43E86ED4AFA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6FF1E5C-FC83-1CE3-4519-515F4EA3370A}"/>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6" name="Footer Placeholder 5">
            <a:extLst>
              <a:ext uri="{FF2B5EF4-FFF2-40B4-BE49-F238E27FC236}">
                <a16:creationId xmlns:a16="http://schemas.microsoft.com/office/drawing/2014/main" id="{EAAD6986-057A-4AA7-AE9B-9267B1AA86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EF92C5-60A0-5E50-6C89-FB9D41205938}"/>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655706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0744-C074-5BAA-E9D5-0BBC35962A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8CC22B-701E-9498-0634-9F574CD388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DCADC5-26FC-99B9-3A13-98CA5FB81AA2}"/>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E6FDE740-92CB-5E9E-9A8F-91232D9029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A352A-A044-B908-CE9E-6A6DDFE2CD01}"/>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38454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60AB53-F653-AD37-D45F-B19AF0259545}"/>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9F1B61-F99B-DBFE-1338-42B5C255AE3E}"/>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23B95-D5FC-1AC8-FCE6-8AF11AA5C57C}"/>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49C85C01-5217-D2F6-0233-C7264621C8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1AEC3A-868B-085A-AAFE-1961577AC620}"/>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2731908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3F2C-2C0A-293A-3704-198E802C852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7C2D940-C6BA-A416-51F1-03C5EC0572E1}"/>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9EED17-1585-08F5-56BF-6D2488BEAD77}"/>
              </a:ext>
            </a:extLst>
          </p:cNvPr>
          <p:cNvSpPr>
            <a:spLocks noGrp="1"/>
          </p:cNvSpPr>
          <p:nvPr>
            <p:ph type="dt" sz="half" idx="10"/>
          </p:nvPr>
        </p:nvSpPr>
        <p:spPr/>
        <p:txBody>
          <a:body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3F94B299-E05E-C4EE-392B-AD183C8F6A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43721-A9A9-7AC7-849E-AF4E119632DB}"/>
              </a:ext>
            </a:extLst>
          </p:cNvPr>
          <p:cNvSpPr>
            <a:spLocks noGrp="1"/>
          </p:cNvSpPr>
          <p:nvPr>
            <p:ph type="sldNum" sz="quarter" idx="12"/>
          </p:nvPr>
        </p:nvSpPr>
        <p:spPr/>
        <p:txBody>
          <a:bodyPr/>
          <a:lstStyle/>
          <a:p>
            <a:fld id="{037A82F3-2C1F-44BB-87A3-D6AB6D92B3DE}" type="slidenum">
              <a:rPr lang="en-US" smtClean="0"/>
              <a:t>‹#›</a:t>
            </a:fld>
            <a:endParaRPr lang="en-US"/>
          </a:p>
        </p:txBody>
      </p:sp>
    </p:spTree>
    <p:extLst>
      <p:ext uri="{BB962C8B-B14F-4D97-AF65-F5344CB8AC3E}">
        <p14:creationId xmlns:p14="http://schemas.microsoft.com/office/powerpoint/2010/main" val="738735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D4205E-A26E-DAF6-614D-5C94298706ED}"/>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AC960D-9D2A-33DE-E762-EEDA3179E40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EBC282-C5F8-A9BC-934B-B87954586E7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853327D-70BA-49E1-83A7-87645F091DAE}" type="datetimeFigureOut">
              <a:rPr lang="en-US" smtClean="0"/>
              <a:t>12/16/2025</a:t>
            </a:fld>
            <a:endParaRPr lang="en-US"/>
          </a:p>
        </p:txBody>
      </p:sp>
      <p:sp>
        <p:nvSpPr>
          <p:cNvPr id="5" name="Footer Placeholder 4">
            <a:extLst>
              <a:ext uri="{FF2B5EF4-FFF2-40B4-BE49-F238E27FC236}">
                <a16:creationId xmlns:a16="http://schemas.microsoft.com/office/drawing/2014/main" id="{76BA3BD6-4718-608D-699A-0003C82580F5}"/>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E83FB7-51D8-DA31-AEE7-989ED7F55186}"/>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037A82F3-2C1F-44BB-87A3-D6AB6D92B3DE}" type="slidenum">
              <a:rPr lang="en-US" smtClean="0"/>
              <a:t>‹#›</a:t>
            </a:fld>
            <a:endParaRPr lang="en-US"/>
          </a:p>
        </p:txBody>
      </p:sp>
    </p:spTree>
    <p:extLst>
      <p:ext uri="{BB962C8B-B14F-4D97-AF65-F5344CB8AC3E}">
        <p14:creationId xmlns:p14="http://schemas.microsoft.com/office/powerpoint/2010/main" val="1140609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0.png"/><Relationship Id="rId7" Type="http://schemas.openxmlformats.org/officeDocument/2006/relationships/diagramColors" Target="../diagrams/colors2.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1.xml.rels><?xml version="1.0" encoding="UTF-8" standalone="yes"?>
<Relationships xmlns="http://schemas.openxmlformats.org/package/2006/relationships"><Relationship Id="rId8" Type="http://schemas.openxmlformats.org/officeDocument/2006/relationships/hyperlink" Target="https://ijbmm.com/paper/Sep2023/8340436493.pdf?utm_source=chatgpt.com" TargetMode="External"/><Relationship Id="rId3" Type="http://schemas.openxmlformats.org/officeDocument/2006/relationships/image" Target="../media/image31.png"/><Relationship Id="rId7" Type="http://schemas.openxmlformats.org/officeDocument/2006/relationships/hyperlink" Target="https://www.statsig.com/perspectives/what-is-the-importance-of-web-analytics?utm_source=chatgpt.com" TargetMode="External"/><Relationship Id="rId12" Type="http://schemas.openxmlformats.org/officeDocument/2006/relationships/hyperlink" Target="https://en.wikipedia.org/wiki/Data_anonymization?utm_source=chatgpt.com"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hyperlink" Target="https://www.sciencedirect.com/topics/computer-science/web-analytics?utm_source=chatgpt.com" TargetMode="External"/><Relationship Id="rId11" Type="http://schemas.openxmlformats.org/officeDocument/2006/relationships/hyperlink" Target="https://www.cookieyes.com/blog/cookie-tracking-ethics/?utm_source=chatgpt.com" TargetMode="External"/><Relationship Id="rId5" Type="http://schemas.openxmlformats.org/officeDocument/2006/relationships/hyperlink" Target="https://risingwave.com/blog/understanding-web-analytics-key-benefits-and-use-cases/?utm_source=chatgpt.com" TargetMode="External"/><Relationship Id="rId10" Type="http://schemas.openxmlformats.org/officeDocument/2006/relationships/hyperlink" Target="https://www.sciencedirect.com/science/article/pii/S0167404821000651?utm_source=chatgpt.com" TargetMode="External"/><Relationship Id="rId4" Type="http://schemas.openxmlformats.org/officeDocument/2006/relationships/hyperlink" Target="https://usermaven.com/blog/what-is-web-analytics?utm_source=chatgpt.com" TargetMode="External"/><Relationship Id="rId9" Type="http://schemas.openxmlformats.org/officeDocument/2006/relationships/hyperlink" Target="https://matomo.org/blog/2025/06/privacy-friendly-analytics/?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een chart with a graph and a world map&#10;&#10;AI-generated content may be incorrect.">
            <a:extLst>
              <a:ext uri="{FF2B5EF4-FFF2-40B4-BE49-F238E27FC236}">
                <a16:creationId xmlns:a16="http://schemas.microsoft.com/office/drawing/2014/main" id="{9E7DDC3E-433D-D061-4477-C52FA57862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44000" cy="5143499"/>
          </a:xfrm>
          <a:prstGeom prst="rect">
            <a:avLst/>
          </a:prstGeom>
        </p:spPr>
      </p:pic>
      <p:pic>
        <p:nvPicPr>
          <p:cNvPr id="7" name="Picture 6" descr="A gold logo with a crown and a shield&#10;&#10;AI-generated content may be incorrect.">
            <a:extLst>
              <a:ext uri="{FF2B5EF4-FFF2-40B4-BE49-F238E27FC236}">
                <a16:creationId xmlns:a16="http://schemas.microsoft.com/office/drawing/2014/main" id="{26FE22A0-E9A6-66D3-45A2-84429101AAC3}"/>
              </a:ext>
            </a:extLst>
          </p:cNvPr>
          <p:cNvPicPr>
            <a:picLocks noChangeAspect="1"/>
          </p:cNvPicPr>
          <p:nvPr/>
        </p:nvPicPr>
        <p:blipFill>
          <a:blip r:embed="rId4"/>
          <a:stretch>
            <a:fillRect/>
          </a:stretch>
        </p:blipFill>
        <p:spPr>
          <a:xfrm>
            <a:off x="2491167" y="-146413"/>
            <a:ext cx="3906248" cy="2989370"/>
          </a:xfrm>
          <a:prstGeom prst="rect">
            <a:avLst/>
          </a:prstGeom>
          <a:effectLst>
            <a:glow rad="228600">
              <a:schemeClr val="accent3">
                <a:satMod val="175000"/>
                <a:alpha val="40000"/>
              </a:schemeClr>
            </a:glow>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4808E71A-1AF1-5E14-5F3B-B7F49AE08381}"/>
              </a:ext>
            </a:extLst>
          </p:cNvPr>
          <p:cNvSpPr>
            <a:spLocks noGrp="1"/>
          </p:cNvSpPr>
          <p:nvPr>
            <p:ph type="ctrTitle"/>
          </p:nvPr>
        </p:nvSpPr>
        <p:spPr>
          <a:xfrm>
            <a:off x="863600" y="1116189"/>
            <a:ext cx="7543800" cy="2681084"/>
          </a:xfrm>
          <a:effectLst>
            <a:outerShdw blurRad="50800" dist="38100" dir="2700000" algn="tl" rotWithShape="0">
              <a:prstClr val="black">
                <a:alpha val="40000"/>
              </a:prstClr>
            </a:outerShdw>
          </a:effectLst>
        </p:spPr>
        <p:txBody>
          <a:bodyPr>
            <a:normAutofit/>
          </a:bodyPr>
          <a:lstStyle/>
          <a:p>
            <a:r>
              <a:rPr lang="en-US" sz="3900" b="1" dirty="0">
                <a:solidFill>
                  <a:srgbClr val="FFFFFF"/>
                </a:solidFill>
                <a:latin typeface="Calibri" panose="020F0502020204030204" pitchFamily="34" charset="0"/>
              </a:rPr>
              <a:t>Comprehensive Website Analytics Presentation</a:t>
            </a:r>
          </a:p>
        </p:txBody>
      </p:sp>
      <p:sp>
        <p:nvSpPr>
          <p:cNvPr id="3" name="Subtitle 2">
            <a:extLst>
              <a:ext uri="{FF2B5EF4-FFF2-40B4-BE49-F238E27FC236}">
                <a16:creationId xmlns:a16="http://schemas.microsoft.com/office/drawing/2014/main" id="{0EB4575B-3A1F-5E56-84B9-F15CEBF8E067}"/>
              </a:ext>
            </a:extLst>
          </p:cNvPr>
          <p:cNvSpPr>
            <a:spLocks noGrp="1"/>
          </p:cNvSpPr>
          <p:nvPr>
            <p:ph type="subTitle" idx="1"/>
          </p:nvPr>
        </p:nvSpPr>
        <p:spPr>
          <a:xfrm>
            <a:off x="797814" y="3855770"/>
            <a:ext cx="7543800" cy="962030"/>
          </a:xfrm>
          <a:effectLst>
            <a:outerShdw blurRad="50800" dist="38100" dir="2700000" algn="tl" rotWithShape="0">
              <a:prstClr val="black">
                <a:alpha val="40000"/>
              </a:prstClr>
            </a:outerShdw>
          </a:effectLst>
        </p:spPr>
        <p:txBody>
          <a:bodyPr>
            <a:normAutofit/>
          </a:bodyPr>
          <a:lstStyle/>
          <a:p>
            <a:r>
              <a:rPr lang="en-US" sz="1500" dirty="0">
                <a:solidFill>
                  <a:srgbClr val="FFFFFF"/>
                </a:solidFill>
                <a:latin typeface="Calibri" panose="020F0502020204030204" pitchFamily="34" charset="0"/>
              </a:rPr>
              <a:t>Web analytics, visualization, dashboards, ethics, and Q&amp;A</a:t>
            </a:r>
          </a:p>
          <a:p>
            <a:endParaRPr lang="en-US" sz="1500" dirty="0">
              <a:solidFill>
                <a:srgbClr val="FFFFFF"/>
              </a:solidFill>
              <a:latin typeface="Calibri" panose="020F0502020204030204" pitchFamily="34" charset="0"/>
            </a:endParaRPr>
          </a:p>
          <a:p>
            <a:r>
              <a:rPr lang="en-US" sz="1500" dirty="0">
                <a:solidFill>
                  <a:srgbClr val="FFFFFF"/>
                </a:solidFill>
                <a:latin typeface="Calibri" panose="020F0502020204030204" pitchFamily="34" charset="0"/>
              </a:rPr>
              <a:t>By Kevin McMahon</a:t>
            </a:r>
          </a:p>
        </p:txBody>
      </p:sp>
    </p:spTree>
    <p:extLst>
      <p:ext uri="{BB962C8B-B14F-4D97-AF65-F5344CB8AC3E}">
        <p14:creationId xmlns:p14="http://schemas.microsoft.com/office/powerpoint/2010/main" val="3334520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70828-E616-4355-9C8A-A1065032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55161C6-1218-4EAF-A9E9-A319CFD76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310" y="1428750"/>
            <a:ext cx="3402600" cy="2355785"/>
          </a:xfrm>
          <a:custGeom>
            <a:avLst/>
            <a:gdLst>
              <a:gd name="connsiteX0" fmla="*/ 3362388 w 6230568"/>
              <a:gd name="connsiteY0" fmla="*/ 861 h 4239440"/>
              <a:gd name="connsiteX1" fmla="*/ 4026621 w 6230568"/>
              <a:gd name="connsiteY1" fmla="*/ 15392 h 4239440"/>
              <a:gd name="connsiteX2" fmla="*/ 5114556 w 6230568"/>
              <a:gd name="connsiteY2" fmla="*/ 34130 h 4239440"/>
              <a:gd name="connsiteX3" fmla="*/ 5776495 w 6230568"/>
              <a:gd name="connsiteY3" fmla="*/ 112905 h 4239440"/>
              <a:gd name="connsiteX4" fmla="*/ 5862918 w 6230568"/>
              <a:gd name="connsiteY4" fmla="*/ 141585 h 4239440"/>
              <a:gd name="connsiteX5" fmla="*/ 5840738 w 6230568"/>
              <a:gd name="connsiteY5" fmla="*/ 200475 h 4239440"/>
              <a:gd name="connsiteX6" fmla="*/ 5691219 w 6230568"/>
              <a:gd name="connsiteY6" fmla="*/ 216153 h 4239440"/>
              <a:gd name="connsiteX7" fmla="*/ 5773053 w 6230568"/>
              <a:gd name="connsiteY7" fmla="*/ 260130 h 4239440"/>
              <a:gd name="connsiteX8" fmla="*/ 5593324 w 6230568"/>
              <a:gd name="connsiteY8" fmla="*/ 293781 h 4239440"/>
              <a:gd name="connsiteX9" fmla="*/ 5617033 w 6230568"/>
              <a:gd name="connsiteY9" fmla="*/ 317108 h 4239440"/>
              <a:gd name="connsiteX10" fmla="*/ 5641124 w 6230568"/>
              <a:gd name="connsiteY10" fmla="*/ 339287 h 4239440"/>
              <a:gd name="connsiteX11" fmla="*/ 5299256 w 6230568"/>
              <a:gd name="connsiteY11" fmla="*/ 396265 h 4239440"/>
              <a:gd name="connsiteX12" fmla="*/ 5703073 w 6230568"/>
              <a:gd name="connsiteY12" fmla="*/ 500661 h 4239440"/>
              <a:gd name="connsiteX13" fmla="*/ 5629652 w 6230568"/>
              <a:gd name="connsiteY13" fmla="*/ 556874 h 4239440"/>
              <a:gd name="connsiteX14" fmla="*/ 5862918 w 6230568"/>
              <a:gd name="connsiteY14" fmla="*/ 645591 h 4239440"/>
              <a:gd name="connsiteX15" fmla="*/ 6052207 w 6230568"/>
              <a:gd name="connsiteY15" fmla="*/ 756106 h 4239440"/>
              <a:gd name="connsiteX16" fmla="*/ 6158515 w 6230568"/>
              <a:gd name="connsiteY16" fmla="*/ 901419 h 4239440"/>
              <a:gd name="connsiteX17" fmla="*/ 6195990 w 6230568"/>
              <a:gd name="connsiteY17" fmla="*/ 966427 h 4239440"/>
              <a:gd name="connsiteX18" fmla="*/ 6229642 w 6230568"/>
              <a:gd name="connsiteY18" fmla="*/ 1034878 h 4239440"/>
              <a:gd name="connsiteX19" fmla="*/ 6171516 w 6230568"/>
              <a:gd name="connsiteY19" fmla="*/ 1102946 h 4239440"/>
              <a:gd name="connsiteX20" fmla="*/ 6133659 w 6230568"/>
              <a:gd name="connsiteY20" fmla="*/ 1185545 h 4239440"/>
              <a:gd name="connsiteX21" fmla="*/ 6168458 w 6230568"/>
              <a:gd name="connsiteY21" fmla="*/ 1234110 h 4239440"/>
              <a:gd name="connsiteX22" fmla="*/ 6169222 w 6230568"/>
              <a:gd name="connsiteY22" fmla="*/ 1342712 h 4239440"/>
              <a:gd name="connsiteX23" fmla="*/ 6145131 w 6230568"/>
              <a:gd name="connsiteY23" fmla="*/ 1393954 h 4239440"/>
              <a:gd name="connsiteX24" fmla="*/ 6071709 w 6230568"/>
              <a:gd name="connsiteY24" fmla="*/ 1505233 h 4239440"/>
              <a:gd name="connsiteX25" fmla="*/ 6009378 w 6230568"/>
              <a:gd name="connsiteY25" fmla="*/ 1530089 h 4239440"/>
              <a:gd name="connsiteX26" fmla="*/ 6015879 w 6230568"/>
              <a:gd name="connsiteY26" fmla="*/ 1979030 h 4239440"/>
              <a:gd name="connsiteX27" fmla="*/ 6061385 w 6230568"/>
              <a:gd name="connsiteY27" fmla="*/ 2196234 h 4239440"/>
              <a:gd name="connsiteX28" fmla="*/ 6029263 w 6230568"/>
              <a:gd name="connsiteY28" fmla="*/ 2440972 h 4239440"/>
              <a:gd name="connsiteX29" fmla="*/ 6135571 w 6230568"/>
              <a:gd name="connsiteY29" fmla="*/ 2621848 h 4239440"/>
              <a:gd name="connsiteX30" fmla="*/ 6091594 w 6230568"/>
              <a:gd name="connsiteY30" fmla="*/ 2691446 h 4239440"/>
              <a:gd name="connsiteX31" fmla="*/ 6215493 w 6230568"/>
              <a:gd name="connsiteY31" fmla="*/ 2769456 h 4239440"/>
              <a:gd name="connsiteX32" fmla="*/ 6100389 w 6230568"/>
              <a:gd name="connsiteY32" fmla="*/ 2880352 h 4239440"/>
              <a:gd name="connsiteX33" fmla="*/ 5909953 w 6230568"/>
              <a:gd name="connsiteY33" fmla="*/ 3053963 h 4239440"/>
              <a:gd name="connsiteX34" fmla="*/ 5741696 w 6230568"/>
              <a:gd name="connsiteY34" fmla="*/ 3798118 h 4239440"/>
              <a:gd name="connsiteX35" fmla="*/ 5493899 w 6230568"/>
              <a:gd name="connsiteY35" fmla="*/ 4026795 h 4239440"/>
              <a:gd name="connsiteX36" fmla="*/ 3773471 w 6230568"/>
              <a:gd name="connsiteY36" fmla="*/ 4239028 h 4239440"/>
              <a:gd name="connsiteX37" fmla="*/ 2569285 w 6230568"/>
              <a:gd name="connsiteY37" fmla="*/ 4103275 h 4239440"/>
              <a:gd name="connsiteX38" fmla="*/ 2693948 w 6230568"/>
              <a:gd name="connsiteY38" fmla="*/ 4061593 h 4239440"/>
              <a:gd name="connsiteX39" fmla="*/ 2588788 w 6230568"/>
              <a:gd name="connsiteY39" fmla="*/ 4062358 h 4239440"/>
              <a:gd name="connsiteX40" fmla="*/ 2300073 w 6230568"/>
              <a:gd name="connsiteY40" fmla="*/ 4008822 h 4239440"/>
              <a:gd name="connsiteX41" fmla="*/ 1508500 w 6230568"/>
              <a:gd name="connsiteY41" fmla="*/ 3798118 h 4239440"/>
              <a:gd name="connsiteX42" fmla="*/ 1061089 w 6230568"/>
              <a:gd name="connsiteY42" fmla="*/ 3697546 h 4239440"/>
              <a:gd name="connsiteX43" fmla="*/ 939102 w 6230568"/>
              <a:gd name="connsiteY43" fmla="*/ 3648216 h 4239440"/>
              <a:gd name="connsiteX44" fmla="*/ 1243495 w 6230568"/>
              <a:gd name="connsiteY44" fmla="*/ 3624890 h 4239440"/>
              <a:gd name="connsiteX45" fmla="*/ 1083651 w 6230568"/>
              <a:gd name="connsiteY45" fmla="*/ 3595827 h 4239440"/>
              <a:gd name="connsiteX46" fmla="*/ 966636 w 6230568"/>
              <a:gd name="connsiteY46" fmla="*/ 3605770 h 4239440"/>
              <a:gd name="connsiteX47" fmla="*/ 885566 w 6230568"/>
              <a:gd name="connsiteY47" fmla="*/ 3609976 h 4239440"/>
              <a:gd name="connsiteX48" fmla="*/ 641976 w 6230568"/>
              <a:gd name="connsiteY48" fmla="*/ 3567912 h 4239440"/>
              <a:gd name="connsiteX49" fmla="*/ 399533 w 6230568"/>
              <a:gd name="connsiteY49" fmla="*/ 3583590 h 4239440"/>
              <a:gd name="connsiteX50" fmla="*/ 409093 w 6230568"/>
              <a:gd name="connsiteY50" fmla="*/ 3548792 h 4239440"/>
              <a:gd name="connsiteX51" fmla="*/ 792642 w 6230568"/>
              <a:gd name="connsiteY51" fmla="*/ 3417628 h 4239440"/>
              <a:gd name="connsiteX52" fmla="*/ 771610 w 6230568"/>
              <a:gd name="connsiteY52" fmla="*/ 3345736 h 4239440"/>
              <a:gd name="connsiteX53" fmla="*/ 945986 w 6230568"/>
              <a:gd name="connsiteY53" fmla="*/ 3317056 h 4239440"/>
              <a:gd name="connsiteX54" fmla="*/ 892449 w 6230568"/>
              <a:gd name="connsiteY54" fmla="*/ 3285316 h 4239440"/>
              <a:gd name="connsiteX55" fmla="*/ 949045 w 6230568"/>
              <a:gd name="connsiteY55" fmla="*/ 3262755 h 4239440"/>
              <a:gd name="connsiteX56" fmla="*/ 1252673 w 6230568"/>
              <a:gd name="connsiteY56" fmla="*/ 3200041 h 4239440"/>
              <a:gd name="connsiteX57" fmla="*/ 388825 w 6230568"/>
              <a:gd name="connsiteY57" fmla="*/ 3176714 h 4239440"/>
              <a:gd name="connsiteX58" fmla="*/ 127644 w 6230568"/>
              <a:gd name="connsiteY58" fmla="*/ 3111323 h 4239440"/>
              <a:gd name="connsiteX59" fmla="*/ 437008 w 6230568"/>
              <a:gd name="connsiteY59" fmla="*/ 2921652 h 4239440"/>
              <a:gd name="connsiteX60" fmla="*/ 601441 w 6230568"/>
              <a:gd name="connsiteY60" fmla="*/ 2840965 h 4239440"/>
              <a:gd name="connsiteX61" fmla="*/ 330700 w 6230568"/>
              <a:gd name="connsiteY61" fmla="*/ 2859320 h 4239440"/>
              <a:gd name="connsiteX62" fmla="*/ 534521 w 6230568"/>
              <a:gd name="connsiteY62" fmla="*/ 2720126 h 4239440"/>
              <a:gd name="connsiteX63" fmla="*/ 492839 w 6230568"/>
              <a:gd name="connsiteY63" fmla="*/ 2694505 h 4239440"/>
              <a:gd name="connsiteX64" fmla="*/ 416358 w 6230568"/>
              <a:gd name="connsiteY64" fmla="*/ 2677297 h 4239440"/>
              <a:gd name="connsiteX65" fmla="*/ 761285 w 6230568"/>
              <a:gd name="connsiteY65" fmla="*/ 2589726 h 4239440"/>
              <a:gd name="connsiteX66" fmla="*/ 664920 w 6230568"/>
              <a:gd name="connsiteY66" fmla="*/ 2466593 h 4239440"/>
              <a:gd name="connsiteX67" fmla="*/ 740253 w 6230568"/>
              <a:gd name="connsiteY67" fmla="*/ 2438677 h 4239440"/>
              <a:gd name="connsiteX68" fmla="*/ 650006 w 6230568"/>
              <a:gd name="connsiteY68" fmla="*/ 2435236 h 4239440"/>
              <a:gd name="connsiteX69" fmla="*/ 578879 w 6230568"/>
              <a:gd name="connsiteY69" fmla="*/ 2435618 h 4239440"/>
              <a:gd name="connsiteX70" fmla="*/ 451157 w 6230568"/>
              <a:gd name="connsiteY70" fmla="*/ 2404644 h 4239440"/>
              <a:gd name="connsiteX71" fmla="*/ 2216 w 6230568"/>
              <a:gd name="connsiteY71" fmla="*/ 2456650 h 4239440"/>
              <a:gd name="connsiteX72" fmla="*/ 97052 w 6230568"/>
              <a:gd name="connsiteY72" fmla="*/ 2383611 h 4239440"/>
              <a:gd name="connsiteX73" fmla="*/ 210626 w 6230568"/>
              <a:gd name="connsiteY73" fmla="*/ 2341930 h 4239440"/>
              <a:gd name="connsiteX74" fmla="*/ 57282 w 6230568"/>
              <a:gd name="connsiteY74" fmla="*/ 2319750 h 4239440"/>
              <a:gd name="connsiteX75" fmla="*/ 365499 w 6230568"/>
              <a:gd name="connsiteY75" fmla="*/ 2250153 h 4239440"/>
              <a:gd name="connsiteX76" fmla="*/ 290548 w 6230568"/>
              <a:gd name="connsiteY76" fmla="*/ 2187821 h 4239440"/>
              <a:gd name="connsiteX77" fmla="*/ 482896 w 6230568"/>
              <a:gd name="connsiteY77" fmla="*/ 1906755 h 4239440"/>
              <a:gd name="connsiteX78" fmla="*/ 867211 w 6230568"/>
              <a:gd name="connsiteY78" fmla="*/ 1747294 h 4239440"/>
              <a:gd name="connsiteX79" fmla="*/ 1063766 w 6230568"/>
              <a:gd name="connsiteY79" fmla="*/ 1734674 h 4239440"/>
              <a:gd name="connsiteX80" fmla="*/ 1008701 w 6230568"/>
              <a:gd name="connsiteY80" fmla="*/ 1683432 h 4239440"/>
              <a:gd name="connsiteX81" fmla="*/ 1152865 w 6230568"/>
              <a:gd name="connsiteY81" fmla="*/ 1394719 h 4239440"/>
              <a:gd name="connsiteX82" fmla="*/ 998376 w 6230568"/>
              <a:gd name="connsiteY82" fmla="*/ 1411927 h 4239440"/>
              <a:gd name="connsiteX83" fmla="*/ 206419 w 6230568"/>
              <a:gd name="connsiteY83" fmla="*/ 1424164 h 4239440"/>
              <a:gd name="connsiteX84" fmla="*/ 128027 w 6230568"/>
              <a:gd name="connsiteY84" fmla="*/ 1413074 h 4239440"/>
              <a:gd name="connsiteX85" fmla="*/ 672950 w 6230568"/>
              <a:gd name="connsiteY85" fmla="*/ 1268143 h 4239440"/>
              <a:gd name="connsiteX86" fmla="*/ 457658 w 6230568"/>
              <a:gd name="connsiteY86" fmla="*/ 1229138 h 4239440"/>
              <a:gd name="connsiteX87" fmla="*/ 407945 w 6230568"/>
              <a:gd name="connsiteY87" fmla="*/ 1213459 h 4239440"/>
              <a:gd name="connsiteX88" fmla="*/ 453451 w 6230568"/>
              <a:gd name="connsiteY88" fmla="*/ 1172924 h 4239440"/>
              <a:gd name="connsiteX89" fmla="*/ 568172 w 6230568"/>
              <a:gd name="connsiteY89" fmla="*/ 1132007 h 4239440"/>
              <a:gd name="connsiteX90" fmla="*/ 255367 w 6230568"/>
              <a:gd name="connsiteY90" fmla="*/ 1190898 h 4239440"/>
              <a:gd name="connsiteX91" fmla="*/ 277546 w 6230568"/>
              <a:gd name="connsiteY91" fmla="*/ 1128567 h 4239440"/>
              <a:gd name="connsiteX92" fmla="*/ 246572 w 6230568"/>
              <a:gd name="connsiteY92" fmla="*/ 1072353 h 4239440"/>
              <a:gd name="connsiteX93" fmla="*/ 422859 w 6230568"/>
              <a:gd name="connsiteY93" fmla="*/ 1000078 h 4239440"/>
              <a:gd name="connsiteX94" fmla="*/ 668362 w 6230568"/>
              <a:gd name="connsiteY94" fmla="*/ 858972 h 4239440"/>
              <a:gd name="connsiteX95" fmla="*/ 914629 w 6230568"/>
              <a:gd name="connsiteY95" fmla="*/ 768725 h 4239440"/>
              <a:gd name="connsiteX96" fmla="*/ 1117684 w 6230568"/>
              <a:gd name="connsiteY96" fmla="*/ 688420 h 4239440"/>
              <a:gd name="connsiteX97" fmla="*/ 928778 w 6230568"/>
              <a:gd name="connsiteY97" fmla="*/ 701040 h 4239440"/>
              <a:gd name="connsiteX98" fmla="*/ 1243877 w 6230568"/>
              <a:gd name="connsiteY98" fmla="*/ 574464 h 4239440"/>
              <a:gd name="connsiteX99" fmla="*/ 1291678 w 6230568"/>
              <a:gd name="connsiteY99" fmla="*/ 566434 h 4239440"/>
              <a:gd name="connsiteX100" fmla="*/ 1797596 w 6230568"/>
              <a:gd name="connsiteY100" fmla="*/ 476952 h 4239440"/>
              <a:gd name="connsiteX101" fmla="*/ 1895491 w 6230568"/>
              <a:gd name="connsiteY101" fmla="*/ 432593 h 4239440"/>
              <a:gd name="connsiteX102" fmla="*/ 1782682 w 6230568"/>
              <a:gd name="connsiteY102" fmla="*/ 423033 h 4239440"/>
              <a:gd name="connsiteX103" fmla="*/ 1406781 w 6230568"/>
              <a:gd name="connsiteY103" fmla="*/ 449419 h 4239440"/>
              <a:gd name="connsiteX104" fmla="*/ 1662226 w 6230568"/>
              <a:gd name="connsiteY104" fmla="*/ 393970 h 4239440"/>
              <a:gd name="connsiteX105" fmla="*/ 1383837 w 6230568"/>
              <a:gd name="connsiteY105" fmla="*/ 376762 h 4239440"/>
              <a:gd name="connsiteX106" fmla="*/ 1318063 w 6230568"/>
              <a:gd name="connsiteY106" fmla="*/ 333168 h 4239440"/>
              <a:gd name="connsiteX107" fmla="*/ 1365099 w 6230568"/>
              <a:gd name="connsiteY107" fmla="*/ 290722 h 4239440"/>
              <a:gd name="connsiteX108" fmla="*/ 1536798 w 6230568"/>
              <a:gd name="connsiteY108" fmla="*/ 244069 h 4239440"/>
              <a:gd name="connsiteX109" fmla="*/ 1711938 w 6230568"/>
              <a:gd name="connsiteY109" fmla="*/ 175619 h 4239440"/>
              <a:gd name="connsiteX110" fmla="*/ 2273687 w 6230568"/>
              <a:gd name="connsiteY110" fmla="*/ 78488 h 4239440"/>
              <a:gd name="connsiteX111" fmla="*/ 2646913 w 6230568"/>
              <a:gd name="connsiteY111" fmla="*/ 46749 h 4239440"/>
              <a:gd name="connsiteX112" fmla="*/ 3362388 w 6230568"/>
              <a:gd name="connsiteY112" fmla="*/ 861 h 423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230568" h="4239440">
                <a:moveTo>
                  <a:pt x="3362388" y="861"/>
                </a:moveTo>
                <a:cubicBezTo>
                  <a:pt x="3584946" y="-3346"/>
                  <a:pt x="3805210" y="8891"/>
                  <a:pt x="4026621" y="15392"/>
                </a:cubicBezTo>
                <a:cubicBezTo>
                  <a:pt x="4388374" y="26482"/>
                  <a:pt x="4752039" y="26099"/>
                  <a:pt x="5114556" y="34130"/>
                </a:cubicBezTo>
                <a:cubicBezTo>
                  <a:pt x="5340556" y="39101"/>
                  <a:pt x="5563879" y="57074"/>
                  <a:pt x="5776495" y="112905"/>
                </a:cubicBezTo>
                <a:cubicBezTo>
                  <a:pt x="5806322" y="120935"/>
                  <a:pt x="5839973" y="122465"/>
                  <a:pt x="5862918" y="141585"/>
                </a:cubicBezTo>
                <a:cubicBezTo>
                  <a:pt x="5888539" y="162999"/>
                  <a:pt x="5878214" y="194356"/>
                  <a:pt x="5840738" y="200475"/>
                </a:cubicBezTo>
                <a:cubicBezTo>
                  <a:pt x="5792938" y="208505"/>
                  <a:pt x="5743991" y="210800"/>
                  <a:pt x="5691219" y="216153"/>
                </a:cubicBezTo>
                <a:cubicBezTo>
                  <a:pt x="5711486" y="245598"/>
                  <a:pt x="5760434" y="223419"/>
                  <a:pt x="5773053" y="260130"/>
                </a:cubicBezTo>
                <a:cubicBezTo>
                  <a:pt x="5716458" y="285368"/>
                  <a:pt x="5648008" y="268925"/>
                  <a:pt x="5593324" y="293781"/>
                </a:cubicBezTo>
                <a:cubicBezTo>
                  <a:pt x="5594854" y="310989"/>
                  <a:pt x="5607090" y="312519"/>
                  <a:pt x="5617033" y="317108"/>
                </a:cubicBezTo>
                <a:cubicBezTo>
                  <a:pt x="5626976" y="321314"/>
                  <a:pt x="5651831" y="315196"/>
                  <a:pt x="5641124" y="339287"/>
                </a:cubicBezTo>
                <a:cubicBezTo>
                  <a:pt x="5527551" y="353818"/>
                  <a:pt x="5418949" y="403148"/>
                  <a:pt x="5299256" y="396265"/>
                </a:cubicBezTo>
                <a:cubicBezTo>
                  <a:pt x="5447247" y="409649"/>
                  <a:pt x="5572292" y="464333"/>
                  <a:pt x="5703073" y="500661"/>
                </a:cubicBezTo>
                <a:cubicBezTo>
                  <a:pt x="5697720" y="543490"/>
                  <a:pt x="5644949" y="526282"/>
                  <a:pt x="5629652" y="556874"/>
                </a:cubicBezTo>
                <a:cubicBezTo>
                  <a:pt x="5713398" y="578288"/>
                  <a:pt x="5793703" y="603527"/>
                  <a:pt x="5862918" y="645591"/>
                </a:cubicBezTo>
                <a:cubicBezTo>
                  <a:pt x="5925250" y="683449"/>
                  <a:pt x="5984521" y="725131"/>
                  <a:pt x="6052207" y="756106"/>
                </a:cubicBezTo>
                <a:cubicBezTo>
                  <a:pt x="6123334" y="788611"/>
                  <a:pt x="6166545" y="830293"/>
                  <a:pt x="6158515" y="901419"/>
                </a:cubicBezTo>
                <a:cubicBezTo>
                  <a:pt x="6155073" y="930482"/>
                  <a:pt x="6164251" y="954955"/>
                  <a:pt x="6195990" y="966427"/>
                </a:cubicBezTo>
                <a:cubicBezTo>
                  <a:pt x="6235378" y="980576"/>
                  <a:pt x="6231172" y="1001990"/>
                  <a:pt x="6229642" y="1034878"/>
                </a:cubicBezTo>
                <a:cubicBezTo>
                  <a:pt x="6227347" y="1074265"/>
                  <a:pt x="6207080" y="1089562"/>
                  <a:pt x="6171516" y="1102946"/>
                </a:cubicBezTo>
                <a:cubicBezTo>
                  <a:pt x="6120657" y="1121682"/>
                  <a:pt x="6120274" y="1150745"/>
                  <a:pt x="6133659" y="1185545"/>
                </a:cubicBezTo>
                <a:cubicBezTo>
                  <a:pt x="6140925" y="1204664"/>
                  <a:pt x="6152014" y="1219961"/>
                  <a:pt x="6168458" y="1234110"/>
                </a:cubicBezTo>
                <a:cubicBezTo>
                  <a:pt x="6225435" y="1283439"/>
                  <a:pt x="6225053" y="1284204"/>
                  <a:pt x="6169222" y="1342712"/>
                </a:cubicBezTo>
                <a:cubicBezTo>
                  <a:pt x="6154308" y="1358390"/>
                  <a:pt x="6138247" y="1368715"/>
                  <a:pt x="6145131" y="1393954"/>
                </a:cubicBezTo>
                <a:cubicBezTo>
                  <a:pt x="6168458" y="1477700"/>
                  <a:pt x="6165398" y="1477700"/>
                  <a:pt x="6071709" y="1505233"/>
                </a:cubicBezTo>
                <a:cubicBezTo>
                  <a:pt x="6050295" y="1511734"/>
                  <a:pt x="6021615" y="1505998"/>
                  <a:pt x="6009378" y="1530089"/>
                </a:cubicBezTo>
                <a:cubicBezTo>
                  <a:pt x="6017026" y="1547680"/>
                  <a:pt x="5999053" y="1972146"/>
                  <a:pt x="6015879" y="1979030"/>
                </a:cubicBezTo>
                <a:cubicBezTo>
                  <a:pt x="6147425" y="2032948"/>
                  <a:pt x="6163868" y="2096427"/>
                  <a:pt x="6061385" y="2196234"/>
                </a:cubicBezTo>
                <a:cubicBezTo>
                  <a:pt x="5992552" y="2263155"/>
                  <a:pt x="6000582" y="2372522"/>
                  <a:pt x="6029263" y="2440972"/>
                </a:cubicBezTo>
                <a:cubicBezTo>
                  <a:pt x="6137482" y="2471182"/>
                  <a:pt x="6113774" y="2551486"/>
                  <a:pt x="6135571" y="2621848"/>
                </a:cubicBezTo>
                <a:cubicBezTo>
                  <a:pt x="6151632" y="2674620"/>
                  <a:pt x="6088535" y="2667354"/>
                  <a:pt x="6091594" y="2691446"/>
                </a:cubicBezTo>
                <a:cubicBezTo>
                  <a:pt x="6131364" y="2720508"/>
                  <a:pt x="6184518" y="2729686"/>
                  <a:pt x="6215493" y="2769456"/>
                </a:cubicBezTo>
                <a:cubicBezTo>
                  <a:pt x="6159662" y="2798518"/>
                  <a:pt x="6131364" y="2839435"/>
                  <a:pt x="6100389" y="2880352"/>
                </a:cubicBezTo>
                <a:cubicBezTo>
                  <a:pt x="6050295" y="2946890"/>
                  <a:pt x="5982227" y="3003103"/>
                  <a:pt x="5909953" y="3053963"/>
                </a:cubicBezTo>
                <a:cubicBezTo>
                  <a:pt x="5873243" y="3408068"/>
                  <a:pt x="5754698" y="3779763"/>
                  <a:pt x="5741696" y="3798118"/>
                </a:cubicBezTo>
                <a:cubicBezTo>
                  <a:pt x="5688160" y="3792764"/>
                  <a:pt x="5584146" y="4006910"/>
                  <a:pt x="5493899" y="4026795"/>
                </a:cubicBezTo>
                <a:cubicBezTo>
                  <a:pt x="5399063" y="4048592"/>
                  <a:pt x="3988763" y="4249736"/>
                  <a:pt x="3773471" y="4239028"/>
                </a:cubicBezTo>
                <a:cubicBezTo>
                  <a:pt x="2603319" y="4182050"/>
                  <a:pt x="2569285" y="4103275"/>
                  <a:pt x="2569285" y="4103275"/>
                </a:cubicBezTo>
                <a:cubicBezTo>
                  <a:pt x="2569285" y="4103275"/>
                  <a:pt x="2635823" y="4083773"/>
                  <a:pt x="2693948" y="4061593"/>
                </a:cubicBezTo>
                <a:cubicBezTo>
                  <a:pt x="2658767" y="4062741"/>
                  <a:pt x="2623587" y="4063505"/>
                  <a:pt x="2588788" y="4062358"/>
                </a:cubicBezTo>
                <a:cubicBezTo>
                  <a:pt x="2319193" y="4054328"/>
                  <a:pt x="2565461" y="4039414"/>
                  <a:pt x="2300073" y="4008822"/>
                </a:cubicBezTo>
                <a:cubicBezTo>
                  <a:pt x="1852280" y="3957198"/>
                  <a:pt x="1919582" y="3943813"/>
                  <a:pt x="1508500" y="3798118"/>
                </a:cubicBezTo>
                <a:cubicBezTo>
                  <a:pt x="1472171" y="3785116"/>
                  <a:pt x="1217109" y="3706342"/>
                  <a:pt x="1061089" y="3697546"/>
                </a:cubicBezTo>
                <a:cubicBezTo>
                  <a:pt x="1019790" y="3695252"/>
                  <a:pt x="974667" y="3696017"/>
                  <a:pt x="939102" y="3648216"/>
                </a:cubicBezTo>
                <a:cubicBezTo>
                  <a:pt x="1048088" y="3649746"/>
                  <a:pt x="1141776" y="3649746"/>
                  <a:pt x="1243495" y="3624890"/>
                </a:cubicBezTo>
                <a:cubicBezTo>
                  <a:pt x="1189194" y="3590473"/>
                  <a:pt x="1126862" y="3619919"/>
                  <a:pt x="1083651" y="3595827"/>
                </a:cubicBezTo>
                <a:cubicBezTo>
                  <a:pt x="1043116" y="3573648"/>
                  <a:pt x="1007935" y="3570589"/>
                  <a:pt x="966636" y="3605770"/>
                </a:cubicBezTo>
                <a:cubicBezTo>
                  <a:pt x="945221" y="3624125"/>
                  <a:pt x="907363" y="3620683"/>
                  <a:pt x="885566" y="3609976"/>
                </a:cubicBezTo>
                <a:cubicBezTo>
                  <a:pt x="768933" y="3552233"/>
                  <a:pt x="771610" y="3552998"/>
                  <a:pt x="641976" y="3567912"/>
                </a:cubicBezTo>
                <a:cubicBezTo>
                  <a:pt x="559377" y="3577089"/>
                  <a:pt x="475248" y="3593533"/>
                  <a:pt x="399533" y="3583590"/>
                </a:cubicBezTo>
                <a:cubicBezTo>
                  <a:pt x="389973" y="3561793"/>
                  <a:pt x="398385" y="3551851"/>
                  <a:pt x="409093" y="3548792"/>
                </a:cubicBezTo>
                <a:cubicBezTo>
                  <a:pt x="583468" y="3501374"/>
                  <a:pt x="615972" y="3447073"/>
                  <a:pt x="792642" y="3417628"/>
                </a:cubicBezTo>
                <a:cubicBezTo>
                  <a:pt x="805644" y="3384359"/>
                  <a:pt x="741400" y="3378622"/>
                  <a:pt x="771610" y="3345736"/>
                </a:cubicBezTo>
                <a:cubicBezTo>
                  <a:pt x="826676" y="3320115"/>
                  <a:pt x="891302" y="3350325"/>
                  <a:pt x="945986" y="3317056"/>
                </a:cubicBezTo>
                <a:cubicBezTo>
                  <a:pt x="936426" y="3293347"/>
                  <a:pt x="890537" y="3310555"/>
                  <a:pt x="892449" y="3285316"/>
                </a:cubicBezTo>
                <a:cubicBezTo>
                  <a:pt x="894744" y="3256254"/>
                  <a:pt x="926866" y="3260843"/>
                  <a:pt x="949045" y="3262755"/>
                </a:cubicBezTo>
                <a:cubicBezTo>
                  <a:pt x="1056500" y="3272697"/>
                  <a:pt x="1149806" y="3218396"/>
                  <a:pt x="1252673" y="3200041"/>
                </a:cubicBezTo>
                <a:cubicBezTo>
                  <a:pt x="1142923" y="3154152"/>
                  <a:pt x="503164" y="3190863"/>
                  <a:pt x="388825" y="3176714"/>
                </a:cubicBezTo>
                <a:cubicBezTo>
                  <a:pt x="269133" y="3162183"/>
                  <a:pt x="78697" y="3123560"/>
                  <a:pt x="127644" y="3111323"/>
                </a:cubicBezTo>
                <a:cubicBezTo>
                  <a:pt x="183093" y="3097175"/>
                  <a:pt x="380795" y="2929300"/>
                  <a:pt x="437008" y="2921652"/>
                </a:cubicBezTo>
                <a:cubicBezTo>
                  <a:pt x="502399" y="2912857"/>
                  <a:pt x="515401" y="2901002"/>
                  <a:pt x="601441" y="2840965"/>
                </a:cubicBezTo>
                <a:cubicBezTo>
                  <a:pt x="658037" y="2801577"/>
                  <a:pt x="422477" y="2887235"/>
                  <a:pt x="330700" y="2859320"/>
                </a:cubicBezTo>
                <a:cubicBezTo>
                  <a:pt x="297049" y="2848995"/>
                  <a:pt x="534521" y="2740010"/>
                  <a:pt x="534521" y="2720126"/>
                </a:cubicBezTo>
                <a:cubicBezTo>
                  <a:pt x="534521" y="2699093"/>
                  <a:pt x="513106" y="2694505"/>
                  <a:pt x="492839" y="2694505"/>
                </a:cubicBezTo>
                <a:cubicBezTo>
                  <a:pt x="447715" y="2694505"/>
                  <a:pt x="461482" y="2676149"/>
                  <a:pt x="416358" y="2677297"/>
                </a:cubicBezTo>
                <a:cubicBezTo>
                  <a:pt x="548670" y="2624143"/>
                  <a:pt x="630504" y="2638292"/>
                  <a:pt x="761285" y="2589726"/>
                </a:cubicBezTo>
                <a:cubicBezTo>
                  <a:pt x="825147" y="2566017"/>
                  <a:pt x="599147" y="2487242"/>
                  <a:pt x="664920" y="2466593"/>
                </a:cubicBezTo>
                <a:cubicBezTo>
                  <a:pt x="689776" y="2458562"/>
                  <a:pt x="723045" y="2466975"/>
                  <a:pt x="740253" y="2438677"/>
                </a:cubicBezTo>
                <a:cubicBezTo>
                  <a:pt x="713103" y="2416116"/>
                  <a:pt x="677157" y="2426058"/>
                  <a:pt x="650006" y="2435236"/>
                </a:cubicBezTo>
                <a:cubicBezTo>
                  <a:pt x="580791" y="2458945"/>
                  <a:pt x="585763" y="2453209"/>
                  <a:pt x="578879" y="2435618"/>
                </a:cubicBezTo>
                <a:cubicBezTo>
                  <a:pt x="556318" y="2375581"/>
                  <a:pt x="500487" y="2394701"/>
                  <a:pt x="451157" y="2404644"/>
                </a:cubicBezTo>
                <a:cubicBezTo>
                  <a:pt x="302020" y="2434471"/>
                  <a:pt x="150971" y="2426058"/>
                  <a:pt x="2216" y="2456650"/>
                </a:cubicBezTo>
                <a:cubicBezTo>
                  <a:pt x="-13844" y="2460092"/>
                  <a:pt x="61489" y="2391642"/>
                  <a:pt x="97052" y="2383611"/>
                </a:cubicBezTo>
                <a:cubicBezTo>
                  <a:pt x="135675" y="2375199"/>
                  <a:pt x="183093" y="2381317"/>
                  <a:pt x="210626" y="2341930"/>
                </a:cubicBezTo>
                <a:cubicBezTo>
                  <a:pt x="161678" y="2331987"/>
                  <a:pt x="105848" y="2351107"/>
                  <a:pt x="57282" y="2319750"/>
                </a:cubicBezTo>
                <a:cubicBezTo>
                  <a:pt x="165120" y="2276539"/>
                  <a:pt x="272575" y="2278068"/>
                  <a:pt x="365499" y="2250153"/>
                </a:cubicBezTo>
                <a:cubicBezTo>
                  <a:pt x="373912" y="2198529"/>
                  <a:pt x="312727" y="2217266"/>
                  <a:pt x="290548" y="2187821"/>
                </a:cubicBezTo>
                <a:cubicBezTo>
                  <a:pt x="990345" y="2137344"/>
                  <a:pt x="599529" y="1988207"/>
                  <a:pt x="482896" y="1906755"/>
                </a:cubicBezTo>
                <a:cubicBezTo>
                  <a:pt x="443891" y="1879605"/>
                  <a:pt x="853827" y="1750735"/>
                  <a:pt x="867211" y="1747294"/>
                </a:cubicBezTo>
                <a:cubicBezTo>
                  <a:pt x="901245" y="1739263"/>
                  <a:pt x="1036233" y="1744999"/>
                  <a:pt x="1063766" y="1734674"/>
                </a:cubicBezTo>
                <a:cubicBezTo>
                  <a:pt x="1098947" y="1721673"/>
                  <a:pt x="982696" y="1699111"/>
                  <a:pt x="1008701" y="1683432"/>
                </a:cubicBezTo>
                <a:cubicBezTo>
                  <a:pt x="1191107" y="1572918"/>
                  <a:pt x="1204107" y="1406573"/>
                  <a:pt x="1152865" y="1394719"/>
                </a:cubicBezTo>
                <a:cubicBezTo>
                  <a:pt x="1099712" y="1382482"/>
                  <a:pt x="1047706" y="1392042"/>
                  <a:pt x="998376" y="1411927"/>
                </a:cubicBezTo>
                <a:cubicBezTo>
                  <a:pt x="918070" y="1444431"/>
                  <a:pt x="362057" y="1398160"/>
                  <a:pt x="206419" y="1424164"/>
                </a:cubicBezTo>
                <a:cubicBezTo>
                  <a:pt x="182710" y="1427988"/>
                  <a:pt x="150589" y="1445196"/>
                  <a:pt x="128027" y="1413074"/>
                </a:cubicBezTo>
                <a:cubicBezTo>
                  <a:pt x="288254" y="1309060"/>
                  <a:pt x="493986" y="1338888"/>
                  <a:pt x="672950" y="1268143"/>
                </a:cubicBezTo>
                <a:cubicBezTo>
                  <a:pt x="602588" y="1219578"/>
                  <a:pt x="531079" y="1221873"/>
                  <a:pt x="457658" y="1229138"/>
                </a:cubicBezTo>
                <a:cubicBezTo>
                  <a:pt x="438538" y="1231050"/>
                  <a:pt x="412534" y="1233727"/>
                  <a:pt x="407945" y="1213459"/>
                </a:cubicBezTo>
                <a:cubicBezTo>
                  <a:pt x="402209" y="1187838"/>
                  <a:pt x="433184" y="1183250"/>
                  <a:pt x="453451" y="1172924"/>
                </a:cubicBezTo>
                <a:cubicBezTo>
                  <a:pt x="484426" y="1156863"/>
                  <a:pt x="530314" y="1175984"/>
                  <a:pt x="568172" y="1132007"/>
                </a:cubicBezTo>
                <a:cubicBezTo>
                  <a:pt x="453451" y="1142333"/>
                  <a:pt x="356704" y="1160305"/>
                  <a:pt x="255367" y="1190898"/>
                </a:cubicBezTo>
                <a:cubicBezTo>
                  <a:pt x="264162" y="1163747"/>
                  <a:pt x="294754" y="1151128"/>
                  <a:pt x="277546" y="1128567"/>
                </a:cubicBezTo>
                <a:cubicBezTo>
                  <a:pt x="264545" y="1111740"/>
                  <a:pt x="227452" y="1103709"/>
                  <a:pt x="246572" y="1072353"/>
                </a:cubicBezTo>
                <a:cubicBezTo>
                  <a:pt x="300490" y="1039083"/>
                  <a:pt x="376971" y="1047879"/>
                  <a:pt x="422859" y="1000078"/>
                </a:cubicBezTo>
                <a:cubicBezTo>
                  <a:pt x="487868" y="932012"/>
                  <a:pt x="588822" y="908684"/>
                  <a:pt x="668362" y="858972"/>
                </a:cubicBezTo>
                <a:cubicBezTo>
                  <a:pt x="694747" y="842911"/>
                  <a:pt x="867976" y="786699"/>
                  <a:pt x="914629" y="768725"/>
                </a:cubicBezTo>
                <a:cubicBezTo>
                  <a:pt x="979637" y="743486"/>
                  <a:pt x="1053823" y="734691"/>
                  <a:pt x="1117684" y="688420"/>
                </a:cubicBezTo>
                <a:cubicBezTo>
                  <a:pt x="1054970" y="678860"/>
                  <a:pt x="1004112" y="722072"/>
                  <a:pt x="928778" y="701040"/>
                </a:cubicBezTo>
                <a:cubicBezTo>
                  <a:pt x="1048088" y="656299"/>
                  <a:pt x="1157454" y="636031"/>
                  <a:pt x="1243877" y="574464"/>
                </a:cubicBezTo>
                <a:cubicBezTo>
                  <a:pt x="1254585" y="566816"/>
                  <a:pt x="1275617" y="569111"/>
                  <a:pt x="1291678" y="566434"/>
                </a:cubicBezTo>
                <a:cubicBezTo>
                  <a:pt x="1460699" y="539283"/>
                  <a:pt x="1630486" y="516339"/>
                  <a:pt x="1797596" y="476952"/>
                </a:cubicBezTo>
                <a:cubicBezTo>
                  <a:pt x="1835454" y="467774"/>
                  <a:pt x="1902374" y="465480"/>
                  <a:pt x="1895491" y="432593"/>
                </a:cubicBezTo>
                <a:cubicBezTo>
                  <a:pt x="1885166" y="383263"/>
                  <a:pt x="1822835" y="418444"/>
                  <a:pt x="1782682" y="423033"/>
                </a:cubicBezTo>
                <a:cubicBezTo>
                  <a:pt x="1658019" y="437947"/>
                  <a:pt x="1533356" y="463950"/>
                  <a:pt x="1406781" y="449419"/>
                </a:cubicBezTo>
                <a:cubicBezTo>
                  <a:pt x="1492056" y="431064"/>
                  <a:pt x="1576950" y="412326"/>
                  <a:pt x="1662226" y="393970"/>
                </a:cubicBezTo>
                <a:cubicBezTo>
                  <a:pt x="1564330" y="400471"/>
                  <a:pt x="1479055" y="357642"/>
                  <a:pt x="1383837" y="376762"/>
                </a:cubicBezTo>
                <a:cubicBezTo>
                  <a:pt x="1353244" y="382881"/>
                  <a:pt x="1321123" y="363378"/>
                  <a:pt x="1318063" y="333168"/>
                </a:cubicBezTo>
                <a:cubicBezTo>
                  <a:pt x="1314622" y="309077"/>
                  <a:pt x="1343302" y="298370"/>
                  <a:pt x="1365099" y="290722"/>
                </a:cubicBezTo>
                <a:cubicBezTo>
                  <a:pt x="1420930" y="271219"/>
                  <a:pt x="1465288" y="213477"/>
                  <a:pt x="1536798" y="244069"/>
                </a:cubicBezTo>
                <a:cubicBezTo>
                  <a:pt x="1581921" y="195886"/>
                  <a:pt x="1653813" y="188238"/>
                  <a:pt x="1711938" y="175619"/>
                </a:cubicBezTo>
                <a:cubicBezTo>
                  <a:pt x="1897403" y="135849"/>
                  <a:pt x="2085546" y="104874"/>
                  <a:pt x="2273687" y="78488"/>
                </a:cubicBezTo>
                <a:cubicBezTo>
                  <a:pt x="2397204" y="61280"/>
                  <a:pt x="2524544" y="68546"/>
                  <a:pt x="2646913" y="46749"/>
                </a:cubicBezTo>
                <a:cubicBezTo>
                  <a:pt x="2886297" y="4302"/>
                  <a:pt x="3124151" y="5450"/>
                  <a:pt x="3362388" y="861"/>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192166EF-6438-D467-4D5F-ADC3D919D8EF}"/>
              </a:ext>
            </a:extLst>
          </p:cNvPr>
          <p:cNvSpPr>
            <a:spLocks noGrp="1"/>
          </p:cNvSpPr>
          <p:nvPr>
            <p:ph type="title"/>
          </p:nvPr>
        </p:nvSpPr>
        <p:spPr>
          <a:xfrm>
            <a:off x="628650" y="1121570"/>
            <a:ext cx="2800350" cy="3018232"/>
          </a:xfrm>
        </p:spPr>
        <p:txBody>
          <a:bodyPr vert="horz" lIns="91440" tIns="45720" rIns="91440" bIns="45720" rtlCol="0" anchor="ctr">
            <a:normAutofit/>
          </a:bodyPr>
          <a:lstStyle/>
          <a:p>
            <a:pPr defTabSz="914400"/>
            <a:r>
              <a:rPr lang="en-US" sz="4400" b="1" kern="1200">
                <a:solidFill>
                  <a:schemeClr val="tx1"/>
                </a:solidFill>
                <a:latin typeface="+mj-lt"/>
                <a:ea typeface="+mj-ea"/>
                <a:cs typeface="+mj-cs"/>
              </a:rPr>
              <a:t>Agenda</a:t>
            </a:r>
          </a:p>
        </p:txBody>
      </p:sp>
      <p:graphicFrame>
        <p:nvGraphicFramePr>
          <p:cNvPr id="5" name="Text Placeholder 2">
            <a:extLst>
              <a:ext uri="{FF2B5EF4-FFF2-40B4-BE49-F238E27FC236}">
                <a16:creationId xmlns:a16="http://schemas.microsoft.com/office/drawing/2014/main" id="{56646EF9-8F1B-5788-D46F-893DAF4349B5}"/>
              </a:ext>
            </a:extLst>
          </p:cNvPr>
          <p:cNvGraphicFramePr/>
          <p:nvPr>
            <p:extLst>
              <p:ext uri="{D42A27DB-BD31-4B8C-83A1-F6EECF244321}">
                <p14:modId xmlns:p14="http://schemas.microsoft.com/office/powerpoint/2010/main" val="1321243902"/>
              </p:ext>
            </p:extLst>
          </p:nvPr>
        </p:nvGraphicFramePr>
        <p:xfrm>
          <a:off x="3526910" y="457200"/>
          <a:ext cx="4988440" cy="41755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3523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FB7BE-3E4C-78AD-C720-FEECE7E16D81}"/>
              </a:ext>
            </a:extLst>
          </p:cNvPr>
          <p:cNvSpPr>
            <a:spLocks noGrp="1"/>
          </p:cNvSpPr>
          <p:nvPr>
            <p:ph type="title"/>
          </p:nvPr>
        </p:nvSpPr>
        <p:spPr>
          <a:xfrm>
            <a:off x="360759" y="2814636"/>
            <a:ext cx="2468166" cy="1839516"/>
          </a:xfrm>
        </p:spPr>
        <p:txBody>
          <a:bodyPr vert="horz" lIns="91440" tIns="45720" rIns="91440" bIns="45720" rtlCol="0" anchor="ctr">
            <a:normAutofit/>
          </a:bodyPr>
          <a:lstStyle/>
          <a:p>
            <a:pPr defTabSz="914400"/>
            <a:r>
              <a:rPr lang="en-US" sz="2700" b="1"/>
              <a:t>Why Web Analytics Matters Right Now</a:t>
            </a:r>
          </a:p>
        </p:txBody>
      </p:sp>
      <p:pic>
        <p:nvPicPr>
          <p:cNvPr id="5" name="Picture 4" descr="A green and orange rectangular sign&#10;&#10;AI-generated content may be incorrect.">
            <a:extLst>
              <a:ext uri="{FF2B5EF4-FFF2-40B4-BE49-F238E27FC236}">
                <a16:creationId xmlns:a16="http://schemas.microsoft.com/office/drawing/2014/main" id="{FEB5A0CD-5202-74F6-8809-78AF753CC1BD}"/>
              </a:ext>
            </a:extLst>
          </p:cNvPr>
          <p:cNvPicPr>
            <a:picLocks noChangeAspect="1"/>
          </p:cNvPicPr>
          <p:nvPr/>
        </p:nvPicPr>
        <p:blipFill>
          <a:blip r:embed="rId3"/>
          <a:srcRect t="19402" b="7261"/>
          <a:stretch>
            <a:fillRect/>
          </a:stretch>
        </p:blipFill>
        <p:spPr>
          <a:xfrm>
            <a:off x="20" y="10"/>
            <a:ext cx="9143980" cy="2782949"/>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Text Placeholder 2">
            <a:extLst>
              <a:ext uri="{FF2B5EF4-FFF2-40B4-BE49-F238E27FC236}">
                <a16:creationId xmlns:a16="http://schemas.microsoft.com/office/drawing/2014/main" id="{96A9B3A8-839B-0521-59D6-7F9DF07EEF67}"/>
              </a:ext>
            </a:extLst>
          </p:cNvPr>
          <p:cNvSpPr>
            <a:spLocks noGrp="1"/>
          </p:cNvSpPr>
          <p:nvPr>
            <p:ph type="body" idx="1"/>
          </p:nvPr>
        </p:nvSpPr>
        <p:spPr>
          <a:xfrm>
            <a:off x="3167986" y="2814637"/>
            <a:ext cx="5614060" cy="1839515"/>
          </a:xfrm>
        </p:spPr>
        <p:txBody>
          <a:bodyPr vert="horz" lIns="91440" tIns="45720" rIns="91440" bIns="45720" rtlCol="0" anchor="ctr">
            <a:normAutofit/>
          </a:bodyPr>
          <a:lstStyle/>
          <a:p>
            <a:pPr indent="-228600" defTabSz="914400"/>
            <a:r>
              <a:rPr lang="en-US" sz="1400" dirty="0"/>
              <a:t>Digital behavior changes fast, analytics shows what is actually happening</a:t>
            </a:r>
          </a:p>
          <a:p>
            <a:pPr indent="-228600" defTabSz="914400"/>
            <a:r>
              <a:rPr lang="en-US" sz="1400" dirty="0"/>
              <a:t>Teams use metrics to prioritize content, features, and marketing spend</a:t>
            </a:r>
          </a:p>
          <a:p>
            <a:pPr indent="-228600" defTabSz="914400"/>
            <a:r>
              <a:rPr lang="en-US" sz="1400" dirty="0"/>
              <a:t>Measurement reduces guesswork and improves accountability</a:t>
            </a:r>
          </a:p>
          <a:p>
            <a:pPr indent="-228600" defTabSz="914400"/>
            <a:r>
              <a:rPr lang="en-US" sz="1400" dirty="0"/>
              <a:t>Strong analytics helps align product, creative, and revenue goals</a:t>
            </a:r>
          </a:p>
          <a:p>
            <a:pPr marL="0" indent="-228600" defTabSz="914400"/>
            <a:endParaRPr lang="en-US" sz="1400" dirty="0"/>
          </a:p>
        </p:txBody>
      </p:sp>
    </p:spTree>
    <p:extLst>
      <p:ext uri="{BB962C8B-B14F-4D97-AF65-F5344CB8AC3E}">
        <p14:creationId xmlns:p14="http://schemas.microsoft.com/office/powerpoint/2010/main" val="604679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9696"/>
            <a:ext cx="9141714" cy="2618217"/>
            <a:chOff x="651279" y="598259"/>
            <a:chExt cx="10889442" cy="5680742"/>
          </a:xfrm>
        </p:grpSpPr>
        <p:sp>
          <p:nvSpPr>
            <p:cNvPr id="15"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A tree with many rectangles&#10;&#10;AI-generated content may be incorrect.">
            <a:extLst>
              <a:ext uri="{FF2B5EF4-FFF2-40B4-BE49-F238E27FC236}">
                <a16:creationId xmlns:a16="http://schemas.microsoft.com/office/drawing/2014/main" id="{FBB3F5CB-2184-FDC2-57DF-1276B6997A56}"/>
              </a:ext>
            </a:extLst>
          </p:cNvPr>
          <p:cNvPicPr>
            <a:picLocks noChangeAspect="1"/>
          </p:cNvPicPr>
          <p:nvPr/>
        </p:nvPicPr>
        <p:blipFill>
          <a:blip r:embed="rId3"/>
          <a:stretch>
            <a:fillRect/>
          </a:stretch>
        </p:blipFill>
        <p:spPr>
          <a:xfrm>
            <a:off x="5111348" y="798957"/>
            <a:ext cx="3530434" cy="3545586"/>
          </a:xfrm>
          <a:prstGeom prst="rect">
            <a:avLst/>
          </a:prstGeom>
        </p:spPr>
      </p:pic>
      <p:grpSp>
        <p:nvGrpSpPr>
          <p:cNvPr id="30" name="Group 2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5143498"/>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6E2DBD1-D8B3-35D8-4DE4-AE685AEAE94A}"/>
              </a:ext>
            </a:extLst>
          </p:cNvPr>
          <p:cNvSpPr>
            <a:spLocks noGrp="1"/>
          </p:cNvSpPr>
          <p:nvPr>
            <p:ph type="title"/>
          </p:nvPr>
        </p:nvSpPr>
        <p:spPr>
          <a:xfrm>
            <a:off x="589788" y="630936"/>
            <a:ext cx="4269714" cy="1940349"/>
          </a:xfrm>
        </p:spPr>
        <p:txBody>
          <a:bodyPr vert="horz" lIns="91440" tIns="45720" rIns="91440" bIns="45720" rtlCol="0" anchor="b">
            <a:normAutofit/>
          </a:bodyPr>
          <a:lstStyle/>
          <a:p>
            <a:pPr defTabSz="914400"/>
            <a:r>
              <a:rPr lang="en-US" sz="3600" b="1" kern="1200">
                <a:solidFill>
                  <a:schemeClr val="bg1"/>
                </a:solidFill>
                <a:latin typeface="+mj-lt"/>
                <a:ea typeface="+mj-ea"/>
                <a:cs typeface="+mj-cs"/>
              </a:rPr>
              <a:t>From Metrics to Decisions</a:t>
            </a:r>
          </a:p>
        </p:txBody>
      </p:sp>
      <p:sp>
        <p:nvSpPr>
          <p:cNvPr id="3" name="Text Placeholder 2">
            <a:extLst>
              <a:ext uri="{FF2B5EF4-FFF2-40B4-BE49-F238E27FC236}">
                <a16:creationId xmlns:a16="http://schemas.microsoft.com/office/drawing/2014/main" id="{ECE9FC91-97F8-9FB7-5913-9353470E20B3}"/>
              </a:ext>
            </a:extLst>
          </p:cNvPr>
          <p:cNvSpPr>
            <a:spLocks noGrp="1"/>
          </p:cNvSpPr>
          <p:nvPr>
            <p:ph type="body" idx="1"/>
          </p:nvPr>
        </p:nvSpPr>
        <p:spPr>
          <a:xfrm>
            <a:off x="589787" y="2675107"/>
            <a:ext cx="4269715" cy="1988333"/>
          </a:xfrm>
        </p:spPr>
        <p:txBody>
          <a:bodyPr vert="horz" lIns="91440" tIns="45720" rIns="91440" bIns="45720" rtlCol="0" anchor="ctr">
            <a:normAutofit/>
          </a:bodyPr>
          <a:lstStyle/>
          <a:p>
            <a:pPr indent="-228600" defTabSz="914400"/>
            <a:r>
              <a:rPr lang="en-US" sz="1100" b="1" dirty="0">
                <a:solidFill>
                  <a:schemeClr val="tx2"/>
                </a:solidFill>
              </a:rPr>
              <a:t>Content decisions: </a:t>
            </a:r>
            <a:r>
              <a:rPr lang="en-US" sz="1100" dirty="0">
                <a:solidFill>
                  <a:schemeClr val="tx2"/>
                </a:solidFill>
              </a:rPr>
              <a:t>what to publish more of and what to retire</a:t>
            </a:r>
          </a:p>
          <a:p>
            <a:pPr indent="-228600" defTabSz="914400"/>
            <a:r>
              <a:rPr lang="en-US" sz="1100" b="1" dirty="0">
                <a:solidFill>
                  <a:schemeClr val="tx2"/>
                </a:solidFill>
              </a:rPr>
              <a:t>UX decisions: </a:t>
            </a:r>
            <a:r>
              <a:rPr lang="en-US" sz="1100" dirty="0">
                <a:solidFill>
                  <a:schemeClr val="tx2"/>
                </a:solidFill>
              </a:rPr>
              <a:t>where users drop off and what to fix first</a:t>
            </a:r>
          </a:p>
          <a:p>
            <a:pPr indent="-228600" defTabSz="914400"/>
            <a:r>
              <a:rPr lang="en-US" sz="1100" b="1" dirty="0">
                <a:solidFill>
                  <a:schemeClr val="tx2"/>
                </a:solidFill>
              </a:rPr>
              <a:t>Growth decisions: </a:t>
            </a:r>
            <a:r>
              <a:rPr lang="en-US" sz="1100" dirty="0">
                <a:solidFill>
                  <a:schemeClr val="tx2"/>
                </a:solidFill>
              </a:rPr>
              <a:t>which channels drive valuable traffic</a:t>
            </a:r>
          </a:p>
          <a:p>
            <a:pPr indent="-228600" defTabSz="914400"/>
            <a:r>
              <a:rPr lang="en-US" sz="1100" b="1" dirty="0">
                <a:solidFill>
                  <a:schemeClr val="tx2"/>
                </a:solidFill>
              </a:rPr>
              <a:t>Revenue decisions: </a:t>
            </a:r>
            <a:r>
              <a:rPr lang="en-US" sz="1100" dirty="0">
                <a:solidFill>
                  <a:schemeClr val="tx2"/>
                </a:solidFill>
              </a:rPr>
              <a:t>which segments and formats monetize  best</a:t>
            </a:r>
          </a:p>
          <a:p>
            <a:pPr marL="0" indent="0" defTabSz="914400">
              <a:buNone/>
            </a:pPr>
            <a:endParaRPr lang="en-US" sz="1100" dirty="0">
              <a:solidFill>
                <a:schemeClr val="tx2"/>
              </a:solidFill>
            </a:endParaRPr>
          </a:p>
        </p:txBody>
      </p:sp>
    </p:spTree>
    <p:extLst>
      <p:ext uri="{BB962C8B-B14F-4D97-AF65-F5344CB8AC3E}">
        <p14:creationId xmlns:p14="http://schemas.microsoft.com/office/powerpoint/2010/main" val="57930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7B2F-B321-D38A-F76D-C6A1AD21716F}"/>
              </a:ext>
            </a:extLst>
          </p:cNvPr>
          <p:cNvSpPr>
            <a:spLocks noGrp="1"/>
          </p:cNvSpPr>
          <p:nvPr>
            <p:ph type="title"/>
          </p:nvPr>
        </p:nvSpPr>
        <p:spPr>
          <a:xfrm>
            <a:off x="657519" y="556043"/>
            <a:ext cx="3448311" cy="1212152"/>
          </a:xfrm>
        </p:spPr>
        <p:txBody>
          <a:bodyPr vert="horz" lIns="91440" tIns="45720" rIns="91440" bIns="45720" rtlCol="0" anchor="b">
            <a:normAutofit/>
          </a:bodyPr>
          <a:lstStyle/>
          <a:p>
            <a:pPr defTabSz="914400"/>
            <a:r>
              <a:rPr lang="en-US" sz="2400" b="1" kern="1200" dirty="0">
                <a:solidFill>
                  <a:schemeClr val="tx1"/>
                </a:solidFill>
                <a:latin typeface="+mj-lt"/>
                <a:ea typeface="+mj-ea"/>
                <a:cs typeface="+mj-cs"/>
              </a:rPr>
              <a:t>Big Data in Web Analytics</a:t>
            </a:r>
          </a:p>
        </p:txBody>
      </p:sp>
      <p:sp>
        <p:nvSpPr>
          <p:cNvPr id="3" name="Text Placeholder 2">
            <a:extLst>
              <a:ext uri="{FF2B5EF4-FFF2-40B4-BE49-F238E27FC236}">
                <a16:creationId xmlns:a16="http://schemas.microsoft.com/office/drawing/2014/main" id="{7E514643-A1DC-2FB9-41AD-127FC0026A40}"/>
              </a:ext>
            </a:extLst>
          </p:cNvPr>
          <p:cNvSpPr>
            <a:spLocks noGrp="1"/>
          </p:cNvSpPr>
          <p:nvPr>
            <p:ph type="body" idx="1"/>
          </p:nvPr>
        </p:nvSpPr>
        <p:spPr>
          <a:xfrm>
            <a:off x="657519" y="1900107"/>
            <a:ext cx="3448310" cy="2585874"/>
          </a:xfrm>
        </p:spPr>
        <p:txBody>
          <a:bodyPr vert="horz" lIns="91440" tIns="45720" rIns="91440" bIns="45720" rtlCol="0" anchor="t">
            <a:normAutofit/>
          </a:bodyPr>
          <a:lstStyle/>
          <a:p>
            <a:pPr indent="-228600" defTabSz="914400"/>
            <a:r>
              <a:rPr lang="en-US" sz="1500" b="1" dirty="0"/>
              <a:t>High volume: </a:t>
            </a:r>
            <a:r>
              <a:rPr lang="en-US" sz="1500" dirty="0"/>
              <a:t>events, clicks, views, and logs add up quickly</a:t>
            </a:r>
          </a:p>
          <a:p>
            <a:pPr indent="-228600" defTabSz="914400"/>
            <a:r>
              <a:rPr lang="en-US" sz="1500" b="1" dirty="0"/>
              <a:t>High speed: </a:t>
            </a:r>
            <a:r>
              <a:rPr lang="en-US" sz="1500" dirty="0"/>
              <a:t>data arrives continuously and needs fast processing</a:t>
            </a:r>
          </a:p>
          <a:p>
            <a:pPr indent="-228600" defTabSz="914400"/>
            <a:r>
              <a:rPr lang="en-US" sz="1500" b="1" dirty="0"/>
              <a:t>Many sources: </a:t>
            </a:r>
            <a:r>
              <a:rPr lang="en-US" sz="1500" dirty="0"/>
              <a:t>web, app, ads, CRM, subscriptions, and support tools</a:t>
            </a:r>
          </a:p>
          <a:p>
            <a:pPr indent="-228600" defTabSz="914400"/>
            <a:r>
              <a:rPr lang="en-US" sz="1500" b="1" dirty="0"/>
              <a:t>Quality issues: </a:t>
            </a:r>
            <a:r>
              <a:rPr lang="en-US" sz="1500" dirty="0"/>
              <a:t>bots, missing tags, sampling, and inconsistent definitions</a:t>
            </a:r>
          </a:p>
          <a:p>
            <a:pPr marL="0" indent="-228600" defTabSz="914400"/>
            <a:endParaRPr lang="en-US" sz="1500" dirty="0"/>
          </a:p>
        </p:txBody>
      </p:sp>
      <p:pic>
        <p:nvPicPr>
          <p:cNvPr id="5" name="Picture 4" descr="A screenshot of a game&#10;&#10;AI-generated content may be incorrect.">
            <a:extLst>
              <a:ext uri="{FF2B5EF4-FFF2-40B4-BE49-F238E27FC236}">
                <a16:creationId xmlns:a16="http://schemas.microsoft.com/office/drawing/2014/main" id="{CEBE4E19-75A4-D5C4-A9A6-E7F1D89F7A61}"/>
              </a:ext>
            </a:extLst>
          </p:cNvPr>
          <p:cNvPicPr>
            <a:picLocks noChangeAspect="1"/>
          </p:cNvPicPr>
          <p:nvPr/>
        </p:nvPicPr>
        <p:blipFill>
          <a:blip r:embed="rId3"/>
          <a:stretch>
            <a:fillRect/>
          </a:stretch>
        </p:blipFill>
        <p:spPr>
          <a:xfrm>
            <a:off x="4053017" y="952284"/>
            <a:ext cx="4972253" cy="3318978"/>
          </a:xfrm>
          <a:prstGeom prst="rect">
            <a:avLst/>
          </a:prstGeom>
        </p:spPr>
      </p:pic>
      <p:grpSp>
        <p:nvGrpSpPr>
          <p:cNvPr id="10" name="Group 9">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5053288"/>
            <a:ext cx="9155399" cy="92522"/>
            <a:chOff x="-5025" y="6737718"/>
            <a:chExt cx="12207200" cy="123363"/>
          </a:xfrm>
        </p:grpSpPr>
        <p:sp>
          <p:nvSpPr>
            <p:cNvPr id="11" name="Rectangle 10">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160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company&#10;&#10;AI-generated content may be incorrect.">
            <a:extLst>
              <a:ext uri="{FF2B5EF4-FFF2-40B4-BE49-F238E27FC236}">
                <a16:creationId xmlns:a16="http://schemas.microsoft.com/office/drawing/2014/main" id="{66C0485C-BD84-5745-CB61-6555533093F8}"/>
              </a:ext>
            </a:extLst>
          </p:cNvPr>
          <p:cNvPicPr>
            <a:picLocks noChangeAspect="1"/>
          </p:cNvPicPr>
          <p:nvPr/>
        </p:nvPicPr>
        <p:blipFill>
          <a:blip r:embed="rId3"/>
          <a:srcRect l="9859" r="-1" b="-1"/>
          <a:stretch>
            <a:fillRect/>
          </a:stretch>
        </p:blipFill>
        <p:spPr>
          <a:xfrm>
            <a:off x="3662268" y="10"/>
            <a:ext cx="5481732" cy="2523734"/>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7" name="Picture 6" descr="A screenshot of a computer&#10;&#10;AI-generated content may be incorrect.">
            <a:extLst>
              <a:ext uri="{FF2B5EF4-FFF2-40B4-BE49-F238E27FC236}">
                <a16:creationId xmlns:a16="http://schemas.microsoft.com/office/drawing/2014/main" id="{9F44845E-F053-99D3-A455-C51C2B49FC42}"/>
              </a:ext>
            </a:extLst>
          </p:cNvPr>
          <p:cNvPicPr>
            <a:picLocks noChangeAspect="1"/>
          </p:cNvPicPr>
          <p:nvPr/>
        </p:nvPicPr>
        <p:blipFill>
          <a:blip r:embed="rId4"/>
          <a:srcRect r="12572" b="-3"/>
          <a:stretch>
            <a:fillRect/>
          </a:stretch>
        </p:blipFill>
        <p:spPr>
          <a:xfrm>
            <a:off x="3662268" y="2619756"/>
            <a:ext cx="5481732" cy="2523744"/>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4" name="Freeform: Shape 13">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51435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499" cy="51435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05E56EE7-FB93-4285-443F-C54C126D0773}"/>
              </a:ext>
            </a:extLst>
          </p:cNvPr>
          <p:cNvSpPr>
            <a:spLocks noGrp="1"/>
          </p:cNvSpPr>
          <p:nvPr>
            <p:ph type="title"/>
          </p:nvPr>
        </p:nvSpPr>
        <p:spPr>
          <a:xfrm>
            <a:off x="336042" y="644652"/>
            <a:ext cx="3624601" cy="932688"/>
          </a:xfrm>
        </p:spPr>
        <p:txBody>
          <a:bodyPr vert="horz" lIns="91440" tIns="45720" rIns="91440" bIns="45720" rtlCol="0" anchor="ctr">
            <a:normAutofit/>
          </a:bodyPr>
          <a:lstStyle/>
          <a:p>
            <a:pPr defTabSz="914400"/>
            <a:r>
              <a:rPr lang="en-US" sz="2600" b="1" kern="1200" dirty="0">
                <a:solidFill>
                  <a:schemeClr val="tx1"/>
                </a:solidFill>
                <a:latin typeface="+mj-lt"/>
                <a:ea typeface="+mj-ea"/>
                <a:cs typeface="+mj-cs"/>
              </a:rPr>
              <a:t>Challenge: Data Collection</a:t>
            </a:r>
          </a:p>
        </p:txBody>
      </p:sp>
      <p:sp>
        <p:nvSpPr>
          <p:cNvPr id="18" name="Rectangle 17">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4108"/>
            <a:ext cx="96012" cy="4904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0" name="Rectangle 19">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1645920"/>
            <a:ext cx="3669030" cy="13716"/>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1645920"/>
            <a:ext cx="366903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F5009CEC-3783-B5EA-D6FD-6A305338C4BD}"/>
              </a:ext>
            </a:extLst>
          </p:cNvPr>
          <p:cNvSpPr>
            <a:spLocks noGrp="1"/>
          </p:cNvSpPr>
          <p:nvPr>
            <p:ph type="body" idx="1"/>
          </p:nvPr>
        </p:nvSpPr>
        <p:spPr>
          <a:xfrm>
            <a:off x="336042" y="1884458"/>
            <a:ext cx="3624602" cy="2748263"/>
          </a:xfrm>
        </p:spPr>
        <p:txBody>
          <a:bodyPr vert="horz" lIns="91440" tIns="45720" rIns="91440" bIns="45720" rtlCol="0">
            <a:normAutofit/>
          </a:bodyPr>
          <a:lstStyle/>
          <a:p>
            <a:pPr indent="-228600" defTabSz="914400"/>
            <a:r>
              <a:rPr lang="en-US" sz="1400" dirty="0"/>
              <a:t>Tracking plan gaps lead to missing events and incomplete stories</a:t>
            </a:r>
          </a:p>
          <a:p>
            <a:pPr indent="-228600" defTabSz="914400"/>
            <a:r>
              <a:rPr lang="en-US" sz="1400" dirty="0"/>
              <a:t>Tag issues cause double-counting or lost sessions</a:t>
            </a:r>
          </a:p>
          <a:p>
            <a:pPr indent="-228600" defTabSz="914400"/>
            <a:r>
              <a:rPr lang="en-US" sz="1400" dirty="0"/>
              <a:t>Cross-device behavior is hard to unify cleanly</a:t>
            </a:r>
          </a:p>
          <a:p>
            <a:pPr indent="-228600" defTabSz="914400"/>
            <a:r>
              <a:rPr lang="en-US" sz="1400" dirty="0"/>
              <a:t>Consent requirements change what can be collected</a:t>
            </a:r>
          </a:p>
          <a:p>
            <a:pPr marL="0" indent="0" defTabSz="914400">
              <a:buNone/>
            </a:pPr>
            <a:endParaRPr lang="en-US" sz="1400" dirty="0"/>
          </a:p>
        </p:txBody>
      </p:sp>
    </p:spTree>
    <p:extLst>
      <p:ext uri="{BB962C8B-B14F-4D97-AF65-F5344CB8AC3E}">
        <p14:creationId xmlns:p14="http://schemas.microsoft.com/office/powerpoint/2010/main" val="339677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51435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51435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672664-0C69-3CF9-F8C1-FD7A534C7007}"/>
              </a:ext>
            </a:extLst>
          </p:cNvPr>
          <p:cNvSpPr>
            <a:spLocks noGrp="1"/>
          </p:cNvSpPr>
          <p:nvPr>
            <p:ph type="title"/>
          </p:nvPr>
        </p:nvSpPr>
        <p:spPr>
          <a:xfrm>
            <a:off x="278320" y="870966"/>
            <a:ext cx="2578608" cy="929259"/>
          </a:xfrm>
        </p:spPr>
        <p:txBody>
          <a:bodyPr vert="horz" lIns="91440" tIns="45720" rIns="91440" bIns="45720" rtlCol="0" anchor="ctr">
            <a:normAutofit/>
          </a:bodyPr>
          <a:lstStyle/>
          <a:p>
            <a:pPr defTabSz="914400"/>
            <a:r>
              <a:rPr lang="en-US" sz="2100" b="1" kern="1200">
                <a:solidFill>
                  <a:schemeClr val="tx1"/>
                </a:solidFill>
                <a:latin typeface="+mj-lt"/>
                <a:ea typeface="+mj-ea"/>
                <a:cs typeface="+mj-cs"/>
              </a:rPr>
              <a:t>Challenge: Storage and Processing</a:t>
            </a:r>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69909"/>
            <a:ext cx="96012" cy="4904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1832610"/>
            <a:ext cx="253746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1612370C-631A-BC42-63A8-5FB85E77D59B}"/>
              </a:ext>
            </a:extLst>
          </p:cNvPr>
          <p:cNvSpPr>
            <a:spLocks noGrp="1"/>
          </p:cNvSpPr>
          <p:nvPr>
            <p:ph type="body" idx="1"/>
          </p:nvPr>
        </p:nvSpPr>
        <p:spPr>
          <a:xfrm>
            <a:off x="278320" y="2038540"/>
            <a:ext cx="2579180" cy="2405444"/>
          </a:xfrm>
        </p:spPr>
        <p:txBody>
          <a:bodyPr vert="horz" lIns="91440" tIns="45720" rIns="91440" bIns="45720" rtlCol="0" anchor="t">
            <a:normAutofit/>
          </a:bodyPr>
          <a:lstStyle/>
          <a:p>
            <a:pPr indent="-228600" defTabSz="914400"/>
            <a:r>
              <a:rPr lang="en-US" sz="1300"/>
              <a:t>Raw events must be stored reliably for audit and reprocessing</a:t>
            </a:r>
          </a:p>
          <a:p>
            <a:pPr indent="-228600" defTabSz="914400"/>
            <a:r>
              <a:rPr lang="en-US" sz="1300"/>
              <a:t>Pipelines must handle spikes without losing data</a:t>
            </a:r>
          </a:p>
          <a:p>
            <a:pPr indent="-228600" defTabSz="914400"/>
            <a:r>
              <a:rPr lang="en-US" sz="1300"/>
              <a:t>Transformations must be consistent and documented</a:t>
            </a:r>
          </a:p>
          <a:p>
            <a:pPr indent="-228600" defTabSz="914400"/>
            <a:r>
              <a:rPr lang="en-US" sz="1300"/>
              <a:t>Access controls are needed to prevent misuse</a:t>
            </a:r>
          </a:p>
          <a:p>
            <a:pPr marL="0" indent="-228600" defTabSz="914400"/>
            <a:endParaRPr lang="en-US" sz="1300"/>
          </a:p>
        </p:txBody>
      </p:sp>
      <p:pic>
        <p:nvPicPr>
          <p:cNvPr id="6" name="Picture 5" descr="A diagram of a software process&#10;&#10;AI-generated content may be incorrect.">
            <a:extLst>
              <a:ext uri="{FF2B5EF4-FFF2-40B4-BE49-F238E27FC236}">
                <a16:creationId xmlns:a16="http://schemas.microsoft.com/office/drawing/2014/main" id="{C250B478-13E6-0914-7396-05998ED486C2}"/>
              </a:ext>
            </a:extLst>
          </p:cNvPr>
          <p:cNvPicPr>
            <a:picLocks noChangeAspect="1"/>
          </p:cNvPicPr>
          <p:nvPr/>
        </p:nvPicPr>
        <p:blipFill>
          <a:blip r:embed="rId3"/>
          <a:stretch>
            <a:fillRect/>
          </a:stretch>
        </p:blipFill>
        <p:spPr>
          <a:xfrm>
            <a:off x="3478106" y="1207220"/>
            <a:ext cx="5577839" cy="2729060"/>
          </a:xfrm>
          <a:prstGeom prst="rect">
            <a:avLst/>
          </a:prstGeom>
        </p:spPr>
      </p:pic>
    </p:spTree>
    <p:extLst>
      <p:ext uri="{BB962C8B-B14F-4D97-AF65-F5344CB8AC3E}">
        <p14:creationId xmlns:p14="http://schemas.microsoft.com/office/powerpoint/2010/main" val="1587686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51435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51435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B13FAD-7D05-5A59-DD9F-C232CB257E25}"/>
              </a:ext>
            </a:extLst>
          </p:cNvPr>
          <p:cNvSpPr>
            <a:spLocks noGrp="1"/>
          </p:cNvSpPr>
          <p:nvPr>
            <p:ph type="title"/>
          </p:nvPr>
        </p:nvSpPr>
        <p:spPr>
          <a:xfrm>
            <a:off x="278320" y="870966"/>
            <a:ext cx="2578608" cy="929259"/>
          </a:xfrm>
        </p:spPr>
        <p:txBody>
          <a:bodyPr vert="horz" lIns="91440" tIns="45720" rIns="91440" bIns="45720" rtlCol="0" anchor="ctr">
            <a:normAutofit/>
          </a:bodyPr>
          <a:lstStyle/>
          <a:p>
            <a:pPr defTabSz="914400"/>
            <a:r>
              <a:rPr lang="en-US" sz="1900" b="1" kern="1200">
                <a:solidFill>
                  <a:schemeClr val="tx1"/>
                </a:solidFill>
                <a:latin typeface="+mj-lt"/>
                <a:ea typeface="+mj-ea"/>
                <a:cs typeface="+mj-cs"/>
              </a:rPr>
              <a:t>Challenge: Modeling and Actionable Insight</a:t>
            </a:r>
          </a:p>
        </p:txBody>
      </p:sp>
      <p:sp>
        <p:nvSpPr>
          <p:cNvPr id="27" name="Rectangle 2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69909"/>
            <a:ext cx="96012" cy="4904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1832610"/>
            <a:ext cx="253746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81BC5DE6-31DA-D9CC-80FD-6606C0636362}"/>
              </a:ext>
            </a:extLst>
          </p:cNvPr>
          <p:cNvSpPr>
            <a:spLocks noGrp="1"/>
          </p:cNvSpPr>
          <p:nvPr>
            <p:ph type="body" idx="1"/>
          </p:nvPr>
        </p:nvSpPr>
        <p:spPr>
          <a:xfrm>
            <a:off x="278320" y="2038540"/>
            <a:ext cx="2579180" cy="2405444"/>
          </a:xfrm>
        </p:spPr>
        <p:txBody>
          <a:bodyPr vert="horz" lIns="91440" tIns="45720" rIns="91440" bIns="45720" rtlCol="0" anchor="t">
            <a:normAutofit/>
          </a:bodyPr>
          <a:lstStyle/>
          <a:p>
            <a:pPr indent="-228600" defTabSz="914400"/>
            <a:r>
              <a:rPr lang="en-US" sz="1300" dirty="0"/>
              <a:t>Metrics must match business questions, not vanity reporting</a:t>
            </a:r>
          </a:p>
          <a:p>
            <a:pPr indent="-228600" defTabSz="914400"/>
            <a:r>
              <a:rPr lang="en-US" sz="1300" dirty="0"/>
              <a:t>Attribution is complex when users return through different channels</a:t>
            </a:r>
          </a:p>
          <a:p>
            <a:pPr indent="-228600" defTabSz="914400"/>
            <a:r>
              <a:rPr lang="en-US" sz="1300" dirty="0"/>
              <a:t>Segment definitions must be stable across reports</a:t>
            </a:r>
          </a:p>
          <a:p>
            <a:pPr indent="-228600" defTabSz="914400"/>
            <a:r>
              <a:rPr lang="en-US" sz="1300" dirty="0"/>
              <a:t>Insight requires context like content type, audience, and intent</a:t>
            </a:r>
          </a:p>
          <a:p>
            <a:pPr marL="0" indent="-228600" defTabSz="914400"/>
            <a:endParaRPr lang="en-US" sz="1300" dirty="0"/>
          </a:p>
        </p:txBody>
      </p:sp>
      <p:pic>
        <p:nvPicPr>
          <p:cNvPr id="5" name="Picture 4" descr="A table with a calculator and pen&#10;&#10;AI-generated content may be incorrect.">
            <a:extLst>
              <a:ext uri="{FF2B5EF4-FFF2-40B4-BE49-F238E27FC236}">
                <a16:creationId xmlns:a16="http://schemas.microsoft.com/office/drawing/2014/main" id="{C3269523-FEBA-3C3A-D2FC-C8055D18C1A4}"/>
              </a:ext>
            </a:extLst>
          </p:cNvPr>
          <p:cNvPicPr>
            <a:picLocks noChangeAspect="1"/>
          </p:cNvPicPr>
          <p:nvPr/>
        </p:nvPicPr>
        <p:blipFill>
          <a:blip r:embed="rId3"/>
          <a:stretch>
            <a:fillRect/>
          </a:stretch>
        </p:blipFill>
        <p:spPr>
          <a:xfrm>
            <a:off x="3405338" y="165947"/>
            <a:ext cx="5708669" cy="4866640"/>
          </a:xfrm>
          <a:prstGeom prst="rect">
            <a:avLst/>
          </a:prstGeom>
        </p:spPr>
      </p:pic>
    </p:spTree>
    <p:extLst>
      <p:ext uri="{BB962C8B-B14F-4D97-AF65-F5344CB8AC3E}">
        <p14:creationId xmlns:p14="http://schemas.microsoft.com/office/powerpoint/2010/main" val="878760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462237-503B-E3DF-E817-9D05F03E3B8E}"/>
              </a:ext>
            </a:extLst>
          </p:cNvPr>
          <p:cNvSpPr>
            <a:spLocks noGrp="1"/>
          </p:cNvSpPr>
          <p:nvPr>
            <p:ph type="title"/>
          </p:nvPr>
        </p:nvSpPr>
        <p:spPr>
          <a:xfrm>
            <a:off x="483798" y="394486"/>
            <a:ext cx="3212237" cy="900271"/>
          </a:xfrm>
        </p:spPr>
        <p:txBody>
          <a:bodyPr vert="horz" lIns="91440" tIns="45720" rIns="91440" bIns="45720" rtlCol="0" anchor="b">
            <a:normAutofit/>
          </a:bodyPr>
          <a:lstStyle/>
          <a:p>
            <a:pPr defTabSz="914400"/>
            <a:r>
              <a:rPr lang="en-US" sz="2700" b="1" kern="1200" dirty="0">
                <a:solidFill>
                  <a:schemeClr val="tx1"/>
                </a:solidFill>
                <a:latin typeface="+mj-lt"/>
                <a:ea typeface="+mj-ea"/>
                <a:cs typeface="+mj-cs"/>
              </a:rPr>
              <a:t>Web Analytics Data Formats</a:t>
            </a:r>
          </a:p>
        </p:txBody>
      </p:sp>
      <p:sp>
        <p:nvSpPr>
          <p:cNvPr id="30" name="Rectangle 2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399" y="1458684"/>
            <a:ext cx="3017520" cy="2057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7723A54B-63B1-9DFC-DF15-FEAE32078712}"/>
              </a:ext>
            </a:extLst>
          </p:cNvPr>
          <p:cNvSpPr>
            <a:spLocks noGrp="1"/>
          </p:cNvSpPr>
          <p:nvPr>
            <p:ph type="body" idx="1"/>
          </p:nvPr>
        </p:nvSpPr>
        <p:spPr>
          <a:xfrm>
            <a:off x="483799" y="1523325"/>
            <a:ext cx="3212238" cy="2633958"/>
          </a:xfrm>
        </p:spPr>
        <p:txBody>
          <a:bodyPr vert="horz" lIns="91440" tIns="45720" rIns="91440" bIns="45720" rtlCol="0" anchor="ctr">
            <a:normAutofit/>
          </a:bodyPr>
          <a:lstStyle/>
          <a:p>
            <a:pPr indent="-228600" defTabSz="914400"/>
            <a:r>
              <a:rPr lang="en-US" sz="1400" b="1" dirty="0"/>
              <a:t>Structured: </a:t>
            </a:r>
            <a:r>
              <a:rPr lang="en-US" sz="1400" dirty="0"/>
              <a:t>tables like views, CTR, revenue by day</a:t>
            </a:r>
          </a:p>
          <a:p>
            <a:pPr indent="-228600" defTabSz="914400"/>
            <a:r>
              <a:rPr lang="en-US" sz="1400" b="1" dirty="0"/>
              <a:t>Semi-structured: </a:t>
            </a:r>
            <a:r>
              <a:rPr lang="en-US" sz="1400" dirty="0"/>
              <a:t>JSON events and tag payloads</a:t>
            </a:r>
          </a:p>
          <a:p>
            <a:pPr indent="-228600" defTabSz="914400"/>
            <a:r>
              <a:rPr lang="en-US" sz="1400" b="1" dirty="0"/>
              <a:t>Unstructured: </a:t>
            </a:r>
            <a:r>
              <a:rPr lang="en-US" sz="1400" dirty="0"/>
              <a:t>text feedback, comments, and support tickets</a:t>
            </a:r>
          </a:p>
          <a:p>
            <a:pPr indent="-228600" defTabSz="914400"/>
            <a:r>
              <a:rPr lang="en-US" sz="1400" b="1" dirty="0"/>
              <a:t>Media data: </a:t>
            </a:r>
            <a:r>
              <a:rPr lang="en-US" sz="1400" dirty="0"/>
              <a:t>thumbnails, watch segments, and retention curves</a:t>
            </a:r>
          </a:p>
          <a:p>
            <a:pPr marL="0" indent="-228600" defTabSz="914400"/>
            <a:endParaRPr lang="en-US" sz="1400" dirty="0"/>
          </a:p>
        </p:txBody>
      </p:sp>
      <p:sp>
        <p:nvSpPr>
          <p:cNvPr id="31" name="Rectangle 3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9382" y="4540020"/>
            <a:ext cx="555498"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28692" y="161401"/>
            <a:ext cx="555498"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72594" y="266219"/>
            <a:ext cx="4638730" cy="443640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screen&#10;&#10;AI-generated content may be incorrect.">
            <a:extLst>
              <a:ext uri="{FF2B5EF4-FFF2-40B4-BE49-F238E27FC236}">
                <a16:creationId xmlns:a16="http://schemas.microsoft.com/office/drawing/2014/main" id="{6752AC3C-5BFD-E1BD-91FF-BC2634A5DC7B}"/>
              </a:ext>
            </a:extLst>
          </p:cNvPr>
          <p:cNvPicPr>
            <a:picLocks noChangeAspect="1"/>
          </p:cNvPicPr>
          <p:nvPr/>
        </p:nvPicPr>
        <p:blipFill>
          <a:blip r:embed="rId3"/>
          <a:stretch>
            <a:fillRect/>
          </a:stretch>
        </p:blipFill>
        <p:spPr>
          <a:xfrm>
            <a:off x="4490803" y="1202291"/>
            <a:ext cx="4221014" cy="2564265"/>
          </a:xfrm>
          <a:prstGeom prst="rect">
            <a:avLst/>
          </a:prstGeom>
        </p:spPr>
      </p:pic>
    </p:spTree>
    <p:extLst>
      <p:ext uri="{BB962C8B-B14F-4D97-AF65-F5344CB8AC3E}">
        <p14:creationId xmlns:p14="http://schemas.microsoft.com/office/powerpoint/2010/main" val="1543521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72CAB9-1C1F-F49D-C888-7CCEA0402F6A}"/>
              </a:ext>
            </a:extLst>
          </p:cNvPr>
          <p:cNvSpPr>
            <a:spLocks noGrp="1"/>
          </p:cNvSpPr>
          <p:nvPr>
            <p:ph type="title"/>
          </p:nvPr>
        </p:nvSpPr>
        <p:spPr>
          <a:xfrm>
            <a:off x="473202" y="480617"/>
            <a:ext cx="2564892" cy="4187361"/>
          </a:xfrm>
        </p:spPr>
        <p:txBody>
          <a:bodyPr vert="horz" lIns="91440" tIns="45720" rIns="91440" bIns="45720" rtlCol="0" anchor="ctr">
            <a:normAutofit/>
          </a:bodyPr>
          <a:lstStyle/>
          <a:p>
            <a:pPr defTabSz="914400"/>
            <a:r>
              <a:rPr lang="en-US" sz="4100" b="1" kern="1200" dirty="0">
                <a:solidFill>
                  <a:schemeClr val="tx1"/>
                </a:solidFill>
                <a:latin typeface="+mj-lt"/>
                <a:ea typeface="+mj-ea"/>
                <a:cs typeface="+mj-cs"/>
              </a:rPr>
              <a:t>Joining Diverse Data Sources </a:t>
            </a: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00400" y="473202"/>
            <a:ext cx="13716" cy="4192785"/>
          </a:xfrm>
          <a:custGeom>
            <a:avLst/>
            <a:gdLst>
              <a:gd name="csX0" fmla="*/ 0 w 13716"/>
              <a:gd name="csY0" fmla="*/ 0 h 4192785"/>
              <a:gd name="csX1" fmla="*/ 13716 w 13716"/>
              <a:gd name="csY1" fmla="*/ 0 h 4192785"/>
              <a:gd name="csX2" fmla="*/ 13716 w 13716"/>
              <a:gd name="csY2" fmla="*/ 656870 h 4192785"/>
              <a:gd name="csX3" fmla="*/ 13716 w 13716"/>
              <a:gd name="csY3" fmla="*/ 1439523 h 4192785"/>
              <a:gd name="csX4" fmla="*/ 13716 w 13716"/>
              <a:gd name="csY4" fmla="*/ 2054465 h 4192785"/>
              <a:gd name="csX5" fmla="*/ 13716 w 13716"/>
              <a:gd name="csY5" fmla="*/ 2669406 h 4192785"/>
              <a:gd name="csX6" fmla="*/ 13716 w 13716"/>
              <a:gd name="csY6" fmla="*/ 3452060 h 4192785"/>
              <a:gd name="csX7" fmla="*/ 13716 w 13716"/>
              <a:gd name="csY7" fmla="*/ 4192785 h 4192785"/>
              <a:gd name="csX8" fmla="*/ 0 w 13716"/>
              <a:gd name="csY8" fmla="*/ 4192785 h 4192785"/>
              <a:gd name="csX9" fmla="*/ 0 w 13716"/>
              <a:gd name="csY9" fmla="*/ 3535915 h 4192785"/>
              <a:gd name="csX10" fmla="*/ 0 w 13716"/>
              <a:gd name="csY10" fmla="*/ 2795190 h 4192785"/>
              <a:gd name="csX11" fmla="*/ 0 w 13716"/>
              <a:gd name="csY11" fmla="*/ 2012537 h 4192785"/>
              <a:gd name="csX12" fmla="*/ 0 w 13716"/>
              <a:gd name="csY12" fmla="*/ 1271811 h 4192785"/>
              <a:gd name="csX13" fmla="*/ 0 w 13716"/>
              <a:gd name="csY13" fmla="*/ 0 h 4192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716" h="4192785" fill="none" extrusionOk="0">
                <a:moveTo>
                  <a:pt x="0" y="0"/>
                </a:moveTo>
                <a:cubicBezTo>
                  <a:pt x="2762" y="-668"/>
                  <a:pt x="9716" y="-533"/>
                  <a:pt x="13716" y="0"/>
                </a:cubicBezTo>
                <a:cubicBezTo>
                  <a:pt x="43101" y="303294"/>
                  <a:pt x="18165" y="499581"/>
                  <a:pt x="13716" y="656870"/>
                </a:cubicBezTo>
                <a:cubicBezTo>
                  <a:pt x="9268" y="814159"/>
                  <a:pt x="-3904" y="1097817"/>
                  <a:pt x="13716" y="1439523"/>
                </a:cubicBezTo>
                <a:cubicBezTo>
                  <a:pt x="31336" y="1781229"/>
                  <a:pt x="31863" y="1833330"/>
                  <a:pt x="13716" y="2054465"/>
                </a:cubicBezTo>
                <a:cubicBezTo>
                  <a:pt x="-4431" y="2275600"/>
                  <a:pt x="-12949" y="2362214"/>
                  <a:pt x="13716" y="2669406"/>
                </a:cubicBezTo>
                <a:cubicBezTo>
                  <a:pt x="40381" y="2976598"/>
                  <a:pt x="7222" y="3190147"/>
                  <a:pt x="13716" y="3452060"/>
                </a:cubicBezTo>
                <a:cubicBezTo>
                  <a:pt x="20210" y="3713973"/>
                  <a:pt x="32379" y="3868494"/>
                  <a:pt x="13716" y="4192785"/>
                </a:cubicBezTo>
                <a:cubicBezTo>
                  <a:pt x="7321" y="4193048"/>
                  <a:pt x="6593" y="4192984"/>
                  <a:pt x="0" y="4192785"/>
                </a:cubicBezTo>
                <a:cubicBezTo>
                  <a:pt x="19700" y="3996991"/>
                  <a:pt x="-11828" y="3747160"/>
                  <a:pt x="0" y="3535915"/>
                </a:cubicBezTo>
                <a:cubicBezTo>
                  <a:pt x="11828" y="3324670"/>
                  <a:pt x="-6947" y="2985802"/>
                  <a:pt x="0" y="2795190"/>
                </a:cubicBezTo>
                <a:cubicBezTo>
                  <a:pt x="6947" y="2604578"/>
                  <a:pt x="-6178" y="2328841"/>
                  <a:pt x="0" y="2012537"/>
                </a:cubicBezTo>
                <a:cubicBezTo>
                  <a:pt x="6178" y="1696233"/>
                  <a:pt x="-4349" y="1569506"/>
                  <a:pt x="0" y="1271811"/>
                </a:cubicBezTo>
                <a:cubicBezTo>
                  <a:pt x="4349" y="974116"/>
                  <a:pt x="-33857" y="310195"/>
                  <a:pt x="0" y="0"/>
                </a:cubicBezTo>
                <a:close/>
              </a:path>
              <a:path w="13716" h="4192785" stroke="0" extrusionOk="0">
                <a:moveTo>
                  <a:pt x="0" y="0"/>
                </a:moveTo>
                <a:cubicBezTo>
                  <a:pt x="4626" y="620"/>
                  <a:pt x="7856" y="-428"/>
                  <a:pt x="13716" y="0"/>
                </a:cubicBezTo>
                <a:cubicBezTo>
                  <a:pt x="36569" y="165299"/>
                  <a:pt x="-959" y="427555"/>
                  <a:pt x="13716" y="698798"/>
                </a:cubicBezTo>
                <a:cubicBezTo>
                  <a:pt x="28391" y="970041"/>
                  <a:pt x="15108" y="1226199"/>
                  <a:pt x="13716" y="1397595"/>
                </a:cubicBezTo>
                <a:cubicBezTo>
                  <a:pt x="12324" y="1568991"/>
                  <a:pt x="33487" y="1960267"/>
                  <a:pt x="13716" y="2138320"/>
                </a:cubicBezTo>
                <a:cubicBezTo>
                  <a:pt x="-6055" y="2316373"/>
                  <a:pt x="9981" y="2460267"/>
                  <a:pt x="13716" y="2753262"/>
                </a:cubicBezTo>
                <a:cubicBezTo>
                  <a:pt x="17451" y="3046257"/>
                  <a:pt x="29160" y="3157591"/>
                  <a:pt x="13716" y="3493988"/>
                </a:cubicBezTo>
                <a:cubicBezTo>
                  <a:pt x="-1728" y="3830385"/>
                  <a:pt x="-13162" y="4010665"/>
                  <a:pt x="13716" y="4192785"/>
                </a:cubicBezTo>
                <a:cubicBezTo>
                  <a:pt x="8162" y="4192735"/>
                  <a:pt x="3367" y="4193247"/>
                  <a:pt x="0" y="4192785"/>
                </a:cubicBezTo>
                <a:cubicBezTo>
                  <a:pt x="-14367" y="3952600"/>
                  <a:pt x="-29772" y="3700205"/>
                  <a:pt x="0" y="3452060"/>
                </a:cubicBezTo>
                <a:cubicBezTo>
                  <a:pt x="29772" y="3203916"/>
                  <a:pt x="19521" y="3045349"/>
                  <a:pt x="0" y="2711334"/>
                </a:cubicBezTo>
                <a:cubicBezTo>
                  <a:pt x="-19521" y="2377319"/>
                  <a:pt x="-11220" y="2227855"/>
                  <a:pt x="0" y="2012537"/>
                </a:cubicBezTo>
                <a:cubicBezTo>
                  <a:pt x="11220" y="1797219"/>
                  <a:pt x="-19081" y="1542505"/>
                  <a:pt x="0" y="1397595"/>
                </a:cubicBezTo>
                <a:cubicBezTo>
                  <a:pt x="19081" y="1252685"/>
                  <a:pt x="27623" y="900159"/>
                  <a:pt x="0" y="698797"/>
                </a:cubicBezTo>
                <a:cubicBezTo>
                  <a:pt x="-27623" y="497435"/>
                  <a:pt x="-34740" y="20074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screen&#10;&#10;AI-generated content may be incorrect.">
            <a:extLst>
              <a:ext uri="{FF2B5EF4-FFF2-40B4-BE49-F238E27FC236}">
                <a16:creationId xmlns:a16="http://schemas.microsoft.com/office/drawing/2014/main" id="{E1692BBF-3D63-9164-FCC7-3EA1CA1F2A58}"/>
              </a:ext>
            </a:extLst>
          </p:cNvPr>
          <p:cNvPicPr>
            <a:picLocks noChangeAspect="1"/>
          </p:cNvPicPr>
          <p:nvPr/>
        </p:nvPicPr>
        <p:blipFill>
          <a:blip r:embed="rId3"/>
          <a:stretch>
            <a:fillRect/>
          </a:stretch>
        </p:blipFill>
        <p:spPr>
          <a:xfrm>
            <a:off x="3490722" y="473202"/>
            <a:ext cx="4397339" cy="2935224"/>
          </a:xfrm>
          <a:prstGeom prst="rect">
            <a:avLst/>
          </a:prstGeom>
        </p:spPr>
      </p:pic>
      <p:sp>
        <p:nvSpPr>
          <p:cNvPr id="3" name="Text Placeholder 2">
            <a:extLst>
              <a:ext uri="{FF2B5EF4-FFF2-40B4-BE49-F238E27FC236}">
                <a16:creationId xmlns:a16="http://schemas.microsoft.com/office/drawing/2014/main" id="{C183FCC8-E4C9-4333-7E6A-003534A78807}"/>
              </a:ext>
            </a:extLst>
          </p:cNvPr>
          <p:cNvSpPr>
            <a:spLocks noGrp="1"/>
          </p:cNvSpPr>
          <p:nvPr>
            <p:ph type="body" idx="1"/>
          </p:nvPr>
        </p:nvSpPr>
        <p:spPr>
          <a:xfrm>
            <a:off x="3490722" y="3598932"/>
            <a:ext cx="5170932" cy="1071366"/>
          </a:xfrm>
        </p:spPr>
        <p:txBody>
          <a:bodyPr vert="horz" lIns="91440" tIns="45720" rIns="91440" bIns="45720" rtlCol="0" anchor="t">
            <a:normAutofit lnSpcReduction="10000"/>
          </a:bodyPr>
          <a:lstStyle/>
          <a:p>
            <a:pPr marL="0" indent="0" defTabSz="914400">
              <a:buNone/>
            </a:pPr>
            <a:r>
              <a:rPr lang="en-US" sz="900" b="1" u="sng" dirty="0"/>
              <a:t>Real World Examples:</a:t>
            </a:r>
          </a:p>
          <a:p>
            <a:pPr indent="-228600" defTabSz="914400"/>
            <a:r>
              <a:rPr lang="en-US" sz="900" dirty="0"/>
              <a:t>Combine YouTube traffic source with watch time to find high-value channels</a:t>
            </a:r>
          </a:p>
          <a:p>
            <a:pPr indent="-228600" defTabSz="914400"/>
            <a:r>
              <a:rPr lang="en-US" sz="900" dirty="0"/>
              <a:t>Join CTR by thumbnail with retention to detect clickbait risk</a:t>
            </a:r>
          </a:p>
          <a:p>
            <a:pPr indent="-228600" defTabSz="914400"/>
            <a:r>
              <a:rPr lang="en-US" sz="900" dirty="0"/>
              <a:t>Connect revenue type with content categories to improve monetization strategy</a:t>
            </a:r>
          </a:p>
          <a:p>
            <a:pPr indent="-228600" defTabSz="914400"/>
            <a:r>
              <a:rPr lang="en-US" sz="900" dirty="0"/>
              <a:t>Add posting schedule data to explain spikes and dips</a:t>
            </a:r>
          </a:p>
          <a:p>
            <a:pPr marL="0" indent="-228600" defTabSz="914400"/>
            <a:endParaRPr lang="en-US" sz="900" dirty="0"/>
          </a:p>
        </p:txBody>
      </p:sp>
    </p:spTree>
    <p:extLst>
      <p:ext uri="{BB962C8B-B14F-4D97-AF65-F5344CB8AC3E}">
        <p14:creationId xmlns:p14="http://schemas.microsoft.com/office/powerpoint/2010/main" val="68860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B69689-3CC4-1E56-348E-2E2F8979AE98}"/>
              </a:ext>
            </a:extLst>
          </p:cNvPr>
          <p:cNvSpPr>
            <a:spLocks noGrp="1"/>
          </p:cNvSpPr>
          <p:nvPr>
            <p:ph type="title"/>
          </p:nvPr>
        </p:nvSpPr>
        <p:spPr>
          <a:xfrm>
            <a:off x="473202" y="480617"/>
            <a:ext cx="2564892" cy="4187361"/>
          </a:xfrm>
        </p:spPr>
        <p:txBody>
          <a:bodyPr vert="horz" lIns="91440" tIns="45720" rIns="91440" bIns="45720" rtlCol="0" anchor="ctr">
            <a:normAutofit/>
          </a:bodyPr>
          <a:lstStyle/>
          <a:p>
            <a:pPr defTabSz="914400"/>
            <a:r>
              <a:rPr lang="en-US" sz="3200" b="1" kern="1200">
                <a:solidFill>
                  <a:schemeClr val="tx1"/>
                </a:solidFill>
                <a:latin typeface="+mj-lt"/>
                <a:ea typeface="+mj-ea"/>
                <a:cs typeface="+mj-cs"/>
              </a:rPr>
              <a:t>Dashboards: What Makes Them Useful</a:t>
            </a:r>
          </a:p>
        </p:txBody>
      </p:sp>
      <p:sp>
        <p:nvSpPr>
          <p:cNvPr id="2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00400" y="473202"/>
            <a:ext cx="13716" cy="4192785"/>
          </a:xfrm>
          <a:custGeom>
            <a:avLst/>
            <a:gdLst>
              <a:gd name="csX0" fmla="*/ 0 w 13716"/>
              <a:gd name="csY0" fmla="*/ 0 h 4192785"/>
              <a:gd name="csX1" fmla="*/ 13716 w 13716"/>
              <a:gd name="csY1" fmla="*/ 0 h 4192785"/>
              <a:gd name="csX2" fmla="*/ 13716 w 13716"/>
              <a:gd name="csY2" fmla="*/ 656870 h 4192785"/>
              <a:gd name="csX3" fmla="*/ 13716 w 13716"/>
              <a:gd name="csY3" fmla="*/ 1439523 h 4192785"/>
              <a:gd name="csX4" fmla="*/ 13716 w 13716"/>
              <a:gd name="csY4" fmla="*/ 2054465 h 4192785"/>
              <a:gd name="csX5" fmla="*/ 13716 w 13716"/>
              <a:gd name="csY5" fmla="*/ 2669406 h 4192785"/>
              <a:gd name="csX6" fmla="*/ 13716 w 13716"/>
              <a:gd name="csY6" fmla="*/ 3452060 h 4192785"/>
              <a:gd name="csX7" fmla="*/ 13716 w 13716"/>
              <a:gd name="csY7" fmla="*/ 4192785 h 4192785"/>
              <a:gd name="csX8" fmla="*/ 0 w 13716"/>
              <a:gd name="csY8" fmla="*/ 4192785 h 4192785"/>
              <a:gd name="csX9" fmla="*/ 0 w 13716"/>
              <a:gd name="csY9" fmla="*/ 3535915 h 4192785"/>
              <a:gd name="csX10" fmla="*/ 0 w 13716"/>
              <a:gd name="csY10" fmla="*/ 2795190 h 4192785"/>
              <a:gd name="csX11" fmla="*/ 0 w 13716"/>
              <a:gd name="csY11" fmla="*/ 2012537 h 4192785"/>
              <a:gd name="csX12" fmla="*/ 0 w 13716"/>
              <a:gd name="csY12" fmla="*/ 1271811 h 4192785"/>
              <a:gd name="csX13" fmla="*/ 0 w 13716"/>
              <a:gd name="csY13" fmla="*/ 0 h 4192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716" h="4192785" fill="none" extrusionOk="0">
                <a:moveTo>
                  <a:pt x="0" y="0"/>
                </a:moveTo>
                <a:cubicBezTo>
                  <a:pt x="2762" y="-668"/>
                  <a:pt x="9716" y="-533"/>
                  <a:pt x="13716" y="0"/>
                </a:cubicBezTo>
                <a:cubicBezTo>
                  <a:pt x="43101" y="303294"/>
                  <a:pt x="18165" y="499581"/>
                  <a:pt x="13716" y="656870"/>
                </a:cubicBezTo>
                <a:cubicBezTo>
                  <a:pt x="9268" y="814159"/>
                  <a:pt x="-3904" y="1097817"/>
                  <a:pt x="13716" y="1439523"/>
                </a:cubicBezTo>
                <a:cubicBezTo>
                  <a:pt x="31336" y="1781229"/>
                  <a:pt x="31863" y="1833330"/>
                  <a:pt x="13716" y="2054465"/>
                </a:cubicBezTo>
                <a:cubicBezTo>
                  <a:pt x="-4431" y="2275600"/>
                  <a:pt x="-12949" y="2362214"/>
                  <a:pt x="13716" y="2669406"/>
                </a:cubicBezTo>
                <a:cubicBezTo>
                  <a:pt x="40381" y="2976598"/>
                  <a:pt x="7222" y="3190147"/>
                  <a:pt x="13716" y="3452060"/>
                </a:cubicBezTo>
                <a:cubicBezTo>
                  <a:pt x="20210" y="3713973"/>
                  <a:pt x="32379" y="3868494"/>
                  <a:pt x="13716" y="4192785"/>
                </a:cubicBezTo>
                <a:cubicBezTo>
                  <a:pt x="7321" y="4193048"/>
                  <a:pt x="6593" y="4192984"/>
                  <a:pt x="0" y="4192785"/>
                </a:cubicBezTo>
                <a:cubicBezTo>
                  <a:pt x="19700" y="3996991"/>
                  <a:pt x="-11828" y="3747160"/>
                  <a:pt x="0" y="3535915"/>
                </a:cubicBezTo>
                <a:cubicBezTo>
                  <a:pt x="11828" y="3324670"/>
                  <a:pt x="-6947" y="2985802"/>
                  <a:pt x="0" y="2795190"/>
                </a:cubicBezTo>
                <a:cubicBezTo>
                  <a:pt x="6947" y="2604578"/>
                  <a:pt x="-6178" y="2328841"/>
                  <a:pt x="0" y="2012537"/>
                </a:cubicBezTo>
                <a:cubicBezTo>
                  <a:pt x="6178" y="1696233"/>
                  <a:pt x="-4349" y="1569506"/>
                  <a:pt x="0" y="1271811"/>
                </a:cubicBezTo>
                <a:cubicBezTo>
                  <a:pt x="4349" y="974116"/>
                  <a:pt x="-33857" y="310195"/>
                  <a:pt x="0" y="0"/>
                </a:cubicBezTo>
                <a:close/>
              </a:path>
              <a:path w="13716" h="4192785" stroke="0" extrusionOk="0">
                <a:moveTo>
                  <a:pt x="0" y="0"/>
                </a:moveTo>
                <a:cubicBezTo>
                  <a:pt x="4626" y="620"/>
                  <a:pt x="7856" y="-428"/>
                  <a:pt x="13716" y="0"/>
                </a:cubicBezTo>
                <a:cubicBezTo>
                  <a:pt x="36569" y="165299"/>
                  <a:pt x="-959" y="427555"/>
                  <a:pt x="13716" y="698798"/>
                </a:cubicBezTo>
                <a:cubicBezTo>
                  <a:pt x="28391" y="970041"/>
                  <a:pt x="15108" y="1226199"/>
                  <a:pt x="13716" y="1397595"/>
                </a:cubicBezTo>
                <a:cubicBezTo>
                  <a:pt x="12324" y="1568991"/>
                  <a:pt x="33487" y="1960267"/>
                  <a:pt x="13716" y="2138320"/>
                </a:cubicBezTo>
                <a:cubicBezTo>
                  <a:pt x="-6055" y="2316373"/>
                  <a:pt x="9981" y="2460267"/>
                  <a:pt x="13716" y="2753262"/>
                </a:cubicBezTo>
                <a:cubicBezTo>
                  <a:pt x="17451" y="3046257"/>
                  <a:pt x="29160" y="3157591"/>
                  <a:pt x="13716" y="3493988"/>
                </a:cubicBezTo>
                <a:cubicBezTo>
                  <a:pt x="-1728" y="3830385"/>
                  <a:pt x="-13162" y="4010665"/>
                  <a:pt x="13716" y="4192785"/>
                </a:cubicBezTo>
                <a:cubicBezTo>
                  <a:pt x="8162" y="4192735"/>
                  <a:pt x="3367" y="4193247"/>
                  <a:pt x="0" y="4192785"/>
                </a:cubicBezTo>
                <a:cubicBezTo>
                  <a:pt x="-14367" y="3952600"/>
                  <a:pt x="-29772" y="3700205"/>
                  <a:pt x="0" y="3452060"/>
                </a:cubicBezTo>
                <a:cubicBezTo>
                  <a:pt x="29772" y="3203916"/>
                  <a:pt x="19521" y="3045349"/>
                  <a:pt x="0" y="2711334"/>
                </a:cubicBezTo>
                <a:cubicBezTo>
                  <a:pt x="-19521" y="2377319"/>
                  <a:pt x="-11220" y="2227855"/>
                  <a:pt x="0" y="2012537"/>
                </a:cubicBezTo>
                <a:cubicBezTo>
                  <a:pt x="11220" y="1797219"/>
                  <a:pt x="-19081" y="1542505"/>
                  <a:pt x="0" y="1397595"/>
                </a:cubicBezTo>
                <a:cubicBezTo>
                  <a:pt x="19081" y="1252685"/>
                  <a:pt x="27623" y="900159"/>
                  <a:pt x="0" y="698797"/>
                </a:cubicBezTo>
                <a:cubicBezTo>
                  <a:pt x="-27623" y="497435"/>
                  <a:pt x="-34740" y="20074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AI-generated content may be incorrect.">
            <a:extLst>
              <a:ext uri="{FF2B5EF4-FFF2-40B4-BE49-F238E27FC236}">
                <a16:creationId xmlns:a16="http://schemas.microsoft.com/office/drawing/2014/main" id="{593540E1-B9F4-E07B-90B2-E020BC4FDE22}"/>
              </a:ext>
            </a:extLst>
          </p:cNvPr>
          <p:cNvPicPr>
            <a:picLocks noChangeAspect="1"/>
          </p:cNvPicPr>
          <p:nvPr/>
        </p:nvPicPr>
        <p:blipFill>
          <a:blip r:embed="rId3"/>
          <a:stretch>
            <a:fillRect/>
          </a:stretch>
        </p:blipFill>
        <p:spPr>
          <a:xfrm>
            <a:off x="3490722" y="473202"/>
            <a:ext cx="4397339" cy="2935224"/>
          </a:xfrm>
          <a:prstGeom prst="rect">
            <a:avLst/>
          </a:prstGeom>
        </p:spPr>
      </p:pic>
      <p:sp>
        <p:nvSpPr>
          <p:cNvPr id="3" name="Text Placeholder 2">
            <a:extLst>
              <a:ext uri="{FF2B5EF4-FFF2-40B4-BE49-F238E27FC236}">
                <a16:creationId xmlns:a16="http://schemas.microsoft.com/office/drawing/2014/main" id="{EA9C46DD-5F32-6899-EC26-8C05F1E3B5A9}"/>
              </a:ext>
            </a:extLst>
          </p:cNvPr>
          <p:cNvSpPr>
            <a:spLocks noGrp="1"/>
          </p:cNvSpPr>
          <p:nvPr>
            <p:ph type="body" idx="1"/>
          </p:nvPr>
        </p:nvSpPr>
        <p:spPr>
          <a:xfrm>
            <a:off x="3490722" y="3598932"/>
            <a:ext cx="5170932" cy="1071366"/>
          </a:xfrm>
        </p:spPr>
        <p:txBody>
          <a:bodyPr vert="horz" lIns="91440" tIns="45720" rIns="91440" bIns="45720" rtlCol="0" anchor="t">
            <a:normAutofit/>
          </a:bodyPr>
          <a:lstStyle/>
          <a:p>
            <a:pPr indent="-228600" defTabSz="914400"/>
            <a:r>
              <a:rPr lang="en-US" sz="1200"/>
              <a:t>Clear hierarchy so the most important signals are seen first</a:t>
            </a:r>
          </a:p>
          <a:p>
            <a:pPr indent="-228600" defTabSz="914400"/>
            <a:r>
              <a:rPr lang="en-US" sz="1200"/>
              <a:t>Consistent definitions so metrics do not conflict across panels</a:t>
            </a:r>
          </a:p>
          <a:p>
            <a:pPr indent="-228600" defTabSz="914400"/>
            <a:r>
              <a:rPr lang="en-US" sz="1200"/>
              <a:t>Design choices that reduce confusion and bias</a:t>
            </a:r>
          </a:p>
          <a:p>
            <a:pPr indent="-228600" defTabSz="914400"/>
            <a:r>
              <a:rPr lang="en-US" sz="1200"/>
              <a:t>Enough context to act, including time range and segment</a:t>
            </a:r>
          </a:p>
          <a:p>
            <a:pPr marL="0" indent="-228600" defTabSz="914400"/>
            <a:endParaRPr lang="en-US" sz="1200" dirty="0"/>
          </a:p>
        </p:txBody>
      </p:sp>
    </p:spTree>
    <p:extLst>
      <p:ext uri="{BB962C8B-B14F-4D97-AF65-F5344CB8AC3E}">
        <p14:creationId xmlns:p14="http://schemas.microsoft.com/office/powerpoint/2010/main" val="151573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18FA6D-2D8E-227B-8193-BAC142A0779C}"/>
              </a:ext>
            </a:extLst>
          </p:cNvPr>
          <p:cNvSpPr>
            <a:spLocks noGrp="1"/>
          </p:cNvSpPr>
          <p:nvPr>
            <p:ph type="title"/>
          </p:nvPr>
        </p:nvSpPr>
        <p:spPr>
          <a:xfrm>
            <a:off x="5054346" y="478566"/>
            <a:ext cx="3614166" cy="1107601"/>
          </a:xfrm>
        </p:spPr>
        <p:txBody>
          <a:bodyPr vert="horz" lIns="91440" tIns="45720" rIns="91440" bIns="45720" rtlCol="0" anchor="b">
            <a:normAutofit/>
          </a:bodyPr>
          <a:lstStyle/>
          <a:p>
            <a:pPr defTabSz="914400"/>
            <a:r>
              <a:rPr lang="en-US" sz="2300" b="1" kern="1200">
                <a:solidFill>
                  <a:schemeClr val="tx1"/>
                </a:solidFill>
                <a:latin typeface="+mj-lt"/>
                <a:ea typeface="+mj-ea"/>
                <a:cs typeface="+mj-cs"/>
              </a:rPr>
              <a:t>Example Dashboard: YouTube Channel Performance</a:t>
            </a:r>
          </a:p>
        </p:txBody>
      </p:sp>
      <p:pic>
        <p:nvPicPr>
          <p:cNvPr id="4" name="Picture 3" descr="A screenshot of a video game&#10;&#10;AI-generated content may be incorrect.">
            <a:extLst>
              <a:ext uri="{FF2B5EF4-FFF2-40B4-BE49-F238E27FC236}">
                <a16:creationId xmlns:a16="http://schemas.microsoft.com/office/drawing/2014/main" id="{6768C65A-67FE-1256-B4D7-581FC9435FEB}"/>
              </a:ext>
            </a:extLst>
          </p:cNvPr>
          <p:cNvPicPr>
            <a:picLocks noChangeAspect="1"/>
          </p:cNvPicPr>
          <p:nvPr/>
        </p:nvPicPr>
        <p:blipFill>
          <a:blip r:embed="rId3"/>
          <a:stretch>
            <a:fillRect/>
          </a:stretch>
        </p:blipFill>
        <p:spPr>
          <a:xfrm>
            <a:off x="473202" y="524637"/>
            <a:ext cx="4094226" cy="4094226"/>
          </a:xfrm>
          <a:prstGeom prst="rect">
            <a:avLst/>
          </a:prstGeom>
        </p:spPr>
      </p:pic>
      <p:sp>
        <p:nvSpPr>
          <p:cNvPr id="20"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54346" y="1779651"/>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E31815C-D92A-4C52-5DFE-95B82DDEFDA7}"/>
              </a:ext>
            </a:extLst>
          </p:cNvPr>
          <p:cNvSpPr>
            <a:spLocks noGrp="1"/>
          </p:cNvSpPr>
          <p:nvPr>
            <p:ph type="body" idx="1"/>
          </p:nvPr>
        </p:nvSpPr>
        <p:spPr>
          <a:xfrm>
            <a:off x="5054346" y="1998664"/>
            <a:ext cx="3614166" cy="2663092"/>
          </a:xfrm>
        </p:spPr>
        <p:txBody>
          <a:bodyPr vert="horz" lIns="91440" tIns="45720" rIns="91440" bIns="45720" rtlCol="0" anchor="t">
            <a:normAutofit/>
          </a:bodyPr>
          <a:lstStyle/>
          <a:p>
            <a:pPr indent="-228600" defTabSz="914400"/>
            <a:r>
              <a:rPr lang="en-US" sz="1700"/>
              <a:t>Watch time trend highlights momentum and seasonality</a:t>
            </a:r>
          </a:p>
          <a:p>
            <a:pPr indent="-228600" defTabSz="914400"/>
            <a:r>
              <a:rPr lang="en-US" sz="1700"/>
              <a:t>View comparison shows which uploads are driving reach</a:t>
            </a:r>
          </a:p>
          <a:p>
            <a:pPr indent="-228600" defTabSz="914400"/>
            <a:r>
              <a:rPr lang="en-US" sz="1700"/>
              <a:t>Subscriber trend validates whether growth is sustained</a:t>
            </a:r>
          </a:p>
          <a:p>
            <a:pPr indent="-228600" defTabSz="914400"/>
            <a:r>
              <a:rPr lang="en-US" sz="1700"/>
              <a:t>Revenue distribution shows monetization mix over time</a:t>
            </a:r>
          </a:p>
          <a:p>
            <a:pPr marL="0" indent="-228600" defTabSz="914400"/>
            <a:endParaRPr lang="en-US" sz="1700"/>
          </a:p>
        </p:txBody>
      </p:sp>
    </p:spTree>
    <p:extLst>
      <p:ext uri="{BB962C8B-B14F-4D97-AF65-F5344CB8AC3E}">
        <p14:creationId xmlns:p14="http://schemas.microsoft.com/office/powerpoint/2010/main" val="337740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9245F2-0B43-6272-3BD3-FC9A6A01E24C}"/>
              </a:ext>
            </a:extLst>
          </p:cNvPr>
          <p:cNvSpPr>
            <a:spLocks noGrp="1"/>
          </p:cNvSpPr>
          <p:nvPr>
            <p:ph type="title"/>
          </p:nvPr>
        </p:nvSpPr>
        <p:spPr>
          <a:xfrm>
            <a:off x="5429260" y="394486"/>
            <a:ext cx="3212237" cy="900271"/>
          </a:xfrm>
        </p:spPr>
        <p:txBody>
          <a:bodyPr vert="horz" lIns="91440" tIns="45720" rIns="91440" bIns="45720" rtlCol="0" anchor="b">
            <a:normAutofit fontScale="90000"/>
          </a:bodyPr>
          <a:lstStyle/>
          <a:p>
            <a:pPr defTabSz="914400"/>
            <a:r>
              <a:rPr lang="en-US" sz="2500" b="1" kern="1200" dirty="0">
                <a:solidFill>
                  <a:schemeClr val="tx1"/>
                </a:solidFill>
                <a:latin typeface="+mj-lt"/>
                <a:ea typeface="+mj-ea"/>
                <a:cs typeface="+mj-cs"/>
              </a:rPr>
              <a:t>Tool Rating Chart: Popular Web Analytics Tools</a:t>
            </a:r>
          </a:p>
        </p:txBody>
      </p:sp>
      <p:sp>
        <p:nvSpPr>
          <p:cNvPr id="24" name="Rectangle 23">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59810" y="161401"/>
            <a:ext cx="555498"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675" y="266219"/>
            <a:ext cx="4638730" cy="443640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oup of cartoon characters on a white podium&#10;&#10;AI-generated content may be incorrect.">
            <a:extLst>
              <a:ext uri="{FF2B5EF4-FFF2-40B4-BE49-F238E27FC236}">
                <a16:creationId xmlns:a16="http://schemas.microsoft.com/office/drawing/2014/main" id="{844A7132-2459-D34B-9909-DF738A6CB289}"/>
              </a:ext>
            </a:extLst>
          </p:cNvPr>
          <p:cNvPicPr>
            <a:picLocks noChangeAspect="1"/>
          </p:cNvPicPr>
          <p:nvPr/>
        </p:nvPicPr>
        <p:blipFill>
          <a:blip r:embed="rId3"/>
          <a:stretch>
            <a:fillRect/>
          </a:stretch>
        </p:blipFill>
        <p:spPr>
          <a:xfrm>
            <a:off x="432183" y="1075660"/>
            <a:ext cx="4221013" cy="2817526"/>
          </a:xfrm>
          <a:prstGeom prst="rect">
            <a:avLst/>
          </a:prstGeom>
        </p:spPr>
      </p:pic>
      <p:sp>
        <p:nvSpPr>
          <p:cNvPr id="28" name="Rectangle 2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58339" y="1458684"/>
            <a:ext cx="3017520" cy="2057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BCB2445-2244-A89B-AFC1-0D9B0F1D3C03}"/>
              </a:ext>
            </a:extLst>
          </p:cNvPr>
          <p:cNvSpPr>
            <a:spLocks noGrp="1"/>
          </p:cNvSpPr>
          <p:nvPr>
            <p:ph type="body" idx="1"/>
          </p:nvPr>
        </p:nvSpPr>
        <p:spPr>
          <a:xfrm>
            <a:off x="5429259" y="1523325"/>
            <a:ext cx="3212238" cy="2633958"/>
          </a:xfrm>
        </p:spPr>
        <p:txBody>
          <a:bodyPr vert="horz" lIns="91440" tIns="45720" rIns="91440" bIns="45720" rtlCol="0" anchor="ctr">
            <a:normAutofit/>
          </a:bodyPr>
          <a:lstStyle/>
          <a:p>
            <a:pPr indent="-228600" defTabSz="914400"/>
            <a:r>
              <a:rPr lang="en-US" sz="1400" b="1" dirty="0"/>
              <a:t>Google Analytics 4: </a:t>
            </a:r>
            <a:r>
              <a:rPr lang="en-US" sz="1400" dirty="0"/>
              <a:t>strong ecosystem and reporting depth</a:t>
            </a:r>
          </a:p>
          <a:p>
            <a:pPr indent="-228600" defTabSz="914400"/>
            <a:r>
              <a:rPr lang="en-US" sz="1400" b="1" dirty="0"/>
              <a:t>Adobe Analytics: </a:t>
            </a:r>
            <a:r>
              <a:rPr lang="en-US" sz="1400" dirty="0"/>
              <a:t>enterprise level segmentation and analysis</a:t>
            </a:r>
          </a:p>
          <a:p>
            <a:pPr indent="-228600" defTabSz="914400"/>
            <a:r>
              <a:rPr lang="en-US" sz="1400" b="1" dirty="0"/>
              <a:t>Looker Studio: </a:t>
            </a:r>
            <a:r>
              <a:rPr lang="en-US" sz="1400" dirty="0"/>
              <a:t>flexible dashboarding and sharing</a:t>
            </a:r>
          </a:p>
          <a:p>
            <a:pPr indent="-228600" defTabSz="914400"/>
            <a:r>
              <a:rPr lang="en-US" sz="1400" b="1" dirty="0"/>
              <a:t>Tableau: </a:t>
            </a:r>
            <a:r>
              <a:rPr lang="en-US" sz="1400" dirty="0"/>
              <a:t>strong visual analytics and exploration</a:t>
            </a:r>
          </a:p>
          <a:p>
            <a:pPr marL="0" indent="-228600" defTabSz="914400"/>
            <a:endParaRPr lang="en-US" sz="1400" dirty="0"/>
          </a:p>
        </p:txBody>
      </p:sp>
      <p:sp>
        <p:nvSpPr>
          <p:cNvPr id="33" name="Rectangle 3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757884" y="4540020"/>
            <a:ext cx="555498"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1018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B7528B-4104-EE11-99AB-5FFF48E4D961}"/>
              </a:ext>
            </a:extLst>
          </p:cNvPr>
          <p:cNvSpPr>
            <a:spLocks noGrp="1"/>
          </p:cNvSpPr>
          <p:nvPr>
            <p:ph type="title"/>
          </p:nvPr>
        </p:nvSpPr>
        <p:spPr>
          <a:xfrm>
            <a:off x="473202" y="377190"/>
            <a:ext cx="2564892" cy="1097280"/>
          </a:xfrm>
        </p:spPr>
        <p:txBody>
          <a:bodyPr vert="horz" lIns="91440" tIns="45720" rIns="91440" bIns="45720" rtlCol="0" anchor="ctr">
            <a:normAutofit/>
          </a:bodyPr>
          <a:lstStyle/>
          <a:p>
            <a:pPr defTabSz="914400"/>
            <a:r>
              <a:rPr lang="en-US" sz="2500" b="1" kern="1200">
                <a:solidFill>
                  <a:schemeClr val="tx1"/>
                </a:solidFill>
                <a:latin typeface="+mj-lt"/>
                <a:ea typeface="+mj-ea"/>
                <a:cs typeface="+mj-cs"/>
              </a:rPr>
              <a:t>Tool Rating Chart with Color Key</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sX0" fmla="*/ 0 w 1165860"/>
              <a:gd name="csY0" fmla="*/ 0 h 13716"/>
              <a:gd name="csX1" fmla="*/ 606247 w 1165860"/>
              <a:gd name="csY1" fmla="*/ 0 h 13716"/>
              <a:gd name="csX2" fmla="*/ 1165860 w 1165860"/>
              <a:gd name="csY2" fmla="*/ 0 h 13716"/>
              <a:gd name="csX3" fmla="*/ 1165860 w 1165860"/>
              <a:gd name="csY3" fmla="*/ 13716 h 13716"/>
              <a:gd name="csX4" fmla="*/ 594589 w 1165860"/>
              <a:gd name="csY4" fmla="*/ 13716 h 13716"/>
              <a:gd name="csX5" fmla="*/ 0 w 1165860"/>
              <a:gd name="csY5" fmla="*/ 13716 h 13716"/>
              <a:gd name="csX6" fmla="*/ 0 w 1165860"/>
              <a:gd name="csY6" fmla="*/ 0 h 13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114CB98-CF25-87E1-1848-693A95929BE4}"/>
              </a:ext>
            </a:extLst>
          </p:cNvPr>
          <p:cNvSpPr>
            <a:spLocks noGrp="1"/>
          </p:cNvSpPr>
          <p:nvPr>
            <p:ph type="body" idx="1"/>
          </p:nvPr>
        </p:nvSpPr>
        <p:spPr>
          <a:xfrm>
            <a:off x="3490721" y="377190"/>
            <a:ext cx="5170932" cy="1097280"/>
          </a:xfrm>
        </p:spPr>
        <p:txBody>
          <a:bodyPr vert="horz" lIns="91440" tIns="45720" rIns="91440" bIns="45720" rtlCol="0" anchor="ctr">
            <a:normAutofit/>
          </a:bodyPr>
          <a:lstStyle/>
          <a:p>
            <a:pPr indent="-228600" defTabSz="914400"/>
            <a:r>
              <a:rPr lang="en-US" sz="1100" dirty="0"/>
              <a:t>Criteria used: data visualization, real-time reporting, usability, customization</a:t>
            </a:r>
          </a:p>
          <a:p>
            <a:pPr indent="-228600" defTabSz="914400"/>
            <a:r>
              <a:rPr lang="en-US" sz="1100" dirty="0"/>
              <a:t>Color key : </a:t>
            </a:r>
            <a:r>
              <a:rPr lang="en-US" sz="1100" dirty="0">
                <a:solidFill>
                  <a:schemeClr val="accent3">
                    <a:lumMod val="60000"/>
                    <a:lumOff val="40000"/>
                  </a:schemeClr>
                </a:solidFill>
              </a:rPr>
              <a:t>Green</a:t>
            </a:r>
            <a:r>
              <a:rPr lang="en-US" sz="1100" dirty="0"/>
              <a:t> = Excellent, 4-5, </a:t>
            </a:r>
            <a:r>
              <a:rPr lang="en-US" sz="1100" dirty="0">
                <a:solidFill>
                  <a:srgbClr val="FFFF00"/>
                </a:solidFill>
              </a:rPr>
              <a:t>Yellow </a:t>
            </a:r>
            <a:r>
              <a:rPr lang="en-US" sz="1100" dirty="0"/>
              <a:t>= Good 3-4, </a:t>
            </a:r>
            <a:r>
              <a:rPr lang="en-US" sz="1100" dirty="0">
                <a:solidFill>
                  <a:srgbClr val="FF0000"/>
                </a:solidFill>
              </a:rPr>
              <a:t>Red</a:t>
            </a:r>
            <a:r>
              <a:rPr lang="en-US" sz="1100" dirty="0"/>
              <a:t> = 0-3</a:t>
            </a:r>
          </a:p>
          <a:p>
            <a:pPr indent="-228600" defTabSz="914400"/>
            <a:r>
              <a:rPr lang="en-US" sz="1100" dirty="0"/>
              <a:t>Score scale: 1 to 5</a:t>
            </a:r>
          </a:p>
          <a:p>
            <a:pPr marL="0" indent="0" defTabSz="914400">
              <a:buNone/>
            </a:pPr>
            <a:endParaRPr lang="en-US" sz="1100" dirty="0"/>
          </a:p>
        </p:txBody>
      </p:sp>
      <p:pic>
        <p:nvPicPr>
          <p:cNvPr id="5" name="Picture 4" descr="A screenshot of a computer&#10;&#10;AI-generated content may be incorrect.">
            <a:extLst>
              <a:ext uri="{FF2B5EF4-FFF2-40B4-BE49-F238E27FC236}">
                <a16:creationId xmlns:a16="http://schemas.microsoft.com/office/drawing/2014/main" id="{F02B205F-3360-62DE-60B1-A9F703CCD1AB}"/>
              </a:ext>
            </a:extLst>
          </p:cNvPr>
          <p:cNvPicPr>
            <a:picLocks noChangeAspect="1"/>
          </p:cNvPicPr>
          <p:nvPr/>
        </p:nvPicPr>
        <p:blipFill>
          <a:blip r:embed="rId3"/>
          <a:stretch>
            <a:fillRect/>
          </a:stretch>
        </p:blipFill>
        <p:spPr>
          <a:xfrm>
            <a:off x="581503" y="1718202"/>
            <a:ext cx="7971850" cy="2969514"/>
          </a:xfrm>
          <a:prstGeom prst="rect">
            <a:avLst/>
          </a:prstGeom>
        </p:spPr>
      </p:pic>
    </p:spTree>
    <p:extLst>
      <p:ext uri="{BB962C8B-B14F-4D97-AF65-F5344CB8AC3E}">
        <p14:creationId xmlns:p14="http://schemas.microsoft.com/office/powerpoint/2010/main" val="1475378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Photo policies and checklists">
            <a:extLst>
              <a:ext uri="{FF2B5EF4-FFF2-40B4-BE49-F238E27FC236}">
                <a16:creationId xmlns:a16="http://schemas.microsoft.com/office/drawing/2014/main" id="{9C908118-7E3D-8F00-EC9E-0D772A499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359" r="12796"/>
          <a:stretch>
            <a:fillRect/>
          </a:stretch>
        </p:blipFill>
        <p:spPr bwMode="auto">
          <a:xfrm>
            <a:off x="1891767" y="10"/>
            <a:ext cx="7252231" cy="5143490"/>
          </a:xfrm>
          <a:prstGeom prst="rect">
            <a:avLst/>
          </a:prstGeom>
          <a:noFill/>
          <a:extLst>
            <a:ext uri="{909E8E84-426E-40DD-AFC4-6F175D3DCCD1}">
              <a14:hiddenFill xmlns:a14="http://schemas.microsoft.com/office/drawing/2010/main">
                <a:solidFill>
                  <a:srgbClr val="FFFFFF"/>
                </a:solidFill>
              </a14:hiddenFill>
            </a:ext>
          </a:extLst>
        </p:spPr>
      </p:pic>
      <p:sp>
        <p:nvSpPr>
          <p:cNvPr id="6153" name="Rectangle 615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42696"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3C4871-8E2F-AF72-A3F4-3BDD214E62B4}"/>
              </a:ext>
            </a:extLst>
          </p:cNvPr>
          <p:cNvSpPr>
            <a:spLocks noGrp="1"/>
          </p:cNvSpPr>
          <p:nvPr>
            <p:ph type="title"/>
          </p:nvPr>
        </p:nvSpPr>
        <p:spPr>
          <a:xfrm>
            <a:off x="628650" y="273843"/>
            <a:ext cx="2866641" cy="1424934"/>
          </a:xfrm>
        </p:spPr>
        <p:txBody>
          <a:bodyPr vert="horz" lIns="91440" tIns="45720" rIns="91440" bIns="45720" rtlCol="0" anchor="ctr">
            <a:normAutofit/>
          </a:bodyPr>
          <a:lstStyle/>
          <a:p>
            <a:pPr defTabSz="914400"/>
            <a:r>
              <a:rPr lang="en-US" sz="2800" b="1"/>
              <a:t>Data Use Policies Companies Should Adopt</a:t>
            </a:r>
          </a:p>
        </p:txBody>
      </p:sp>
      <p:sp>
        <p:nvSpPr>
          <p:cNvPr id="3" name="Text Placeholder 2">
            <a:extLst>
              <a:ext uri="{FF2B5EF4-FFF2-40B4-BE49-F238E27FC236}">
                <a16:creationId xmlns:a16="http://schemas.microsoft.com/office/drawing/2014/main" id="{00924049-79D6-875F-F620-CB4349EF41AD}"/>
              </a:ext>
            </a:extLst>
          </p:cNvPr>
          <p:cNvSpPr>
            <a:spLocks noGrp="1"/>
          </p:cNvSpPr>
          <p:nvPr>
            <p:ph type="body" idx="1"/>
          </p:nvPr>
        </p:nvSpPr>
        <p:spPr>
          <a:xfrm>
            <a:off x="628650" y="1825650"/>
            <a:ext cx="2866641" cy="2807072"/>
          </a:xfrm>
        </p:spPr>
        <p:txBody>
          <a:bodyPr vert="horz" lIns="91440" tIns="45720" rIns="91440" bIns="45720" rtlCol="0">
            <a:normAutofit/>
          </a:bodyPr>
          <a:lstStyle/>
          <a:p>
            <a:pPr indent="-228600" defTabSz="914400"/>
            <a:r>
              <a:rPr lang="en-US" sz="1500" b="1" dirty="0"/>
              <a:t>Purpose limitation: </a:t>
            </a:r>
            <a:r>
              <a:rPr lang="en-US" sz="1500" dirty="0"/>
              <a:t>collect data only for defined business needs</a:t>
            </a:r>
          </a:p>
          <a:p>
            <a:pPr indent="-228600" defTabSz="914400"/>
            <a:r>
              <a:rPr lang="en-US" sz="1500" b="1" dirty="0"/>
              <a:t>Data minimization: </a:t>
            </a:r>
            <a:r>
              <a:rPr lang="en-US" sz="1500" dirty="0"/>
              <a:t>avoid collecting unnecessary personal details</a:t>
            </a:r>
          </a:p>
          <a:p>
            <a:pPr indent="-228600" defTabSz="914400"/>
            <a:r>
              <a:rPr lang="en-US" sz="1500" b="1" dirty="0"/>
              <a:t>Retention rules: </a:t>
            </a:r>
            <a:r>
              <a:rPr lang="en-US" sz="1500" dirty="0"/>
              <a:t>keep data only as long as needed</a:t>
            </a:r>
          </a:p>
          <a:p>
            <a:pPr indent="-228600" defTabSz="914400"/>
            <a:r>
              <a:rPr lang="en-US" sz="1500" b="1" dirty="0"/>
              <a:t>Access control: </a:t>
            </a:r>
            <a:r>
              <a:rPr lang="en-US" sz="1500" dirty="0"/>
              <a:t>limit who can view or export sensitive data</a:t>
            </a:r>
          </a:p>
          <a:p>
            <a:pPr indent="-228600" defTabSz="914400"/>
            <a:endParaRPr lang="en-US" sz="1500" dirty="0"/>
          </a:p>
        </p:txBody>
      </p:sp>
    </p:spTree>
    <p:extLst>
      <p:ext uri="{BB962C8B-B14F-4D97-AF65-F5344CB8AC3E}">
        <p14:creationId xmlns:p14="http://schemas.microsoft.com/office/powerpoint/2010/main" val="2400167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181" y="475214"/>
            <a:ext cx="3209537" cy="4121944"/>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10C249A-BB80-9387-83A4-A008655DB11F}"/>
              </a:ext>
            </a:extLst>
          </p:cNvPr>
          <p:cNvSpPr>
            <a:spLocks noGrp="1"/>
          </p:cNvSpPr>
          <p:nvPr>
            <p:ph type="title"/>
          </p:nvPr>
        </p:nvSpPr>
        <p:spPr>
          <a:xfrm>
            <a:off x="630935" y="733964"/>
            <a:ext cx="2558034" cy="829818"/>
          </a:xfrm>
        </p:spPr>
        <p:txBody>
          <a:bodyPr vert="horz" lIns="91440" tIns="45720" rIns="91440" bIns="45720" rtlCol="0" anchor="ctr">
            <a:normAutofit/>
          </a:bodyPr>
          <a:lstStyle/>
          <a:p>
            <a:pPr defTabSz="914400"/>
            <a:r>
              <a:rPr lang="en-US" sz="1600" b="1" kern="1200">
                <a:solidFill>
                  <a:schemeClr val="tx1"/>
                </a:solidFill>
                <a:latin typeface="+mj-lt"/>
                <a:ea typeface="+mj-ea"/>
                <a:cs typeface="+mj-cs"/>
              </a:rPr>
              <a:t>Responsible Use of Personal Data and Aggregated Data</a:t>
            </a:r>
          </a:p>
        </p:txBody>
      </p:sp>
      <p:sp>
        <p:nvSpPr>
          <p:cNvPr id="15" name="Rectangle 1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9175" y="878475"/>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094" y="1570482"/>
            <a:ext cx="2496312" cy="685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CFB3AF51-47D3-83FB-0A91-E7C1D4227A2B}"/>
              </a:ext>
            </a:extLst>
          </p:cNvPr>
          <p:cNvSpPr>
            <a:spLocks noGrp="1"/>
          </p:cNvSpPr>
          <p:nvPr>
            <p:ph type="body" idx="1"/>
          </p:nvPr>
        </p:nvSpPr>
        <p:spPr>
          <a:xfrm>
            <a:off x="630936" y="1689652"/>
            <a:ext cx="2559164" cy="2670188"/>
          </a:xfrm>
        </p:spPr>
        <p:txBody>
          <a:bodyPr vert="horz" lIns="91440" tIns="45720" rIns="91440" bIns="45720" rtlCol="0">
            <a:normAutofit/>
          </a:bodyPr>
          <a:lstStyle/>
          <a:p>
            <a:pPr indent="-228600" defTabSz="914400"/>
            <a:r>
              <a:rPr lang="en-US" sz="1300" dirty="0"/>
              <a:t>Use consent where required and respect opt-out choices</a:t>
            </a:r>
          </a:p>
          <a:p>
            <a:pPr indent="-228600" defTabSz="914400"/>
            <a:r>
              <a:rPr lang="en-US" sz="1300" dirty="0"/>
              <a:t>Prefer aggregated reporting for trend decisions</a:t>
            </a:r>
          </a:p>
          <a:p>
            <a:pPr indent="-228600" defTabSz="914400"/>
            <a:r>
              <a:rPr lang="en-US" sz="1300" dirty="0"/>
              <a:t>Remove identifiers when they are not needed</a:t>
            </a:r>
          </a:p>
          <a:p>
            <a:pPr indent="-228600" defTabSz="914400"/>
            <a:r>
              <a:rPr lang="en-US" sz="1300" dirty="0"/>
              <a:t>Audit vendors and integrations for compliance alignment</a:t>
            </a:r>
          </a:p>
          <a:p>
            <a:pPr marL="0" indent="-228600" defTabSz="914400"/>
            <a:endParaRPr lang="en-US" sz="1300" b="1" dirty="0"/>
          </a:p>
        </p:txBody>
      </p:sp>
      <p:pic>
        <p:nvPicPr>
          <p:cNvPr id="6" name="Picture 5" descr="A diagram of a diagram of data&#10;&#10;AI-generated content may be incorrect.">
            <a:extLst>
              <a:ext uri="{FF2B5EF4-FFF2-40B4-BE49-F238E27FC236}">
                <a16:creationId xmlns:a16="http://schemas.microsoft.com/office/drawing/2014/main" id="{071B3EB3-4605-ED14-6BDB-FFB01D2FAA88}"/>
              </a:ext>
            </a:extLst>
          </p:cNvPr>
          <p:cNvPicPr>
            <a:picLocks noChangeAspect="1"/>
          </p:cNvPicPr>
          <p:nvPr/>
        </p:nvPicPr>
        <p:blipFill>
          <a:blip r:embed="rId3"/>
          <a:stretch>
            <a:fillRect/>
          </a:stretch>
        </p:blipFill>
        <p:spPr>
          <a:xfrm>
            <a:off x="3840480" y="873983"/>
            <a:ext cx="4992624" cy="3320095"/>
          </a:xfrm>
          <a:prstGeom prst="rect">
            <a:avLst/>
          </a:prstGeom>
        </p:spPr>
      </p:pic>
    </p:spTree>
    <p:extLst>
      <p:ext uri="{BB962C8B-B14F-4D97-AF65-F5344CB8AC3E}">
        <p14:creationId xmlns:p14="http://schemas.microsoft.com/office/powerpoint/2010/main" val="366425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D02623-3757-F82D-82F9-645428A09DB6}"/>
              </a:ext>
            </a:extLst>
          </p:cNvPr>
          <p:cNvSpPr>
            <a:spLocks noGrp="1"/>
          </p:cNvSpPr>
          <p:nvPr>
            <p:ph type="title"/>
          </p:nvPr>
        </p:nvSpPr>
        <p:spPr>
          <a:xfrm>
            <a:off x="595246" y="290197"/>
            <a:ext cx="7549592" cy="973836"/>
          </a:xfrm>
        </p:spPr>
        <p:txBody>
          <a:bodyPr vert="horz" lIns="91440" tIns="45720" rIns="91440" bIns="45720" rtlCol="0" anchor="b">
            <a:normAutofit/>
          </a:bodyPr>
          <a:lstStyle/>
          <a:p>
            <a:pPr defTabSz="914400"/>
            <a:r>
              <a:rPr lang="en-US" sz="3100" b="1" kern="1200" dirty="0">
                <a:solidFill>
                  <a:schemeClr val="tx1"/>
                </a:solidFill>
                <a:latin typeface="+mj-lt"/>
                <a:ea typeface="+mj-ea"/>
                <a:cs typeface="+mj-cs"/>
              </a:rPr>
              <a:t>Data Ownership and Transparent Practices</a:t>
            </a:r>
          </a:p>
        </p:txBody>
      </p:sp>
      <p:sp>
        <p:nvSpPr>
          <p:cNvPr id="19" name="Rectangle 1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499133"/>
            <a:ext cx="8590945" cy="5862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2309"/>
            <a:ext cx="8537521" cy="3200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C894E0A-929C-23DA-DE96-86FBFE461A00}"/>
              </a:ext>
            </a:extLst>
          </p:cNvPr>
          <p:cNvSpPr>
            <a:spLocks noGrp="1"/>
          </p:cNvSpPr>
          <p:nvPr>
            <p:ph type="body" idx="1"/>
          </p:nvPr>
        </p:nvSpPr>
        <p:spPr>
          <a:xfrm>
            <a:off x="595245" y="1949631"/>
            <a:ext cx="3398174" cy="2729588"/>
          </a:xfrm>
        </p:spPr>
        <p:txBody>
          <a:bodyPr vert="horz" lIns="91440" tIns="45720" rIns="91440" bIns="45720" rtlCol="0" anchor="ctr">
            <a:normAutofit/>
          </a:bodyPr>
          <a:lstStyle/>
          <a:p>
            <a:pPr indent="-228600" defTabSz="914400"/>
            <a:r>
              <a:rPr lang="en-US" sz="1500"/>
              <a:t>Explain what data is collected and how it is used</a:t>
            </a:r>
          </a:p>
          <a:p>
            <a:pPr indent="-228600" defTabSz="914400"/>
            <a:r>
              <a:rPr lang="en-US" sz="1500"/>
              <a:t>Clarify who owns first-party data and how it is governed</a:t>
            </a:r>
          </a:p>
          <a:p>
            <a:pPr indent="-228600" defTabSz="914400"/>
            <a:r>
              <a:rPr lang="en-US" sz="1500"/>
              <a:t>Document metric definitions so reports stay consistent</a:t>
            </a:r>
          </a:p>
          <a:p>
            <a:pPr indent="-228600" defTabSz="914400"/>
            <a:r>
              <a:rPr lang="en-US" sz="1500"/>
              <a:t>Support user rights and clear request workflows</a:t>
            </a:r>
          </a:p>
          <a:p>
            <a:pPr marL="0" indent="-228600" defTabSz="914400"/>
            <a:endParaRPr lang="en-US" sz="1500"/>
          </a:p>
        </p:txBody>
      </p:sp>
      <p:pic>
        <p:nvPicPr>
          <p:cNvPr id="7" name="Picture 6" descr="A group of people posing for a photo&#10;&#10;AI-generated content may be incorrect.">
            <a:extLst>
              <a:ext uri="{FF2B5EF4-FFF2-40B4-BE49-F238E27FC236}">
                <a16:creationId xmlns:a16="http://schemas.microsoft.com/office/drawing/2014/main" id="{ACE0B186-A524-0D4B-1670-3EF089A5D65C}"/>
              </a:ext>
            </a:extLst>
          </p:cNvPr>
          <p:cNvPicPr>
            <a:picLocks noChangeAspect="1"/>
          </p:cNvPicPr>
          <p:nvPr/>
        </p:nvPicPr>
        <p:blipFill>
          <a:blip r:embed="rId3"/>
          <a:stretch>
            <a:fillRect/>
          </a:stretch>
        </p:blipFill>
        <p:spPr>
          <a:xfrm>
            <a:off x="4433649" y="1966854"/>
            <a:ext cx="3862707" cy="2578356"/>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421030" y="1734770"/>
            <a:ext cx="586275"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8446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477870-C64A-4E35-8F2F-05B7114F3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302B6F-E509-3C34-F1FD-4E468333D090}"/>
              </a:ext>
            </a:extLst>
          </p:cNvPr>
          <p:cNvSpPr>
            <a:spLocks noGrp="1"/>
          </p:cNvSpPr>
          <p:nvPr>
            <p:ph type="title"/>
          </p:nvPr>
        </p:nvSpPr>
        <p:spPr>
          <a:xfrm>
            <a:off x="459486" y="809244"/>
            <a:ext cx="4701577" cy="1152144"/>
          </a:xfrm>
        </p:spPr>
        <p:txBody>
          <a:bodyPr vert="horz" lIns="91440" tIns="45720" rIns="91440" bIns="45720" rtlCol="0" anchor="b">
            <a:normAutofit/>
          </a:bodyPr>
          <a:lstStyle/>
          <a:p>
            <a:pPr defTabSz="914400"/>
            <a:r>
              <a:rPr lang="en-US" sz="3900" b="1" dirty="0"/>
              <a:t>Q&amp;A (1/2)</a:t>
            </a:r>
          </a:p>
        </p:txBody>
      </p:sp>
      <p:sp>
        <p:nvSpPr>
          <p:cNvPr id="13" name="!!accent">
            <a:extLst>
              <a:ext uri="{FF2B5EF4-FFF2-40B4-BE49-F238E27FC236}">
                <a16:creationId xmlns:a16="http://schemas.microsoft.com/office/drawing/2014/main" id="{8AEA628B-C8FF-4D0B-B111-F101F580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39902" y="272542"/>
            <a:ext cx="54864"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2663BD0-064C-40FC-A331-F49FCA9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879" y="2201655"/>
            <a:ext cx="46634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CBEE9AEF-E1A4-7657-B6A9-3657B0A82F73}"/>
              </a:ext>
            </a:extLst>
          </p:cNvPr>
          <p:cNvSpPr>
            <a:spLocks noGrp="1"/>
          </p:cNvSpPr>
          <p:nvPr>
            <p:ph type="body" idx="1"/>
          </p:nvPr>
        </p:nvSpPr>
        <p:spPr>
          <a:xfrm>
            <a:off x="461593" y="2516886"/>
            <a:ext cx="4701578" cy="2119122"/>
          </a:xfrm>
        </p:spPr>
        <p:txBody>
          <a:bodyPr vert="horz" lIns="91440" tIns="45720" rIns="91440" bIns="45720" rtlCol="0">
            <a:normAutofit/>
          </a:bodyPr>
          <a:lstStyle/>
          <a:p>
            <a:pPr indent="-228600" defTabSz="914400"/>
            <a:r>
              <a:rPr lang="en-US" sz="1400" b="1" dirty="0"/>
              <a:t>Q: What is the difference between a metric and a KPI?</a:t>
            </a:r>
          </a:p>
          <a:p>
            <a:pPr indent="-228600" defTabSz="914400"/>
            <a:r>
              <a:rPr lang="en-US" sz="1400" b="1" dirty="0">
                <a:solidFill>
                  <a:schemeClr val="accent3">
                    <a:lumMod val="40000"/>
                    <a:lumOff val="60000"/>
                  </a:schemeClr>
                </a:solidFill>
              </a:rPr>
              <a:t>A: A KPI is a metric tied directly to a business goal and a decision</a:t>
            </a:r>
          </a:p>
          <a:p>
            <a:pPr indent="-228600" defTabSz="914400"/>
            <a:r>
              <a:rPr lang="en-US" sz="1400" b="1" dirty="0"/>
              <a:t>Q: Why do two tools show different numbers for the same period?</a:t>
            </a:r>
          </a:p>
          <a:p>
            <a:pPr indent="-228600" defTabSz="914400"/>
            <a:r>
              <a:rPr lang="en-US" sz="1400" b="1" dirty="0">
                <a:solidFill>
                  <a:schemeClr val="accent3">
                    <a:lumMod val="40000"/>
                    <a:lumOff val="60000"/>
                  </a:schemeClr>
                </a:solidFill>
              </a:rPr>
              <a:t>A: Definitions, attribution rules, sampling, filters, and tagging differences</a:t>
            </a:r>
          </a:p>
        </p:txBody>
      </p:sp>
      <p:pic>
        <p:nvPicPr>
          <p:cNvPr id="6" name="Picture 5" descr="A cartoon character waving with a blue speech bubble&#10;&#10;AI-generated content may be incorrect.">
            <a:extLst>
              <a:ext uri="{FF2B5EF4-FFF2-40B4-BE49-F238E27FC236}">
                <a16:creationId xmlns:a16="http://schemas.microsoft.com/office/drawing/2014/main" id="{9B56BAF7-323D-5A59-D135-119DC6B655D4}"/>
              </a:ext>
            </a:extLst>
          </p:cNvPr>
          <p:cNvPicPr>
            <a:picLocks noChangeAspect="1"/>
          </p:cNvPicPr>
          <p:nvPr/>
        </p:nvPicPr>
        <p:blipFill>
          <a:blip r:embed="rId3"/>
          <a:srcRect r="1525" b="2"/>
          <a:stretch>
            <a:fillRect/>
          </a:stretch>
        </p:blipFill>
        <p:spPr>
          <a:xfrm>
            <a:off x="5763004" y="10"/>
            <a:ext cx="3380995" cy="5143490"/>
          </a:xfrm>
          <a:prstGeom prst="rect">
            <a:avLst/>
          </a:prstGeom>
        </p:spPr>
      </p:pic>
    </p:spTree>
    <p:extLst>
      <p:ext uri="{BB962C8B-B14F-4D97-AF65-F5344CB8AC3E}">
        <p14:creationId xmlns:p14="http://schemas.microsoft.com/office/powerpoint/2010/main" val="1288272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CF5A84-E739-F870-349C-BD77DFF23963}"/>
              </a:ext>
            </a:extLst>
          </p:cNvPr>
          <p:cNvSpPr>
            <a:spLocks noGrp="1"/>
          </p:cNvSpPr>
          <p:nvPr>
            <p:ph type="title"/>
          </p:nvPr>
        </p:nvSpPr>
        <p:spPr>
          <a:xfrm>
            <a:off x="3810162" y="807243"/>
            <a:ext cx="4704588" cy="1151288"/>
          </a:xfrm>
        </p:spPr>
        <p:txBody>
          <a:bodyPr vert="horz" lIns="91440" tIns="45720" rIns="91440" bIns="45720" rtlCol="0" anchor="b">
            <a:normAutofit/>
          </a:bodyPr>
          <a:lstStyle/>
          <a:p>
            <a:pPr defTabSz="914400"/>
            <a:r>
              <a:rPr lang="en-US" sz="3900" b="1"/>
              <a:t>Q&amp;A (2/2)</a:t>
            </a:r>
          </a:p>
        </p:txBody>
      </p:sp>
      <p:pic>
        <p:nvPicPr>
          <p:cNvPr id="4" name="Picture 3" descr="A cartoon character waving with a blue speech bubble&#10;&#10;AI-generated content may be incorrect.">
            <a:extLst>
              <a:ext uri="{FF2B5EF4-FFF2-40B4-BE49-F238E27FC236}">
                <a16:creationId xmlns:a16="http://schemas.microsoft.com/office/drawing/2014/main" id="{08EBDD0C-FFE2-874F-A468-9333E62BACD4}"/>
              </a:ext>
            </a:extLst>
          </p:cNvPr>
          <p:cNvPicPr>
            <a:picLocks noChangeAspect="1"/>
          </p:cNvPicPr>
          <p:nvPr/>
        </p:nvPicPr>
        <p:blipFill>
          <a:blip r:embed="rId3"/>
          <a:srcRect r="1584" b="2"/>
          <a:stretch>
            <a:fillRect/>
          </a:stretch>
        </p:blipFill>
        <p:spPr>
          <a:xfrm>
            <a:off x="20" y="10"/>
            <a:ext cx="3378973" cy="5143490"/>
          </a:xfrm>
          <a:prstGeom prst="rect">
            <a:avLst/>
          </a:prstGeom>
        </p:spPr>
      </p:pic>
      <p:sp>
        <p:nvSpPr>
          <p:cNvPr id="11"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8470" y="272542"/>
            <a:ext cx="54864"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4449" y="2201655"/>
            <a:ext cx="46634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A07FC04C-1EB2-4D4A-37DD-FC189CD49874}"/>
              </a:ext>
            </a:extLst>
          </p:cNvPr>
          <p:cNvSpPr>
            <a:spLocks noGrp="1"/>
          </p:cNvSpPr>
          <p:nvPr>
            <p:ph type="body" idx="1"/>
          </p:nvPr>
        </p:nvSpPr>
        <p:spPr>
          <a:xfrm>
            <a:off x="3810162" y="2513457"/>
            <a:ext cx="4704588" cy="1754220"/>
          </a:xfrm>
        </p:spPr>
        <p:txBody>
          <a:bodyPr vert="horz" lIns="91440" tIns="45720" rIns="91440" bIns="45720" rtlCol="0">
            <a:normAutofit/>
          </a:bodyPr>
          <a:lstStyle/>
          <a:p>
            <a:pPr indent="-228600" defTabSz="914400"/>
            <a:r>
              <a:rPr lang="en-US" sz="1200" b="1" dirty="0"/>
              <a:t>Q: How do you avoid misleading charts?</a:t>
            </a:r>
          </a:p>
          <a:p>
            <a:pPr indent="-228600" defTabSz="914400"/>
            <a:r>
              <a:rPr lang="en-US" sz="1200" b="1" dirty="0">
                <a:solidFill>
                  <a:schemeClr val="accent3">
                    <a:lumMod val="60000"/>
                    <a:lumOff val="40000"/>
                  </a:schemeClr>
                </a:solidFill>
              </a:rPr>
              <a:t>A: Use consistent scales, label units clearly, and sanity check totals</a:t>
            </a:r>
          </a:p>
          <a:p>
            <a:pPr indent="-228600" defTabSz="914400"/>
            <a:r>
              <a:rPr lang="en-US" sz="1200" b="1" dirty="0"/>
              <a:t>Q: How do you know whether a metric is actually trustworthy?</a:t>
            </a:r>
          </a:p>
          <a:p>
            <a:pPr indent="-228600" defTabSz="914400"/>
            <a:r>
              <a:rPr lang="en-US" sz="1200" b="1" dirty="0">
                <a:solidFill>
                  <a:schemeClr val="accent3">
                    <a:lumMod val="60000"/>
                    <a:lumOff val="40000"/>
                  </a:schemeClr>
                </a:solidFill>
              </a:rPr>
              <a:t>A: Validate it by checking definitions, comparing it across tools or reports, and confirming it behaves logically over time. </a:t>
            </a:r>
          </a:p>
        </p:txBody>
      </p:sp>
    </p:spTree>
    <p:extLst>
      <p:ext uri="{BB962C8B-B14F-4D97-AF65-F5344CB8AC3E}">
        <p14:creationId xmlns:p14="http://schemas.microsoft.com/office/powerpoint/2010/main" val="1730923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ECAB1E8-8195-4748-BE71-FF806D868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text rectangle">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181" y="475214"/>
            <a:ext cx="3209537" cy="4121944"/>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DB6C40-CDDF-06E2-E378-0FAC825C06F6}"/>
              </a:ext>
            </a:extLst>
          </p:cNvPr>
          <p:cNvSpPr>
            <a:spLocks noGrp="1"/>
          </p:cNvSpPr>
          <p:nvPr>
            <p:ph type="title"/>
          </p:nvPr>
        </p:nvSpPr>
        <p:spPr>
          <a:xfrm>
            <a:off x="630935" y="733964"/>
            <a:ext cx="2558034" cy="829818"/>
          </a:xfrm>
        </p:spPr>
        <p:txBody>
          <a:bodyPr vert="horz" lIns="91440" tIns="45720" rIns="91440" bIns="45720" rtlCol="0" anchor="ctr">
            <a:normAutofit/>
          </a:bodyPr>
          <a:lstStyle/>
          <a:p>
            <a:pPr defTabSz="914400"/>
            <a:r>
              <a:rPr lang="en-US" sz="2100" b="1"/>
              <a:t>Contact Information</a:t>
            </a:r>
          </a:p>
        </p:txBody>
      </p:sp>
      <p:sp>
        <p:nvSpPr>
          <p:cNvPr id="20" name="!!accent">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9175" y="87782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094" y="1591056"/>
            <a:ext cx="2496312" cy="685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close-up of a phone and email icons&#10;&#10;AI-generated content may be incorrect.">
            <a:extLst>
              <a:ext uri="{FF2B5EF4-FFF2-40B4-BE49-F238E27FC236}">
                <a16:creationId xmlns:a16="http://schemas.microsoft.com/office/drawing/2014/main" id="{90E9D460-EF79-1874-8B1F-3C13F0555A0D}"/>
              </a:ext>
            </a:extLst>
          </p:cNvPr>
          <p:cNvPicPr>
            <a:picLocks noChangeAspect="1"/>
          </p:cNvPicPr>
          <p:nvPr/>
        </p:nvPicPr>
        <p:blipFill>
          <a:blip r:embed="rId3"/>
          <a:srcRect r="14288" b="-1"/>
          <a:stretch>
            <a:fillRect/>
          </a:stretch>
        </p:blipFill>
        <p:spPr>
          <a:xfrm>
            <a:off x="3843337" y="475786"/>
            <a:ext cx="4992910" cy="4121372"/>
          </a:xfrm>
          <a:prstGeom prst="rect">
            <a:avLst/>
          </a:prstGeom>
        </p:spPr>
      </p:pic>
      <p:graphicFrame>
        <p:nvGraphicFramePr>
          <p:cNvPr id="5" name="Text Placeholder 2">
            <a:extLst>
              <a:ext uri="{FF2B5EF4-FFF2-40B4-BE49-F238E27FC236}">
                <a16:creationId xmlns:a16="http://schemas.microsoft.com/office/drawing/2014/main" id="{D92BD113-7577-A301-246F-09D7014F07BC}"/>
              </a:ext>
            </a:extLst>
          </p:cNvPr>
          <p:cNvGraphicFramePr/>
          <p:nvPr>
            <p:extLst>
              <p:ext uri="{D42A27DB-BD31-4B8C-83A1-F6EECF244321}">
                <p14:modId xmlns:p14="http://schemas.microsoft.com/office/powerpoint/2010/main" val="1038179648"/>
              </p:ext>
            </p:extLst>
          </p:nvPr>
        </p:nvGraphicFramePr>
        <p:xfrm>
          <a:off x="630935" y="1769364"/>
          <a:ext cx="2558034" cy="25687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49380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013707E-E58B-3184-8210-CA68479BBBCD}"/>
              </a:ext>
            </a:extLst>
          </p:cNvPr>
          <p:cNvSpPr>
            <a:spLocks noGrp="1"/>
          </p:cNvSpPr>
          <p:nvPr>
            <p:ph type="title"/>
          </p:nvPr>
        </p:nvSpPr>
        <p:spPr>
          <a:xfrm>
            <a:off x="628650" y="273843"/>
            <a:ext cx="4045020" cy="994173"/>
          </a:xfrm>
        </p:spPr>
        <p:txBody>
          <a:bodyPr vert="horz" lIns="91440" tIns="45720" rIns="91440" bIns="45720" rtlCol="0" anchor="ctr">
            <a:normAutofit/>
          </a:bodyPr>
          <a:lstStyle/>
          <a:p>
            <a:pPr defTabSz="914400"/>
            <a:r>
              <a:rPr lang="en-US" sz="4400" b="1" kern="1200" dirty="0">
                <a:solidFill>
                  <a:schemeClr val="tx1"/>
                </a:solidFill>
                <a:latin typeface="+mj-lt"/>
                <a:ea typeface="+mj-ea"/>
                <a:cs typeface="+mj-cs"/>
              </a:rPr>
              <a:t>References</a:t>
            </a:r>
          </a:p>
        </p:txBody>
      </p:sp>
      <p:sp>
        <p:nvSpPr>
          <p:cNvPr id="9225" name="Freeform: Shape 9224">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0"/>
            <a:ext cx="866357" cy="468771"/>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218" name="Picture 2" descr="Searching icon">
            <a:extLst>
              <a:ext uri="{FF2B5EF4-FFF2-40B4-BE49-F238E27FC236}">
                <a16:creationId xmlns:a16="http://schemas.microsoft.com/office/drawing/2014/main" id="{CADDBDAB-E8CA-1B7F-3791-E753B7B05AC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15388" y="912363"/>
            <a:ext cx="2835788" cy="283578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extLst>
            <a:ext uri="{909E8E84-426E-40DD-AFC4-6F175D3DCCD1}">
              <a14:hiddenFill xmlns:a14="http://schemas.microsoft.com/office/drawing/2010/main">
                <a:solidFill>
                  <a:srgbClr val="FFFFFF"/>
                </a:solidFill>
              </a14:hiddenFill>
            </a:ext>
          </a:extLst>
        </p:spPr>
      </p:pic>
      <p:sp>
        <p:nvSpPr>
          <p:cNvPr id="9229" name="Freeform: Shape 9228">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0"/>
            <a:ext cx="1550211" cy="1216410"/>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9231" name="Straight Connector 9230">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770929"/>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233" name="Freeform: Shape 9232">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92435" y="3875011"/>
            <a:ext cx="1376793" cy="1518589"/>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9235" name="Freeform: Shape 9234">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4525346"/>
            <a:ext cx="1493298" cy="618154"/>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237" name="Freeform: Shape 9236">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4139397"/>
            <a:ext cx="1005228" cy="1004103"/>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D70D0891-4C64-C0FB-613B-DCDA9FD26CB9}"/>
              </a:ext>
            </a:extLst>
          </p:cNvPr>
          <p:cNvSpPr>
            <a:spLocks noGrp="1"/>
          </p:cNvSpPr>
          <p:nvPr>
            <p:ph type="body" idx="1"/>
          </p:nvPr>
        </p:nvSpPr>
        <p:spPr>
          <a:xfrm>
            <a:off x="628650" y="1369218"/>
            <a:ext cx="4045020" cy="3263504"/>
          </a:xfrm>
        </p:spPr>
        <p:txBody>
          <a:bodyPr vert="horz" lIns="91440" tIns="45720" rIns="91440" bIns="45720" rtlCol="0">
            <a:normAutofit/>
          </a:bodyPr>
          <a:lstStyle/>
          <a:p>
            <a:pPr marL="0" indent="0" defTabSz="914400">
              <a:buNone/>
            </a:pPr>
            <a:r>
              <a:rPr lang="en-US" sz="700" dirty="0"/>
              <a:t>    Shahid, M. (2024, October 8). </a:t>
            </a:r>
            <a:r>
              <a:rPr lang="en-US" sz="700" i="1" dirty="0"/>
              <a:t>What is web analytics and why it matters for your business</a:t>
            </a:r>
            <a:r>
              <a:rPr lang="en-US" sz="700" dirty="0"/>
              <a:t>. </a:t>
            </a:r>
            <a:r>
              <a:rPr lang="en-US" sz="700" dirty="0" err="1"/>
              <a:t>Usermaven</a:t>
            </a:r>
            <a:r>
              <a:rPr lang="en-US" sz="700" dirty="0"/>
              <a:t>. </a:t>
            </a:r>
            <a:r>
              <a:rPr lang="en-US" sz="700" dirty="0">
                <a:hlinkClick r:id="rId4"/>
              </a:rPr>
              <a:t>https://usermaven.com/blog/what-is-web-analytics</a:t>
            </a:r>
            <a:r>
              <a:rPr lang="en-US" sz="700" dirty="0"/>
              <a:t> </a:t>
            </a:r>
            <a:r>
              <a:rPr lang="en-US" sz="700" b="1" dirty="0" err="1">
                <a:hlinkClick r:id="rId4"/>
              </a:rPr>
              <a:t>Usermaven</a:t>
            </a:r>
            <a:endParaRPr lang="en-US" sz="700" dirty="0"/>
          </a:p>
          <a:p>
            <a:pPr marL="0" indent="0" defTabSz="914400">
              <a:buNone/>
            </a:pPr>
            <a:r>
              <a:rPr lang="en-US" sz="700" dirty="0"/>
              <a:t>    </a:t>
            </a:r>
            <a:r>
              <a:rPr lang="en-US" sz="700" dirty="0" err="1"/>
              <a:t>RisingWave</a:t>
            </a:r>
            <a:r>
              <a:rPr lang="en-US" sz="700" dirty="0"/>
              <a:t>. (2024, October 9). </a:t>
            </a:r>
            <a:r>
              <a:rPr lang="en-US" sz="700" i="1" dirty="0"/>
              <a:t>Understanding web analytics: Key benefits and use cases</a:t>
            </a:r>
            <a:r>
              <a:rPr lang="en-US" sz="700" dirty="0"/>
              <a:t>. </a:t>
            </a:r>
            <a:r>
              <a:rPr lang="en-US" sz="700" dirty="0" err="1"/>
              <a:t>RisingWave</a:t>
            </a:r>
            <a:r>
              <a:rPr lang="en-US" sz="700" dirty="0"/>
              <a:t>. </a:t>
            </a:r>
            <a:r>
              <a:rPr lang="en-US" sz="700" dirty="0">
                <a:hlinkClick r:id="rId5"/>
              </a:rPr>
              <a:t>https://risingwave.com/blog/understanding-web-analytics-key-benefits-and-use-cases/</a:t>
            </a:r>
            <a:r>
              <a:rPr lang="en-US" sz="700" dirty="0"/>
              <a:t> </a:t>
            </a:r>
            <a:r>
              <a:rPr lang="en-US" sz="700" b="1" dirty="0" err="1">
                <a:hlinkClick r:id="rId5"/>
              </a:rPr>
              <a:t>RisingWave</a:t>
            </a:r>
            <a:endParaRPr lang="en-US" sz="700" dirty="0"/>
          </a:p>
          <a:p>
            <a:pPr marL="0" indent="0" defTabSz="914400">
              <a:buNone/>
            </a:pPr>
            <a:r>
              <a:rPr lang="en-US" sz="700" i="1" dirty="0"/>
              <a:t>    Web analytics overview</a:t>
            </a:r>
            <a:r>
              <a:rPr lang="en-US" sz="700" dirty="0"/>
              <a:t>. (n.d.). ScienceDirect Topics. </a:t>
            </a:r>
            <a:r>
              <a:rPr lang="en-US" sz="700" dirty="0">
                <a:hlinkClick r:id="rId6"/>
              </a:rPr>
              <a:t>https://www.sciencedirect.com/topics/computer-science/web-analytics</a:t>
            </a:r>
            <a:r>
              <a:rPr lang="en-US" sz="700" dirty="0"/>
              <a:t> </a:t>
            </a:r>
            <a:r>
              <a:rPr lang="en-US" sz="700" b="1" dirty="0">
                <a:hlinkClick r:id="rId6"/>
              </a:rPr>
              <a:t>ScienceDirect</a:t>
            </a:r>
            <a:endParaRPr lang="en-US" sz="700" dirty="0"/>
          </a:p>
          <a:p>
            <a:pPr marL="0" indent="0" defTabSz="914400">
              <a:buNone/>
            </a:pPr>
            <a:r>
              <a:rPr lang="en-US" sz="700" dirty="0"/>
              <a:t>    Statsig. (2024, February 15). </a:t>
            </a:r>
            <a:r>
              <a:rPr lang="en-US" sz="700" i="1" dirty="0"/>
              <a:t>What is the importance of web analytics?</a:t>
            </a:r>
            <a:r>
              <a:rPr lang="en-US" sz="700" dirty="0"/>
              <a:t>. Statsig Perspectives. </a:t>
            </a:r>
            <a:r>
              <a:rPr lang="en-US" sz="700" dirty="0">
                <a:hlinkClick r:id="rId7"/>
              </a:rPr>
              <a:t>https://www.statsig.com/perspectives/what-is-the-importance-of-web-analytics</a:t>
            </a:r>
            <a:r>
              <a:rPr lang="en-US" sz="700" dirty="0"/>
              <a:t> </a:t>
            </a:r>
            <a:r>
              <a:rPr lang="en-US" sz="700" b="1" dirty="0">
                <a:hlinkClick r:id="rId7"/>
              </a:rPr>
              <a:t>Statsig</a:t>
            </a:r>
            <a:endParaRPr lang="en-US" sz="700" dirty="0"/>
          </a:p>
          <a:p>
            <a:pPr marL="0" indent="0" defTabSz="914400">
              <a:buNone/>
            </a:pPr>
            <a:r>
              <a:rPr lang="en-US" sz="700" dirty="0"/>
              <a:t>     </a:t>
            </a:r>
            <a:r>
              <a:rPr lang="en-US" sz="700" dirty="0" err="1"/>
              <a:t>Kuleto</a:t>
            </a:r>
            <a:r>
              <a:rPr lang="en-US" sz="700" dirty="0"/>
              <a:t>, V. (2023). </a:t>
            </a:r>
            <a:r>
              <a:rPr lang="en-US" sz="700" i="1" dirty="0"/>
              <a:t>Privacy and ethics in web analytics: Balancing user data protection and insight generation</a:t>
            </a:r>
            <a:r>
              <a:rPr lang="en-US" sz="700" dirty="0"/>
              <a:t>. International Journal of Business and Management and Marketing. </a:t>
            </a:r>
            <a:r>
              <a:rPr lang="en-US" sz="700" dirty="0">
                <a:hlinkClick r:id="rId8"/>
              </a:rPr>
              <a:t>https://ijbmm.com/paper/Sep2023/8340436493.pdf</a:t>
            </a:r>
            <a:r>
              <a:rPr lang="en-US" sz="700" dirty="0"/>
              <a:t> </a:t>
            </a:r>
            <a:r>
              <a:rPr lang="en-US" sz="700" b="1" dirty="0">
                <a:hlinkClick r:id="rId8"/>
              </a:rPr>
              <a:t>ijbmm.com</a:t>
            </a:r>
            <a:endParaRPr lang="en-US" sz="700" dirty="0"/>
          </a:p>
          <a:p>
            <a:pPr marL="0" indent="0" defTabSz="914400">
              <a:buNone/>
            </a:pPr>
            <a:r>
              <a:rPr lang="en-US" sz="700" dirty="0"/>
              <a:t>    </a:t>
            </a:r>
            <a:r>
              <a:rPr lang="en-US" sz="700" dirty="0" err="1"/>
              <a:t>Matomo</a:t>
            </a:r>
            <a:r>
              <a:rPr lang="en-US" sz="700" dirty="0"/>
              <a:t>. (2025, June 13). </a:t>
            </a:r>
            <a:r>
              <a:rPr lang="en-US" sz="700" i="1" dirty="0"/>
              <a:t>Privacy-friendly analytics: The benefits of GDPR-compliant analytics platforms</a:t>
            </a:r>
            <a:r>
              <a:rPr lang="en-US" sz="700" dirty="0"/>
              <a:t>. </a:t>
            </a:r>
            <a:r>
              <a:rPr lang="en-US" sz="700" dirty="0" err="1"/>
              <a:t>Matomo</a:t>
            </a:r>
            <a:r>
              <a:rPr lang="en-US" sz="700" dirty="0"/>
              <a:t> Blog. </a:t>
            </a:r>
            <a:r>
              <a:rPr lang="en-US" sz="700" dirty="0">
                <a:hlinkClick r:id="rId9"/>
              </a:rPr>
              <a:t>https://matomo.org/blog/2025/06/privacy-friendly-analytics/</a:t>
            </a:r>
            <a:r>
              <a:rPr lang="en-US" sz="700" dirty="0"/>
              <a:t> </a:t>
            </a:r>
            <a:r>
              <a:rPr lang="en-US" sz="700" b="1" dirty="0">
                <a:hlinkClick r:id="rId9"/>
              </a:rPr>
              <a:t>matomo.org</a:t>
            </a:r>
            <a:endParaRPr lang="en-US" sz="700" dirty="0"/>
          </a:p>
          <a:p>
            <a:pPr marL="0" indent="0" defTabSz="914400">
              <a:buNone/>
            </a:pPr>
            <a:r>
              <a:rPr lang="en-US" sz="700" dirty="0"/>
              <a:t>    Pilton, C. (2021). </a:t>
            </a:r>
            <a:r>
              <a:rPr lang="en-US" sz="700" i="1" dirty="0"/>
              <a:t>Determining user privacy expectations on the web</a:t>
            </a:r>
            <a:r>
              <a:rPr lang="en-US" sz="700" dirty="0"/>
              <a:t>. </a:t>
            </a:r>
            <a:r>
              <a:rPr lang="en-US" sz="700" i="1" dirty="0"/>
              <a:t>Digital Investigation</a:t>
            </a:r>
            <a:r>
              <a:rPr lang="en-US" sz="700" dirty="0"/>
              <a:t>. </a:t>
            </a:r>
            <a:r>
              <a:rPr lang="en-US" sz="700" dirty="0">
                <a:hlinkClick r:id="rId10"/>
              </a:rPr>
              <a:t>https://www.sciencedirect.com/science/article/pii/S0167404821000651</a:t>
            </a:r>
            <a:r>
              <a:rPr lang="en-US" sz="700" dirty="0"/>
              <a:t> ****</a:t>
            </a:r>
          </a:p>
          <a:p>
            <a:pPr marL="0" indent="0" defTabSz="914400">
              <a:buNone/>
            </a:pPr>
            <a:r>
              <a:rPr lang="en-US" sz="700" dirty="0"/>
              <a:t>    COOKIEYES. (2025, August 11). </a:t>
            </a:r>
            <a:r>
              <a:rPr lang="en-US" sz="700" i="1" dirty="0"/>
              <a:t>What are the ethical considerations of cookie tracking?</a:t>
            </a:r>
            <a:r>
              <a:rPr lang="en-US" sz="700" dirty="0"/>
              <a:t> COOKIEYES Blog. </a:t>
            </a:r>
            <a:r>
              <a:rPr lang="en-US" sz="700" dirty="0">
                <a:hlinkClick r:id="rId11"/>
              </a:rPr>
              <a:t>https://www.cookieyes.com/blog/cookie-tracking-ethics/</a:t>
            </a:r>
            <a:r>
              <a:rPr lang="en-US" sz="700" dirty="0"/>
              <a:t> ****</a:t>
            </a:r>
          </a:p>
          <a:p>
            <a:pPr marL="0" indent="0" defTabSz="914400">
              <a:buNone/>
            </a:pPr>
            <a:r>
              <a:rPr lang="en-US" sz="700" dirty="0"/>
              <a:t>    Wikipedia contributors. (2025, April). </a:t>
            </a:r>
            <a:r>
              <a:rPr lang="en-US" sz="700" i="1" dirty="0"/>
              <a:t>Data anonymization</a:t>
            </a:r>
            <a:r>
              <a:rPr lang="en-US" sz="700" dirty="0"/>
              <a:t>. In </a:t>
            </a:r>
            <a:r>
              <a:rPr lang="en-US" sz="700" i="1" dirty="0"/>
              <a:t>Wikipedia, The Free Encyclopedia</a:t>
            </a:r>
            <a:r>
              <a:rPr lang="en-US" sz="700" dirty="0"/>
              <a:t>. </a:t>
            </a:r>
            <a:r>
              <a:rPr lang="en-US" sz="700" dirty="0">
                <a:hlinkClick r:id="rId12"/>
              </a:rPr>
              <a:t>https://en.wikipedia.org/wiki/Data_anonymization</a:t>
            </a:r>
            <a:r>
              <a:rPr lang="en-US" sz="700" dirty="0"/>
              <a:t> ****</a:t>
            </a:r>
          </a:p>
          <a:p>
            <a:pPr marL="0" indent="0" defTabSz="914400">
              <a:buNone/>
            </a:pPr>
            <a:r>
              <a:rPr lang="en-US" sz="700" dirty="0"/>
              <a:t>    G2. (2025). </a:t>
            </a:r>
            <a:r>
              <a:rPr lang="en-US" sz="700" i="1" dirty="0"/>
              <a:t>Web analytics software comparisons</a:t>
            </a:r>
            <a:r>
              <a:rPr lang="en-US" sz="700" dirty="0"/>
              <a:t>. G2. https://www.g2.com/categories/web-analytics</a:t>
            </a:r>
          </a:p>
          <a:p>
            <a:pPr marL="0" indent="-228600" defTabSz="914400"/>
            <a:endParaRPr lang="en-US" sz="700" dirty="0"/>
          </a:p>
        </p:txBody>
      </p:sp>
      <p:sp>
        <p:nvSpPr>
          <p:cNvPr id="9227" name="Oval 9226">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2567969"/>
            <a:ext cx="405617" cy="405616"/>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3078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3796</Words>
  <Application>Microsoft Office PowerPoint</Application>
  <PresentationFormat>On-screen Show (16:9)</PresentationFormat>
  <Paragraphs>204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Comprehensive Website Analytics Presentation</vt:lpstr>
      <vt:lpstr>Agenda</vt:lpstr>
      <vt:lpstr>Why Web Analytics Matters Right Now</vt:lpstr>
      <vt:lpstr>From Metrics to Decisions</vt:lpstr>
      <vt:lpstr>Big Data in Web Analytics</vt:lpstr>
      <vt:lpstr>Challenge: Data Collection</vt:lpstr>
      <vt:lpstr>Challenge: Storage and Processing</vt:lpstr>
      <vt:lpstr>Challenge: Modeling and Actionable Insight</vt:lpstr>
      <vt:lpstr>Web Analytics Data Formats</vt:lpstr>
      <vt:lpstr>Joining Diverse Data Sources </vt:lpstr>
      <vt:lpstr>Dashboards: What Makes Them Useful</vt:lpstr>
      <vt:lpstr>Example Dashboard: YouTube Channel Performance</vt:lpstr>
      <vt:lpstr>Tool Rating Chart: Popular Web Analytics Tools</vt:lpstr>
      <vt:lpstr>Tool Rating Chart with Color Key</vt:lpstr>
      <vt:lpstr>Data Use Policies Companies Should Adopt</vt:lpstr>
      <vt:lpstr>Responsible Use of Personal Data and Aggregated Data</vt:lpstr>
      <vt:lpstr>Data Ownership and Transparent Practices</vt:lpstr>
      <vt:lpstr>Q&amp;A (1/2)</vt:lpstr>
      <vt:lpstr>Q&amp;A (2/2)</vt:lpstr>
      <vt:lpstr>Contact Information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McMahon</dc:creator>
  <cp:lastModifiedBy>Kevin McMahon</cp:lastModifiedBy>
  <cp:revision>19</cp:revision>
  <dcterms:created xsi:type="dcterms:W3CDTF">2025-12-17T03:33:52Z</dcterms:created>
  <dcterms:modified xsi:type="dcterms:W3CDTF">2025-12-17T06:35:29Z</dcterms:modified>
</cp:coreProperties>
</file>